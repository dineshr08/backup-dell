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theme/themeOverride5.xml" ContentType="application/vnd.openxmlformats-officedocument.themeOverride+xml"/>
  <Override PartName="/ppt/charts/chart6.xml" ContentType="application/vnd.openxmlformats-officedocument.drawingml.chart+xml"/>
  <Override PartName="/ppt/theme/themeOverride6.xml" ContentType="application/vnd.openxmlformats-officedocument.themeOverr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theme/themeOverride7.xml" ContentType="application/vnd.openxmlformats-officedocument.themeOverride+xml"/>
  <Override PartName="/ppt/charts/chart10.xml" ContentType="application/vnd.openxmlformats-officedocument.drawingml.chart+xml"/>
  <Override PartName="/ppt/theme/themeOverride8.xml" ContentType="application/vnd.openxmlformats-officedocument.themeOverride+xml"/>
  <Override PartName="/ppt/charts/chart11.xml" ContentType="application/vnd.openxmlformats-officedocument.drawingml.chart+xml"/>
  <Override PartName="/ppt/theme/themeOverride9.xml" ContentType="application/vnd.openxmlformats-officedocument.themeOverride+xml"/>
  <Override PartName="/ppt/charts/chart12.xml" ContentType="application/vnd.openxmlformats-officedocument.drawingml.chart+xml"/>
  <Override PartName="/ppt/theme/themeOverride10.xml" ContentType="application/vnd.openxmlformats-officedocument.themeOverride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theme/themeOverride11.xml" ContentType="application/vnd.openxmlformats-officedocument.themeOverr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708" r:id="rId2"/>
  </p:sldMasterIdLst>
  <p:notesMasterIdLst>
    <p:notesMasterId r:id="rId27"/>
  </p:notesMasterIdLst>
  <p:handoutMasterIdLst>
    <p:handoutMasterId r:id="rId28"/>
  </p:handoutMasterIdLst>
  <p:sldIdLst>
    <p:sldId id="483" r:id="rId3"/>
    <p:sldId id="484" r:id="rId4"/>
    <p:sldId id="486" r:id="rId5"/>
    <p:sldId id="485" r:id="rId6"/>
    <p:sldId id="487" r:id="rId7"/>
    <p:sldId id="488" r:id="rId8"/>
    <p:sldId id="489" r:id="rId9"/>
    <p:sldId id="469" r:id="rId10"/>
    <p:sldId id="470" r:id="rId11"/>
    <p:sldId id="471" r:id="rId12"/>
    <p:sldId id="472" r:id="rId13"/>
    <p:sldId id="473" r:id="rId14"/>
    <p:sldId id="474" r:id="rId15"/>
    <p:sldId id="468" r:id="rId16"/>
    <p:sldId id="475" r:id="rId17"/>
    <p:sldId id="476" r:id="rId18"/>
    <p:sldId id="477" r:id="rId19"/>
    <p:sldId id="478" r:id="rId20"/>
    <p:sldId id="479" r:id="rId21"/>
    <p:sldId id="480" r:id="rId22"/>
    <p:sldId id="481" r:id="rId23"/>
    <p:sldId id="482" r:id="rId24"/>
    <p:sldId id="465" r:id="rId25"/>
    <p:sldId id="364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595959"/>
    <a:srgbClr val="B6B6B6"/>
    <a:srgbClr val="1965A7"/>
    <a:srgbClr val="D2D2D2"/>
    <a:srgbClr val="FECA22"/>
    <a:srgbClr val="97EBFF"/>
    <a:srgbClr val="FAA906"/>
    <a:srgbClr val="FFFFFF"/>
    <a:srgbClr val="6193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49" autoAdjust="0"/>
    <p:restoredTop sz="84317" autoAdjust="0"/>
  </p:normalViewPr>
  <p:slideViewPr>
    <p:cSldViewPr snapToGrid="0">
      <p:cViewPr>
        <p:scale>
          <a:sx n="75" d="100"/>
          <a:sy n="75" d="100"/>
        </p:scale>
        <p:origin x="-1326" y="-54"/>
      </p:cViewPr>
      <p:guideLst>
        <p:guide orient="horz" pos="3940"/>
        <p:guide orient="horz" pos="495"/>
        <p:guide pos="5474"/>
        <p:guide pos="290"/>
        <p:guide pos="325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-3276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.xlsx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2.xlsx"/><Relationship Id="rId1" Type="http://schemas.openxmlformats.org/officeDocument/2006/relationships/themeOverride" Target="../theme/themeOverride2.xm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3.xlsx"/><Relationship Id="rId1" Type="http://schemas.openxmlformats.org/officeDocument/2006/relationships/themeOverride" Target="../theme/themeOverride3.xml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4.xlsx"/><Relationship Id="rId1" Type="http://schemas.openxmlformats.org/officeDocument/2006/relationships/themeOverride" Target="../theme/themeOverride4.xml"/></Relationships>
</file>

<file path=ppt/charts/_rels/chart5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5.xlsx"/><Relationship Id="rId1" Type="http://schemas.openxmlformats.org/officeDocument/2006/relationships/themeOverride" Target="../theme/themeOverride5.xml"/></Relationships>
</file>

<file path=ppt/charts/_rels/chart6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6.xlsx"/><Relationship Id="rId1" Type="http://schemas.openxmlformats.org/officeDocument/2006/relationships/themeOverride" Target="../theme/themeOverride6.xm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D:\OutoTech\03%20Apr%2060%20user%20good%20test\60Users_03Apr14_1335_Xls\AggLoadSummary_60UserTest_03Apr14_1335_Xls.xlsx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file:///D:\OutoTech\03%20Apr%2060%20user%20good%20test\60Users_03Apr14_1335_Xls\AggLoadSummary_60UserTest_03Apr14_1335_Xls.xlsx" TargetMode="External"/></Relationships>
</file>

<file path=ppt/charts/_rels/chart9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7.xlsx"/><Relationship Id="rId1" Type="http://schemas.openxmlformats.org/officeDocument/2006/relationships/themeOverride" Target="../theme/themeOverride7.xml"/></Relationships>
</file>

<file path=ppt/charts/_rels/chart10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8.xlsx"/><Relationship Id="rId1" Type="http://schemas.openxmlformats.org/officeDocument/2006/relationships/themeOverride" Target="../theme/themeOverride8.xml"/></Relationships>
</file>

<file path=ppt/charts/_rels/chart1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9.xlsx"/><Relationship Id="rId1" Type="http://schemas.openxmlformats.org/officeDocument/2006/relationships/themeOverride" Target="../theme/themeOverride9.xml"/></Relationships>
</file>

<file path=ppt/charts/_rels/chart1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0.xlsx"/><Relationship Id="rId1" Type="http://schemas.openxmlformats.org/officeDocument/2006/relationships/themeOverride" Target="../theme/themeOverride10.xm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oleObject" Target="file:///D:\OutoTech\03%20Apr%2060%20user%20good%20test\60Users_03Apr14_1335_Xls\AggLoadSummary_60UserTest_03Apr14_1335_Xls.xlsx" TargetMode="External"/></Relationships>
</file>

<file path=ppt/charts/_rels/chart14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1.xlsx"/><Relationship Id="rId1" Type="http://schemas.openxmlformats.org/officeDocument/2006/relationships/themeOverride" Target="../theme/themeOverride1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r>
              <a:rPr lang="en-US" u="sng" dirty="0"/>
              <a:t>Application level </a:t>
            </a:r>
            <a:r>
              <a:rPr lang="en-US" dirty="0" smtClean="0"/>
              <a:t>activities – SQLs for</a:t>
            </a:r>
            <a:r>
              <a:rPr lang="en-US" baseline="0" dirty="0" smtClean="0"/>
              <a:t> workflow</a:t>
            </a:r>
            <a:endParaRPr lang="en-US" dirty="0"/>
          </a:p>
        </c:rich>
      </c:tx>
      <c:layout>
        <c:manualLayout>
          <c:xMode val="edge"/>
          <c:yMode val="edge"/>
          <c:x val="2.2263642417832102E-2"/>
          <c:y val="6.1328697549169987E-3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7.175288909781799E-2"/>
          <c:y val="0.19480351414406533"/>
          <c:w val="0.87233595800524932"/>
          <c:h val="0.56965624088655586"/>
        </c:manualLayout>
      </c:layout>
      <c:lineChart>
        <c:grouping val="standard"/>
        <c:varyColors val="0"/>
        <c:ser>
          <c:idx val="0"/>
          <c:order val="0"/>
          <c:tx>
            <c:strRef>
              <c:f>AggLoadSummary!$D$1</c:f>
              <c:strCache>
                <c:ptCount val="1"/>
                <c:pt idx="0">
                  <c:v>Total transactions [)</c:v>
                </c:pt>
              </c:strCache>
            </c:strRef>
          </c:tx>
          <c:spPr>
            <a:ln>
              <a:solidFill>
                <a:srgbClr val="0000CC"/>
              </a:solidFill>
            </a:ln>
          </c:spPr>
          <c:marker>
            <c:spPr>
              <a:solidFill>
                <a:srgbClr val="0000CC"/>
              </a:solidFill>
            </c:spPr>
          </c:marker>
          <c:cat>
            <c:strRef>
              <c:f>AggLoadSummary!$C$2:$C$97</c:f>
              <c:strCache>
                <c:ptCount val="96"/>
                <c:pt idx="0">
                  <c:v> 13:25:00</c:v>
                </c:pt>
                <c:pt idx="1">
                  <c:v> 13:26:00</c:v>
                </c:pt>
                <c:pt idx="2">
                  <c:v> 13:27:00</c:v>
                </c:pt>
                <c:pt idx="3">
                  <c:v> 13:28:00</c:v>
                </c:pt>
                <c:pt idx="4">
                  <c:v> 13:29:00</c:v>
                </c:pt>
                <c:pt idx="5">
                  <c:v> 13:30:00</c:v>
                </c:pt>
                <c:pt idx="6">
                  <c:v> 13:31:00</c:v>
                </c:pt>
                <c:pt idx="7">
                  <c:v> 13:32:00</c:v>
                </c:pt>
                <c:pt idx="8">
                  <c:v> 13:33:00</c:v>
                </c:pt>
                <c:pt idx="9">
                  <c:v> 13:34:00</c:v>
                </c:pt>
                <c:pt idx="10">
                  <c:v> 13:35:00</c:v>
                </c:pt>
                <c:pt idx="11">
                  <c:v> 13:36:00</c:v>
                </c:pt>
                <c:pt idx="12">
                  <c:v> 13:37:00</c:v>
                </c:pt>
                <c:pt idx="13">
                  <c:v> 13:38:00</c:v>
                </c:pt>
                <c:pt idx="14">
                  <c:v> 13:39:00</c:v>
                </c:pt>
                <c:pt idx="15">
                  <c:v> 13:40:00</c:v>
                </c:pt>
                <c:pt idx="16">
                  <c:v> 13:41:00</c:v>
                </c:pt>
                <c:pt idx="17">
                  <c:v> 13:42:00</c:v>
                </c:pt>
                <c:pt idx="18">
                  <c:v> 13:43:00</c:v>
                </c:pt>
                <c:pt idx="19">
                  <c:v> 13:44:00</c:v>
                </c:pt>
                <c:pt idx="20">
                  <c:v> 13:45:00</c:v>
                </c:pt>
                <c:pt idx="21">
                  <c:v> 13:46:00</c:v>
                </c:pt>
                <c:pt idx="22">
                  <c:v> 13:47:00</c:v>
                </c:pt>
                <c:pt idx="23">
                  <c:v> 13:48:00</c:v>
                </c:pt>
                <c:pt idx="24">
                  <c:v> 13:49:00</c:v>
                </c:pt>
                <c:pt idx="25">
                  <c:v> 13:50:00</c:v>
                </c:pt>
                <c:pt idx="26">
                  <c:v> 13:51:00</c:v>
                </c:pt>
                <c:pt idx="27">
                  <c:v> 13:52:00</c:v>
                </c:pt>
                <c:pt idx="28">
                  <c:v> 13:53:00</c:v>
                </c:pt>
                <c:pt idx="29">
                  <c:v> 13:54:00</c:v>
                </c:pt>
                <c:pt idx="30">
                  <c:v> 13:55:00</c:v>
                </c:pt>
                <c:pt idx="31">
                  <c:v> 13:56:00</c:v>
                </c:pt>
                <c:pt idx="32">
                  <c:v> 13:57:00</c:v>
                </c:pt>
                <c:pt idx="33">
                  <c:v> 13:58:00</c:v>
                </c:pt>
                <c:pt idx="34">
                  <c:v> 13:59:00</c:v>
                </c:pt>
                <c:pt idx="35">
                  <c:v> 14:00:00</c:v>
                </c:pt>
                <c:pt idx="36">
                  <c:v> 14:01:00</c:v>
                </c:pt>
                <c:pt idx="37">
                  <c:v> 14:02:00</c:v>
                </c:pt>
                <c:pt idx="38">
                  <c:v> 14:03:00</c:v>
                </c:pt>
                <c:pt idx="39">
                  <c:v> 14:04:00</c:v>
                </c:pt>
                <c:pt idx="40">
                  <c:v> 14:05:00</c:v>
                </c:pt>
                <c:pt idx="41">
                  <c:v> 14:06:00</c:v>
                </c:pt>
                <c:pt idx="42">
                  <c:v> 14:07:00</c:v>
                </c:pt>
                <c:pt idx="43">
                  <c:v> 14:08:00</c:v>
                </c:pt>
                <c:pt idx="44">
                  <c:v> 14:09:00</c:v>
                </c:pt>
                <c:pt idx="45">
                  <c:v> 14:10:00</c:v>
                </c:pt>
                <c:pt idx="46">
                  <c:v> 14:11:00</c:v>
                </c:pt>
                <c:pt idx="47">
                  <c:v> 14:12:00</c:v>
                </c:pt>
                <c:pt idx="48">
                  <c:v> 14:13:00</c:v>
                </c:pt>
                <c:pt idx="49">
                  <c:v> 14:14:00</c:v>
                </c:pt>
                <c:pt idx="50">
                  <c:v> 14:15:00</c:v>
                </c:pt>
                <c:pt idx="51">
                  <c:v> 14:16:00</c:v>
                </c:pt>
                <c:pt idx="52">
                  <c:v> 14:17:00</c:v>
                </c:pt>
                <c:pt idx="53">
                  <c:v> 14:18:00</c:v>
                </c:pt>
                <c:pt idx="54">
                  <c:v> 14:19:00</c:v>
                </c:pt>
                <c:pt idx="55">
                  <c:v> 14:20:00</c:v>
                </c:pt>
                <c:pt idx="56">
                  <c:v> 14:21:00</c:v>
                </c:pt>
                <c:pt idx="57">
                  <c:v> 14:22:00</c:v>
                </c:pt>
                <c:pt idx="58">
                  <c:v> 14:23:00</c:v>
                </c:pt>
                <c:pt idx="59">
                  <c:v> 14:24:00</c:v>
                </c:pt>
                <c:pt idx="60">
                  <c:v> 14:25:00</c:v>
                </c:pt>
                <c:pt idx="61">
                  <c:v> 14:26:00</c:v>
                </c:pt>
                <c:pt idx="62">
                  <c:v> 14:27:00</c:v>
                </c:pt>
                <c:pt idx="63">
                  <c:v> 14:28:00</c:v>
                </c:pt>
                <c:pt idx="64">
                  <c:v> 14:29:00</c:v>
                </c:pt>
                <c:pt idx="65">
                  <c:v> 14:30:00</c:v>
                </c:pt>
                <c:pt idx="66">
                  <c:v> 14:31:00</c:v>
                </c:pt>
                <c:pt idx="67">
                  <c:v> 14:32:00</c:v>
                </c:pt>
                <c:pt idx="68">
                  <c:v> 14:33:00</c:v>
                </c:pt>
                <c:pt idx="69">
                  <c:v> 14:34:00</c:v>
                </c:pt>
                <c:pt idx="70">
                  <c:v> 14:35:00</c:v>
                </c:pt>
                <c:pt idx="71">
                  <c:v> 14:36:00</c:v>
                </c:pt>
                <c:pt idx="72">
                  <c:v> 14:37:00</c:v>
                </c:pt>
                <c:pt idx="73">
                  <c:v> 14:38:00</c:v>
                </c:pt>
                <c:pt idx="74">
                  <c:v> 14:39:00</c:v>
                </c:pt>
                <c:pt idx="75">
                  <c:v> 14:40:00</c:v>
                </c:pt>
                <c:pt idx="76">
                  <c:v> 14:41:00</c:v>
                </c:pt>
                <c:pt idx="77">
                  <c:v> 14:42:00</c:v>
                </c:pt>
                <c:pt idx="78">
                  <c:v> 14:43:00</c:v>
                </c:pt>
                <c:pt idx="79">
                  <c:v> 14:44:00</c:v>
                </c:pt>
                <c:pt idx="80">
                  <c:v> 14:45:00</c:v>
                </c:pt>
                <c:pt idx="81">
                  <c:v> 14:46:00</c:v>
                </c:pt>
                <c:pt idx="82">
                  <c:v> 14:47:00</c:v>
                </c:pt>
                <c:pt idx="83">
                  <c:v> 14:48:00</c:v>
                </c:pt>
                <c:pt idx="84">
                  <c:v> 14:49:00</c:v>
                </c:pt>
                <c:pt idx="85">
                  <c:v> 14:50:00</c:v>
                </c:pt>
                <c:pt idx="86">
                  <c:v> 14:51:00</c:v>
                </c:pt>
                <c:pt idx="87">
                  <c:v> 14:52:00</c:v>
                </c:pt>
                <c:pt idx="88">
                  <c:v> 14:53:00</c:v>
                </c:pt>
                <c:pt idx="89">
                  <c:v> 14:54:00</c:v>
                </c:pt>
                <c:pt idx="90">
                  <c:v> 14:55:00</c:v>
                </c:pt>
                <c:pt idx="91">
                  <c:v> 14:56:00</c:v>
                </c:pt>
                <c:pt idx="92">
                  <c:v> 14:57:00</c:v>
                </c:pt>
                <c:pt idx="93">
                  <c:v> 14:58:00</c:v>
                </c:pt>
                <c:pt idx="94">
                  <c:v> 14:59:00</c:v>
                </c:pt>
                <c:pt idx="95">
                  <c:v> 15:00:00</c:v>
                </c:pt>
              </c:strCache>
            </c:strRef>
          </c:cat>
          <c:val>
            <c:numRef>
              <c:f>AggLoadSummary!$D$2:$D$97</c:f>
              <c:numCache>
                <c:formatCode>General</c:formatCode>
                <c:ptCount val="96"/>
                <c:pt idx="0">
                  <c:v>15</c:v>
                </c:pt>
                <c:pt idx="1">
                  <c:v>21</c:v>
                </c:pt>
                <c:pt idx="2">
                  <c:v>28</c:v>
                </c:pt>
                <c:pt idx="3">
                  <c:v>20</c:v>
                </c:pt>
                <c:pt idx="4">
                  <c:v>20</c:v>
                </c:pt>
                <c:pt idx="5">
                  <c:v>26</c:v>
                </c:pt>
                <c:pt idx="6">
                  <c:v>12</c:v>
                </c:pt>
                <c:pt idx="7">
                  <c:v>23</c:v>
                </c:pt>
                <c:pt idx="8">
                  <c:v>33</c:v>
                </c:pt>
                <c:pt idx="9">
                  <c:v>611</c:v>
                </c:pt>
                <c:pt idx="10">
                  <c:v>26</c:v>
                </c:pt>
                <c:pt idx="11">
                  <c:v>32</c:v>
                </c:pt>
                <c:pt idx="12">
                  <c:v>856</c:v>
                </c:pt>
                <c:pt idx="13">
                  <c:v>1317</c:v>
                </c:pt>
                <c:pt idx="14">
                  <c:v>1276</c:v>
                </c:pt>
                <c:pt idx="15">
                  <c:v>1427</c:v>
                </c:pt>
                <c:pt idx="16">
                  <c:v>1450</c:v>
                </c:pt>
                <c:pt idx="17">
                  <c:v>1723</c:v>
                </c:pt>
                <c:pt idx="18">
                  <c:v>2127</c:v>
                </c:pt>
                <c:pt idx="19">
                  <c:v>2457</c:v>
                </c:pt>
                <c:pt idx="20">
                  <c:v>3009</c:v>
                </c:pt>
                <c:pt idx="21">
                  <c:v>3661</c:v>
                </c:pt>
                <c:pt idx="22">
                  <c:v>4237</c:v>
                </c:pt>
                <c:pt idx="23">
                  <c:v>4583</c:v>
                </c:pt>
                <c:pt idx="24">
                  <c:v>4754</c:v>
                </c:pt>
                <c:pt idx="25">
                  <c:v>5561</c:v>
                </c:pt>
                <c:pt idx="26">
                  <c:v>5765</c:v>
                </c:pt>
                <c:pt idx="27">
                  <c:v>6336</c:v>
                </c:pt>
                <c:pt idx="28">
                  <c:v>6688</c:v>
                </c:pt>
                <c:pt idx="29">
                  <c:v>5755</c:v>
                </c:pt>
                <c:pt idx="30">
                  <c:v>6404</c:v>
                </c:pt>
                <c:pt idx="31">
                  <c:v>6380</c:v>
                </c:pt>
                <c:pt idx="32">
                  <c:v>6531</c:v>
                </c:pt>
                <c:pt idx="33">
                  <c:v>6219</c:v>
                </c:pt>
                <c:pt idx="34">
                  <c:v>5779</c:v>
                </c:pt>
                <c:pt idx="35">
                  <c:v>7058</c:v>
                </c:pt>
                <c:pt idx="36">
                  <c:v>7245</c:v>
                </c:pt>
                <c:pt idx="37">
                  <c:v>7899</c:v>
                </c:pt>
                <c:pt idx="38">
                  <c:v>7565</c:v>
                </c:pt>
                <c:pt idx="39">
                  <c:v>6873</c:v>
                </c:pt>
                <c:pt idx="40">
                  <c:v>6489</c:v>
                </c:pt>
                <c:pt idx="41">
                  <c:v>5954</c:v>
                </c:pt>
                <c:pt idx="42">
                  <c:v>6328</c:v>
                </c:pt>
                <c:pt idx="43">
                  <c:v>6207</c:v>
                </c:pt>
                <c:pt idx="44">
                  <c:v>5695</c:v>
                </c:pt>
                <c:pt idx="45">
                  <c:v>7120</c:v>
                </c:pt>
                <c:pt idx="46">
                  <c:v>6793</c:v>
                </c:pt>
                <c:pt idx="47">
                  <c:v>7342</c:v>
                </c:pt>
                <c:pt idx="48">
                  <c:v>6724</c:v>
                </c:pt>
                <c:pt idx="49">
                  <c:v>7051</c:v>
                </c:pt>
                <c:pt idx="50">
                  <c:v>7258</c:v>
                </c:pt>
                <c:pt idx="51">
                  <c:v>6464</c:v>
                </c:pt>
                <c:pt idx="52">
                  <c:v>7099</c:v>
                </c:pt>
                <c:pt idx="53">
                  <c:v>7715</c:v>
                </c:pt>
                <c:pt idx="54">
                  <c:v>7761</c:v>
                </c:pt>
                <c:pt idx="55">
                  <c:v>7164</c:v>
                </c:pt>
                <c:pt idx="56">
                  <c:v>6848</c:v>
                </c:pt>
                <c:pt idx="57">
                  <c:v>6887</c:v>
                </c:pt>
                <c:pt idx="58">
                  <c:v>7623</c:v>
                </c:pt>
                <c:pt idx="59">
                  <c:v>7212</c:v>
                </c:pt>
                <c:pt idx="60">
                  <c:v>7169</c:v>
                </c:pt>
                <c:pt idx="61">
                  <c:v>6609</c:v>
                </c:pt>
                <c:pt idx="62">
                  <c:v>6953</c:v>
                </c:pt>
                <c:pt idx="63">
                  <c:v>7294</c:v>
                </c:pt>
                <c:pt idx="64">
                  <c:v>7313</c:v>
                </c:pt>
                <c:pt idx="65">
                  <c:v>7116</c:v>
                </c:pt>
                <c:pt idx="66">
                  <c:v>7048</c:v>
                </c:pt>
                <c:pt idx="67">
                  <c:v>7543</c:v>
                </c:pt>
                <c:pt idx="68">
                  <c:v>7197</c:v>
                </c:pt>
                <c:pt idx="69">
                  <c:v>7207</c:v>
                </c:pt>
                <c:pt idx="70">
                  <c:v>7418</c:v>
                </c:pt>
                <c:pt idx="71">
                  <c:v>7363</c:v>
                </c:pt>
                <c:pt idx="72">
                  <c:v>7099</c:v>
                </c:pt>
                <c:pt idx="73">
                  <c:v>7092</c:v>
                </c:pt>
                <c:pt idx="74">
                  <c:v>7350</c:v>
                </c:pt>
                <c:pt idx="75">
                  <c:v>7316</c:v>
                </c:pt>
                <c:pt idx="76">
                  <c:v>7288</c:v>
                </c:pt>
                <c:pt idx="77">
                  <c:v>6740</c:v>
                </c:pt>
                <c:pt idx="78">
                  <c:v>6801</c:v>
                </c:pt>
                <c:pt idx="79">
                  <c:v>6880</c:v>
                </c:pt>
                <c:pt idx="80">
                  <c:v>6771</c:v>
                </c:pt>
                <c:pt idx="81">
                  <c:v>7686</c:v>
                </c:pt>
                <c:pt idx="82">
                  <c:v>7572</c:v>
                </c:pt>
                <c:pt idx="83">
                  <c:v>7325</c:v>
                </c:pt>
                <c:pt idx="84">
                  <c:v>7364</c:v>
                </c:pt>
                <c:pt idx="85">
                  <c:v>2987</c:v>
                </c:pt>
                <c:pt idx="86">
                  <c:v>19</c:v>
                </c:pt>
                <c:pt idx="87">
                  <c:v>23</c:v>
                </c:pt>
                <c:pt idx="88">
                  <c:v>23</c:v>
                </c:pt>
                <c:pt idx="89">
                  <c:v>20</c:v>
                </c:pt>
                <c:pt idx="90">
                  <c:v>21</c:v>
                </c:pt>
                <c:pt idx="91">
                  <c:v>17</c:v>
                </c:pt>
                <c:pt idx="92">
                  <c:v>20</c:v>
                </c:pt>
                <c:pt idx="93">
                  <c:v>16</c:v>
                </c:pt>
                <c:pt idx="94">
                  <c:v>25</c:v>
                </c:pt>
                <c:pt idx="95">
                  <c:v>29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6661248"/>
        <c:axId val="156282816"/>
      </c:lineChart>
      <c:catAx>
        <c:axId val="36661248"/>
        <c:scaling>
          <c:orientation val="minMax"/>
        </c:scaling>
        <c:delete val="0"/>
        <c:axPos val="b"/>
        <c:majorTickMark val="out"/>
        <c:minorTickMark val="none"/>
        <c:tickLblPos val="nextTo"/>
        <c:crossAx val="156282816"/>
        <c:crosses val="autoZero"/>
        <c:auto val="1"/>
        <c:lblAlgn val="ctr"/>
        <c:lblOffset val="100"/>
        <c:noMultiLvlLbl val="0"/>
      </c:catAx>
      <c:valAx>
        <c:axId val="15628281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36661248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5702417048615178"/>
          <c:y val="2.98428842228055E-2"/>
          <c:w val="0.22108528225016649"/>
          <c:h val="8.3717191601049873E-2"/>
        </c:manualLayout>
      </c:layout>
      <c:overlay val="0"/>
    </c:legend>
    <c:plotVisOnly val="1"/>
    <c:dispBlanksAs val="gap"/>
    <c:showDLblsOverMax val="0"/>
  </c:chart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r>
              <a:rPr lang="en-US"/>
              <a:t>Load distribution across clusters</a:t>
            </a:r>
          </a:p>
        </c:rich>
      </c:tx>
      <c:layout>
        <c:manualLayout>
          <c:xMode val="edge"/>
          <c:yMode val="edge"/>
          <c:x val="4.8271440732070646E-2"/>
          <c:y val="1.8518518518518517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12896591473363128"/>
          <c:y val="0.19480351414406533"/>
          <c:w val="0.84819607008583386"/>
          <c:h val="0.56965624088655586"/>
        </c:manualLayout>
      </c:layout>
      <c:lineChart>
        <c:grouping val="standard"/>
        <c:varyColors val="0"/>
        <c:ser>
          <c:idx val="0"/>
          <c:order val="0"/>
          <c:tx>
            <c:strRef>
              <c:f>SummaryVolumesByHost!$E$1</c:f>
              <c:strCache>
                <c:ptCount val="1"/>
                <c:pt idx="0">
                  <c:v> MaxClust2</c:v>
                </c:pt>
              </c:strCache>
            </c:strRef>
          </c:tx>
          <c:cat>
            <c:strRef>
              <c:f>SummaryVolumesByHost!$D$2:$D$97</c:f>
              <c:strCache>
                <c:ptCount val="96"/>
                <c:pt idx="0">
                  <c:v> 13:25:00</c:v>
                </c:pt>
                <c:pt idx="1">
                  <c:v> 13:26:00</c:v>
                </c:pt>
                <c:pt idx="2">
                  <c:v> 13:27:00</c:v>
                </c:pt>
                <c:pt idx="3">
                  <c:v> 13:28:00</c:v>
                </c:pt>
                <c:pt idx="4">
                  <c:v> 13:29:00</c:v>
                </c:pt>
                <c:pt idx="5">
                  <c:v> 13:30:00</c:v>
                </c:pt>
                <c:pt idx="6">
                  <c:v> 13:31:00</c:v>
                </c:pt>
                <c:pt idx="7">
                  <c:v> 13:32:00</c:v>
                </c:pt>
                <c:pt idx="8">
                  <c:v> 13:33:00</c:v>
                </c:pt>
                <c:pt idx="9">
                  <c:v> 13:34:00</c:v>
                </c:pt>
                <c:pt idx="10">
                  <c:v> 13:35:00</c:v>
                </c:pt>
                <c:pt idx="11">
                  <c:v> 13:36:00</c:v>
                </c:pt>
                <c:pt idx="12">
                  <c:v> 13:37:00</c:v>
                </c:pt>
                <c:pt idx="13">
                  <c:v> 13:38:00</c:v>
                </c:pt>
                <c:pt idx="14">
                  <c:v> 13:39:00</c:v>
                </c:pt>
                <c:pt idx="15">
                  <c:v> 13:40:00</c:v>
                </c:pt>
                <c:pt idx="16">
                  <c:v> 13:41:00</c:v>
                </c:pt>
                <c:pt idx="17">
                  <c:v> 13:42:00</c:v>
                </c:pt>
                <c:pt idx="18">
                  <c:v> 13:43:00</c:v>
                </c:pt>
                <c:pt idx="19">
                  <c:v> 13:44:00</c:v>
                </c:pt>
                <c:pt idx="20">
                  <c:v> 13:45:00</c:v>
                </c:pt>
                <c:pt idx="21">
                  <c:v> 13:46:00</c:v>
                </c:pt>
                <c:pt idx="22">
                  <c:v> 13:47:00</c:v>
                </c:pt>
                <c:pt idx="23">
                  <c:v> 13:48:00</c:v>
                </c:pt>
                <c:pt idx="24">
                  <c:v> 13:49:00</c:v>
                </c:pt>
                <c:pt idx="25">
                  <c:v> 13:50:00</c:v>
                </c:pt>
                <c:pt idx="26">
                  <c:v> 13:51:00</c:v>
                </c:pt>
                <c:pt idx="27">
                  <c:v> 13:52:00</c:v>
                </c:pt>
                <c:pt idx="28">
                  <c:v> 13:53:00</c:v>
                </c:pt>
                <c:pt idx="29">
                  <c:v> 13:54:00</c:v>
                </c:pt>
                <c:pt idx="30">
                  <c:v> 13:55:00</c:v>
                </c:pt>
                <c:pt idx="31">
                  <c:v> 13:56:00</c:v>
                </c:pt>
                <c:pt idx="32">
                  <c:v> 13:57:00</c:v>
                </c:pt>
                <c:pt idx="33">
                  <c:v> 13:58:00</c:v>
                </c:pt>
                <c:pt idx="34">
                  <c:v> 13:59:00</c:v>
                </c:pt>
                <c:pt idx="35">
                  <c:v> 14:00:00</c:v>
                </c:pt>
                <c:pt idx="36">
                  <c:v> 14:01:00</c:v>
                </c:pt>
                <c:pt idx="37">
                  <c:v> 14:02:00</c:v>
                </c:pt>
                <c:pt idx="38">
                  <c:v> 14:03:00</c:v>
                </c:pt>
                <c:pt idx="39">
                  <c:v> 14:04:00</c:v>
                </c:pt>
                <c:pt idx="40">
                  <c:v> 14:05:00</c:v>
                </c:pt>
                <c:pt idx="41">
                  <c:v> 14:06:00</c:v>
                </c:pt>
                <c:pt idx="42">
                  <c:v> 14:07:00</c:v>
                </c:pt>
                <c:pt idx="43">
                  <c:v> 14:08:00</c:v>
                </c:pt>
                <c:pt idx="44">
                  <c:v> 14:09:00</c:v>
                </c:pt>
                <c:pt idx="45">
                  <c:v> 14:10:00</c:v>
                </c:pt>
                <c:pt idx="46">
                  <c:v> 14:11:00</c:v>
                </c:pt>
                <c:pt idx="47">
                  <c:v> 14:12:00</c:v>
                </c:pt>
                <c:pt idx="48">
                  <c:v> 14:13:00</c:v>
                </c:pt>
                <c:pt idx="49">
                  <c:v> 14:14:00</c:v>
                </c:pt>
                <c:pt idx="50">
                  <c:v> 14:15:00</c:v>
                </c:pt>
                <c:pt idx="51">
                  <c:v> 14:16:00</c:v>
                </c:pt>
                <c:pt idx="52">
                  <c:v> 14:17:00</c:v>
                </c:pt>
                <c:pt idx="53">
                  <c:v> 14:18:00</c:v>
                </c:pt>
                <c:pt idx="54">
                  <c:v> 14:19:00</c:v>
                </c:pt>
                <c:pt idx="55">
                  <c:v> 14:20:00</c:v>
                </c:pt>
                <c:pt idx="56">
                  <c:v> 14:21:00</c:v>
                </c:pt>
                <c:pt idx="57">
                  <c:v> 14:22:00</c:v>
                </c:pt>
                <c:pt idx="58">
                  <c:v> 14:23:00</c:v>
                </c:pt>
                <c:pt idx="59">
                  <c:v> 14:24:00</c:v>
                </c:pt>
                <c:pt idx="60">
                  <c:v> 14:25:00</c:v>
                </c:pt>
                <c:pt idx="61">
                  <c:v> 14:26:00</c:v>
                </c:pt>
                <c:pt idx="62">
                  <c:v> 14:27:00</c:v>
                </c:pt>
                <c:pt idx="63">
                  <c:v> 14:28:00</c:v>
                </c:pt>
                <c:pt idx="64">
                  <c:v> 14:29:00</c:v>
                </c:pt>
                <c:pt idx="65">
                  <c:v> 14:30:00</c:v>
                </c:pt>
                <c:pt idx="66">
                  <c:v> 14:31:00</c:v>
                </c:pt>
                <c:pt idx="67">
                  <c:v> 14:32:00</c:v>
                </c:pt>
                <c:pt idx="68">
                  <c:v> 14:33:00</c:v>
                </c:pt>
                <c:pt idx="69">
                  <c:v> 14:34:00</c:v>
                </c:pt>
                <c:pt idx="70">
                  <c:v> 14:35:00</c:v>
                </c:pt>
                <c:pt idx="71">
                  <c:v> 14:36:00</c:v>
                </c:pt>
                <c:pt idx="72">
                  <c:v> 14:37:00</c:v>
                </c:pt>
                <c:pt idx="73">
                  <c:v> 14:38:00</c:v>
                </c:pt>
                <c:pt idx="74">
                  <c:v> 14:39:00</c:v>
                </c:pt>
                <c:pt idx="75">
                  <c:v> 14:40:00</c:v>
                </c:pt>
                <c:pt idx="76">
                  <c:v> 14:41:00</c:v>
                </c:pt>
                <c:pt idx="77">
                  <c:v> 14:42:00</c:v>
                </c:pt>
                <c:pt idx="78">
                  <c:v> 14:43:00</c:v>
                </c:pt>
                <c:pt idx="79">
                  <c:v> 14:44:00</c:v>
                </c:pt>
                <c:pt idx="80">
                  <c:v> 14:45:00</c:v>
                </c:pt>
                <c:pt idx="81">
                  <c:v> 14:46:00</c:v>
                </c:pt>
                <c:pt idx="82">
                  <c:v> 14:47:00</c:v>
                </c:pt>
                <c:pt idx="83">
                  <c:v> 14:48:00</c:v>
                </c:pt>
                <c:pt idx="84">
                  <c:v> 14:49:00</c:v>
                </c:pt>
                <c:pt idx="85">
                  <c:v> 14:50:00</c:v>
                </c:pt>
                <c:pt idx="86">
                  <c:v> 14:51:00</c:v>
                </c:pt>
                <c:pt idx="87">
                  <c:v> 14:52:00</c:v>
                </c:pt>
                <c:pt idx="88">
                  <c:v> 14:53:00</c:v>
                </c:pt>
                <c:pt idx="89">
                  <c:v> 14:54:00</c:v>
                </c:pt>
                <c:pt idx="90">
                  <c:v> 14:55:00</c:v>
                </c:pt>
                <c:pt idx="91">
                  <c:v> 14:56:00</c:v>
                </c:pt>
                <c:pt idx="92">
                  <c:v> 14:57:00</c:v>
                </c:pt>
                <c:pt idx="93">
                  <c:v> 14:58:00</c:v>
                </c:pt>
                <c:pt idx="94">
                  <c:v> 14:59:00</c:v>
                </c:pt>
                <c:pt idx="95">
                  <c:v> 15:00:00</c:v>
                </c:pt>
              </c:strCache>
            </c:strRef>
          </c:cat>
          <c:val>
            <c:numRef>
              <c:f>SummaryVolumesByHost!$E$2:$E$97</c:f>
              <c:numCache>
                <c:formatCode>General</c:formatCode>
                <c:ptCount val="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581</c:v>
                </c:pt>
                <c:pt idx="10">
                  <c:v>2</c:v>
                </c:pt>
                <c:pt idx="11">
                  <c:v>3</c:v>
                </c:pt>
                <c:pt idx="12">
                  <c:v>557</c:v>
                </c:pt>
                <c:pt idx="13">
                  <c:v>789</c:v>
                </c:pt>
                <c:pt idx="14">
                  <c:v>690</c:v>
                </c:pt>
                <c:pt idx="15">
                  <c:v>950</c:v>
                </c:pt>
                <c:pt idx="16">
                  <c:v>803</c:v>
                </c:pt>
                <c:pt idx="17">
                  <c:v>729</c:v>
                </c:pt>
                <c:pt idx="18">
                  <c:v>1207</c:v>
                </c:pt>
                <c:pt idx="19">
                  <c:v>1302</c:v>
                </c:pt>
                <c:pt idx="20">
                  <c:v>1084</c:v>
                </c:pt>
                <c:pt idx="21">
                  <c:v>1462</c:v>
                </c:pt>
                <c:pt idx="22">
                  <c:v>2089</c:v>
                </c:pt>
                <c:pt idx="23">
                  <c:v>2255</c:v>
                </c:pt>
                <c:pt idx="24">
                  <c:v>1723</c:v>
                </c:pt>
                <c:pt idx="25">
                  <c:v>2494</c:v>
                </c:pt>
                <c:pt idx="26">
                  <c:v>2326</c:v>
                </c:pt>
                <c:pt idx="27">
                  <c:v>2772</c:v>
                </c:pt>
                <c:pt idx="28">
                  <c:v>2290</c:v>
                </c:pt>
                <c:pt idx="29">
                  <c:v>2291</c:v>
                </c:pt>
                <c:pt idx="30">
                  <c:v>3163</c:v>
                </c:pt>
                <c:pt idx="31">
                  <c:v>2880</c:v>
                </c:pt>
                <c:pt idx="32">
                  <c:v>2956</c:v>
                </c:pt>
                <c:pt idx="33">
                  <c:v>3076</c:v>
                </c:pt>
                <c:pt idx="34">
                  <c:v>3183</c:v>
                </c:pt>
                <c:pt idx="35">
                  <c:v>3443</c:v>
                </c:pt>
                <c:pt idx="36">
                  <c:v>3075</c:v>
                </c:pt>
                <c:pt idx="37">
                  <c:v>2695</c:v>
                </c:pt>
                <c:pt idx="38">
                  <c:v>3920</c:v>
                </c:pt>
                <c:pt idx="39">
                  <c:v>4537</c:v>
                </c:pt>
                <c:pt idx="40">
                  <c:v>3030</c:v>
                </c:pt>
                <c:pt idx="41">
                  <c:v>2189</c:v>
                </c:pt>
                <c:pt idx="42">
                  <c:v>3327</c:v>
                </c:pt>
                <c:pt idx="43">
                  <c:v>3070</c:v>
                </c:pt>
                <c:pt idx="44">
                  <c:v>2306</c:v>
                </c:pt>
                <c:pt idx="45">
                  <c:v>2382</c:v>
                </c:pt>
                <c:pt idx="46">
                  <c:v>2321</c:v>
                </c:pt>
                <c:pt idx="47">
                  <c:v>3246</c:v>
                </c:pt>
                <c:pt idx="48">
                  <c:v>3424</c:v>
                </c:pt>
                <c:pt idx="49">
                  <c:v>3137</c:v>
                </c:pt>
                <c:pt idx="50">
                  <c:v>3739</c:v>
                </c:pt>
                <c:pt idx="51">
                  <c:v>3056</c:v>
                </c:pt>
                <c:pt idx="52">
                  <c:v>3581</c:v>
                </c:pt>
                <c:pt idx="53">
                  <c:v>3191</c:v>
                </c:pt>
                <c:pt idx="54">
                  <c:v>4244</c:v>
                </c:pt>
                <c:pt idx="55">
                  <c:v>3162</c:v>
                </c:pt>
                <c:pt idx="56">
                  <c:v>2809</c:v>
                </c:pt>
                <c:pt idx="57">
                  <c:v>3170</c:v>
                </c:pt>
                <c:pt idx="58">
                  <c:v>4473</c:v>
                </c:pt>
                <c:pt idx="59">
                  <c:v>4337</c:v>
                </c:pt>
                <c:pt idx="60">
                  <c:v>3886</c:v>
                </c:pt>
                <c:pt idx="61">
                  <c:v>3632</c:v>
                </c:pt>
                <c:pt idx="62">
                  <c:v>4227</c:v>
                </c:pt>
                <c:pt idx="63">
                  <c:v>2730</c:v>
                </c:pt>
                <c:pt idx="64">
                  <c:v>3618</c:v>
                </c:pt>
                <c:pt idx="65">
                  <c:v>3596</c:v>
                </c:pt>
                <c:pt idx="66">
                  <c:v>2656</c:v>
                </c:pt>
                <c:pt idx="67">
                  <c:v>3738</c:v>
                </c:pt>
                <c:pt idx="68">
                  <c:v>4052</c:v>
                </c:pt>
                <c:pt idx="69">
                  <c:v>4355</c:v>
                </c:pt>
                <c:pt idx="70">
                  <c:v>4659</c:v>
                </c:pt>
                <c:pt idx="71">
                  <c:v>3975</c:v>
                </c:pt>
                <c:pt idx="72">
                  <c:v>3871</c:v>
                </c:pt>
                <c:pt idx="73">
                  <c:v>3302</c:v>
                </c:pt>
                <c:pt idx="74">
                  <c:v>3971</c:v>
                </c:pt>
                <c:pt idx="75">
                  <c:v>3653</c:v>
                </c:pt>
                <c:pt idx="76">
                  <c:v>3818</c:v>
                </c:pt>
                <c:pt idx="77">
                  <c:v>3016</c:v>
                </c:pt>
                <c:pt idx="78">
                  <c:v>3171</c:v>
                </c:pt>
                <c:pt idx="79">
                  <c:v>4277</c:v>
                </c:pt>
                <c:pt idx="80">
                  <c:v>3290</c:v>
                </c:pt>
                <c:pt idx="81">
                  <c:v>3483</c:v>
                </c:pt>
                <c:pt idx="82">
                  <c:v>3921</c:v>
                </c:pt>
                <c:pt idx="83">
                  <c:v>3023</c:v>
                </c:pt>
                <c:pt idx="84">
                  <c:v>3954</c:v>
                </c:pt>
                <c:pt idx="85">
                  <c:v>1480</c:v>
                </c:pt>
                <c:pt idx="86">
                  <c:v>4</c:v>
                </c:pt>
                <c:pt idx="87">
                  <c:v>3</c:v>
                </c:pt>
                <c:pt idx="88">
                  <c:v>3</c:v>
                </c:pt>
                <c:pt idx="89">
                  <c:v>3</c:v>
                </c:pt>
                <c:pt idx="90">
                  <c:v>6</c:v>
                </c:pt>
                <c:pt idx="91">
                  <c:v>3</c:v>
                </c:pt>
                <c:pt idx="92">
                  <c:v>6</c:v>
                </c:pt>
                <c:pt idx="93">
                  <c:v>4</c:v>
                </c:pt>
                <c:pt idx="94">
                  <c:v>3</c:v>
                </c:pt>
                <c:pt idx="95">
                  <c:v>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SummaryVolumesByHost!$F$1</c:f>
              <c:strCache>
                <c:ptCount val="1"/>
                <c:pt idx="0">
                  <c:v> MaxClust1</c:v>
                </c:pt>
              </c:strCache>
            </c:strRef>
          </c:tx>
          <c:cat>
            <c:strRef>
              <c:f>SummaryVolumesByHost!$D$2:$D$97</c:f>
              <c:strCache>
                <c:ptCount val="96"/>
                <c:pt idx="0">
                  <c:v> 13:25:00</c:v>
                </c:pt>
                <c:pt idx="1">
                  <c:v> 13:26:00</c:v>
                </c:pt>
                <c:pt idx="2">
                  <c:v> 13:27:00</c:v>
                </c:pt>
                <c:pt idx="3">
                  <c:v> 13:28:00</c:v>
                </c:pt>
                <c:pt idx="4">
                  <c:v> 13:29:00</c:v>
                </c:pt>
                <c:pt idx="5">
                  <c:v> 13:30:00</c:v>
                </c:pt>
                <c:pt idx="6">
                  <c:v> 13:31:00</c:v>
                </c:pt>
                <c:pt idx="7">
                  <c:v> 13:32:00</c:v>
                </c:pt>
                <c:pt idx="8">
                  <c:v> 13:33:00</c:v>
                </c:pt>
                <c:pt idx="9">
                  <c:v> 13:34:00</c:v>
                </c:pt>
                <c:pt idx="10">
                  <c:v> 13:35:00</c:v>
                </c:pt>
                <c:pt idx="11">
                  <c:v> 13:36:00</c:v>
                </c:pt>
                <c:pt idx="12">
                  <c:v> 13:37:00</c:v>
                </c:pt>
                <c:pt idx="13">
                  <c:v> 13:38:00</c:v>
                </c:pt>
                <c:pt idx="14">
                  <c:v> 13:39:00</c:v>
                </c:pt>
                <c:pt idx="15">
                  <c:v> 13:40:00</c:v>
                </c:pt>
                <c:pt idx="16">
                  <c:v> 13:41:00</c:v>
                </c:pt>
                <c:pt idx="17">
                  <c:v> 13:42:00</c:v>
                </c:pt>
                <c:pt idx="18">
                  <c:v> 13:43:00</c:v>
                </c:pt>
                <c:pt idx="19">
                  <c:v> 13:44:00</c:v>
                </c:pt>
                <c:pt idx="20">
                  <c:v> 13:45:00</c:v>
                </c:pt>
                <c:pt idx="21">
                  <c:v> 13:46:00</c:v>
                </c:pt>
                <c:pt idx="22">
                  <c:v> 13:47:00</c:v>
                </c:pt>
                <c:pt idx="23">
                  <c:v> 13:48:00</c:v>
                </c:pt>
                <c:pt idx="24">
                  <c:v> 13:49:00</c:v>
                </c:pt>
                <c:pt idx="25">
                  <c:v> 13:50:00</c:v>
                </c:pt>
                <c:pt idx="26">
                  <c:v> 13:51:00</c:v>
                </c:pt>
                <c:pt idx="27">
                  <c:v> 13:52:00</c:v>
                </c:pt>
                <c:pt idx="28">
                  <c:v> 13:53:00</c:v>
                </c:pt>
                <c:pt idx="29">
                  <c:v> 13:54:00</c:v>
                </c:pt>
                <c:pt idx="30">
                  <c:v> 13:55:00</c:v>
                </c:pt>
                <c:pt idx="31">
                  <c:v> 13:56:00</c:v>
                </c:pt>
                <c:pt idx="32">
                  <c:v> 13:57:00</c:v>
                </c:pt>
                <c:pt idx="33">
                  <c:v> 13:58:00</c:v>
                </c:pt>
                <c:pt idx="34">
                  <c:v> 13:59:00</c:v>
                </c:pt>
                <c:pt idx="35">
                  <c:v> 14:00:00</c:v>
                </c:pt>
                <c:pt idx="36">
                  <c:v> 14:01:00</c:v>
                </c:pt>
                <c:pt idx="37">
                  <c:v> 14:02:00</c:v>
                </c:pt>
                <c:pt idx="38">
                  <c:v> 14:03:00</c:v>
                </c:pt>
                <c:pt idx="39">
                  <c:v> 14:04:00</c:v>
                </c:pt>
                <c:pt idx="40">
                  <c:v> 14:05:00</c:v>
                </c:pt>
                <c:pt idx="41">
                  <c:v> 14:06:00</c:v>
                </c:pt>
                <c:pt idx="42">
                  <c:v> 14:07:00</c:v>
                </c:pt>
                <c:pt idx="43">
                  <c:v> 14:08:00</c:v>
                </c:pt>
                <c:pt idx="44">
                  <c:v> 14:09:00</c:v>
                </c:pt>
                <c:pt idx="45">
                  <c:v> 14:10:00</c:v>
                </c:pt>
                <c:pt idx="46">
                  <c:v> 14:11:00</c:v>
                </c:pt>
                <c:pt idx="47">
                  <c:v> 14:12:00</c:v>
                </c:pt>
                <c:pt idx="48">
                  <c:v> 14:13:00</c:v>
                </c:pt>
                <c:pt idx="49">
                  <c:v> 14:14:00</c:v>
                </c:pt>
                <c:pt idx="50">
                  <c:v> 14:15:00</c:v>
                </c:pt>
                <c:pt idx="51">
                  <c:v> 14:16:00</c:v>
                </c:pt>
                <c:pt idx="52">
                  <c:v> 14:17:00</c:v>
                </c:pt>
                <c:pt idx="53">
                  <c:v> 14:18:00</c:v>
                </c:pt>
                <c:pt idx="54">
                  <c:v> 14:19:00</c:v>
                </c:pt>
                <c:pt idx="55">
                  <c:v> 14:20:00</c:v>
                </c:pt>
                <c:pt idx="56">
                  <c:v> 14:21:00</c:v>
                </c:pt>
                <c:pt idx="57">
                  <c:v> 14:22:00</c:v>
                </c:pt>
                <c:pt idx="58">
                  <c:v> 14:23:00</c:v>
                </c:pt>
                <c:pt idx="59">
                  <c:v> 14:24:00</c:v>
                </c:pt>
                <c:pt idx="60">
                  <c:v> 14:25:00</c:v>
                </c:pt>
                <c:pt idx="61">
                  <c:v> 14:26:00</c:v>
                </c:pt>
                <c:pt idx="62">
                  <c:v> 14:27:00</c:v>
                </c:pt>
                <c:pt idx="63">
                  <c:v> 14:28:00</c:v>
                </c:pt>
                <c:pt idx="64">
                  <c:v> 14:29:00</c:v>
                </c:pt>
                <c:pt idx="65">
                  <c:v> 14:30:00</c:v>
                </c:pt>
                <c:pt idx="66">
                  <c:v> 14:31:00</c:v>
                </c:pt>
                <c:pt idx="67">
                  <c:v> 14:32:00</c:v>
                </c:pt>
                <c:pt idx="68">
                  <c:v> 14:33:00</c:v>
                </c:pt>
                <c:pt idx="69">
                  <c:v> 14:34:00</c:v>
                </c:pt>
                <c:pt idx="70">
                  <c:v> 14:35:00</c:v>
                </c:pt>
                <c:pt idx="71">
                  <c:v> 14:36:00</c:v>
                </c:pt>
                <c:pt idx="72">
                  <c:v> 14:37:00</c:v>
                </c:pt>
                <c:pt idx="73">
                  <c:v> 14:38:00</c:v>
                </c:pt>
                <c:pt idx="74">
                  <c:v> 14:39:00</c:v>
                </c:pt>
                <c:pt idx="75">
                  <c:v> 14:40:00</c:v>
                </c:pt>
                <c:pt idx="76">
                  <c:v> 14:41:00</c:v>
                </c:pt>
                <c:pt idx="77">
                  <c:v> 14:42:00</c:v>
                </c:pt>
                <c:pt idx="78">
                  <c:v> 14:43:00</c:v>
                </c:pt>
                <c:pt idx="79">
                  <c:v> 14:44:00</c:v>
                </c:pt>
                <c:pt idx="80">
                  <c:v> 14:45:00</c:v>
                </c:pt>
                <c:pt idx="81">
                  <c:v> 14:46:00</c:v>
                </c:pt>
                <c:pt idx="82">
                  <c:v> 14:47:00</c:v>
                </c:pt>
                <c:pt idx="83">
                  <c:v> 14:48:00</c:v>
                </c:pt>
                <c:pt idx="84">
                  <c:v> 14:49:00</c:v>
                </c:pt>
                <c:pt idx="85">
                  <c:v> 14:50:00</c:v>
                </c:pt>
                <c:pt idx="86">
                  <c:v> 14:51:00</c:v>
                </c:pt>
                <c:pt idx="87">
                  <c:v> 14:52:00</c:v>
                </c:pt>
                <c:pt idx="88">
                  <c:v> 14:53:00</c:v>
                </c:pt>
                <c:pt idx="89">
                  <c:v> 14:54:00</c:v>
                </c:pt>
                <c:pt idx="90">
                  <c:v> 14:55:00</c:v>
                </c:pt>
                <c:pt idx="91">
                  <c:v> 14:56:00</c:v>
                </c:pt>
                <c:pt idx="92">
                  <c:v> 14:57:00</c:v>
                </c:pt>
                <c:pt idx="93">
                  <c:v> 14:58:00</c:v>
                </c:pt>
                <c:pt idx="94">
                  <c:v> 14:59:00</c:v>
                </c:pt>
                <c:pt idx="95">
                  <c:v> 15:00:00</c:v>
                </c:pt>
              </c:strCache>
            </c:strRef>
          </c:cat>
          <c:val>
            <c:numRef>
              <c:f>SummaryVolumesByHost!$F$2:$F$97</c:f>
              <c:numCache>
                <c:formatCode>General</c:formatCode>
                <c:ptCount val="96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3</c:v>
                </c:pt>
                <c:pt idx="6">
                  <c:v>3</c:v>
                </c:pt>
                <c:pt idx="7">
                  <c:v>2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  <c:pt idx="11">
                  <c:v>4</c:v>
                </c:pt>
                <c:pt idx="12">
                  <c:v>247</c:v>
                </c:pt>
                <c:pt idx="13">
                  <c:v>511</c:v>
                </c:pt>
                <c:pt idx="14">
                  <c:v>575</c:v>
                </c:pt>
                <c:pt idx="15">
                  <c:v>452</c:v>
                </c:pt>
                <c:pt idx="16">
                  <c:v>625</c:v>
                </c:pt>
                <c:pt idx="17">
                  <c:v>941</c:v>
                </c:pt>
                <c:pt idx="18">
                  <c:v>858</c:v>
                </c:pt>
                <c:pt idx="19">
                  <c:v>1123</c:v>
                </c:pt>
                <c:pt idx="20">
                  <c:v>1881</c:v>
                </c:pt>
                <c:pt idx="21">
                  <c:v>2173</c:v>
                </c:pt>
                <c:pt idx="22">
                  <c:v>2108</c:v>
                </c:pt>
                <c:pt idx="23">
                  <c:v>2293</c:v>
                </c:pt>
                <c:pt idx="24">
                  <c:v>2989</c:v>
                </c:pt>
                <c:pt idx="25">
                  <c:v>3010</c:v>
                </c:pt>
                <c:pt idx="26">
                  <c:v>3403</c:v>
                </c:pt>
                <c:pt idx="27">
                  <c:v>3509</c:v>
                </c:pt>
                <c:pt idx="28">
                  <c:v>4360</c:v>
                </c:pt>
                <c:pt idx="29">
                  <c:v>3424</c:v>
                </c:pt>
                <c:pt idx="30">
                  <c:v>3182</c:v>
                </c:pt>
                <c:pt idx="31">
                  <c:v>3466</c:v>
                </c:pt>
                <c:pt idx="32">
                  <c:v>3503</c:v>
                </c:pt>
                <c:pt idx="33">
                  <c:v>3099</c:v>
                </c:pt>
                <c:pt idx="34">
                  <c:v>2552</c:v>
                </c:pt>
                <c:pt idx="35">
                  <c:v>3274</c:v>
                </c:pt>
                <c:pt idx="36">
                  <c:v>3311</c:v>
                </c:pt>
                <c:pt idx="37">
                  <c:v>4412</c:v>
                </c:pt>
                <c:pt idx="38">
                  <c:v>2980</c:v>
                </c:pt>
                <c:pt idx="39">
                  <c:v>2274</c:v>
                </c:pt>
                <c:pt idx="40">
                  <c:v>3411</c:v>
                </c:pt>
                <c:pt idx="41">
                  <c:v>3734</c:v>
                </c:pt>
                <c:pt idx="42">
                  <c:v>2950</c:v>
                </c:pt>
                <c:pt idx="43">
                  <c:v>3104</c:v>
                </c:pt>
                <c:pt idx="44">
                  <c:v>3368</c:v>
                </c:pt>
                <c:pt idx="45">
                  <c:v>4694</c:v>
                </c:pt>
                <c:pt idx="46">
                  <c:v>4430</c:v>
                </c:pt>
                <c:pt idx="47">
                  <c:v>4053</c:v>
                </c:pt>
                <c:pt idx="48">
                  <c:v>3251</c:v>
                </c:pt>
                <c:pt idx="49">
                  <c:v>3861</c:v>
                </c:pt>
                <c:pt idx="50">
                  <c:v>3478</c:v>
                </c:pt>
                <c:pt idx="51">
                  <c:v>3369</c:v>
                </c:pt>
                <c:pt idx="52">
                  <c:v>3468</c:v>
                </c:pt>
                <c:pt idx="53">
                  <c:v>4461</c:v>
                </c:pt>
                <c:pt idx="54">
                  <c:v>3478</c:v>
                </c:pt>
                <c:pt idx="55">
                  <c:v>3954</c:v>
                </c:pt>
                <c:pt idx="56">
                  <c:v>3994</c:v>
                </c:pt>
                <c:pt idx="57">
                  <c:v>3669</c:v>
                </c:pt>
                <c:pt idx="58">
                  <c:v>3093</c:v>
                </c:pt>
                <c:pt idx="59">
                  <c:v>2837</c:v>
                </c:pt>
                <c:pt idx="60">
                  <c:v>3233</c:v>
                </c:pt>
                <c:pt idx="61">
                  <c:v>2936</c:v>
                </c:pt>
                <c:pt idx="62">
                  <c:v>2659</c:v>
                </c:pt>
                <c:pt idx="63">
                  <c:v>4514</c:v>
                </c:pt>
                <c:pt idx="64">
                  <c:v>3662</c:v>
                </c:pt>
                <c:pt idx="65">
                  <c:v>3473</c:v>
                </c:pt>
                <c:pt idx="66">
                  <c:v>4349</c:v>
                </c:pt>
                <c:pt idx="67">
                  <c:v>3734</c:v>
                </c:pt>
                <c:pt idx="68">
                  <c:v>3110</c:v>
                </c:pt>
                <c:pt idx="69">
                  <c:v>2801</c:v>
                </c:pt>
                <c:pt idx="70">
                  <c:v>2714</c:v>
                </c:pt>
                <c:pt idx="71">
                  <c:v>3356</c:v>
                </c:pt>
                <c:pt idx="72">
                  <c:v>3171</c:v>
                </c:pt>
                <c:pt idx="73">
                  <c:v>3748</c:v>
                </c:pt>
                <c:pt idx="74">
                  <c:v>3316</c:v>
                </c:pt>
                <c:pt idx="75">
                  <c:v>3605</c:v>
                </c:pt>
                <c:pt idx="76">
                  <c:v>3427</c:v>
                </c:pt>
                <c:pt idx="77">
                  <c:v>3672</c:v>
                </c:pt>
                <c:pt idx="78">
                  <c:v>3596</c:v>
                </c:pt>
                <c:pt idx="79">
                  <c:v>2564</c:v>
                </c:pt>
                <c:pt idx="80">
                  <c:v>3430</c:v>
                </c:pt>
                <c:pt idx="81">
                  <c:v>4140</c:v>
                </c:pt>
                <c:pt idx="82">
                  <c:v>3590</c:v>
                </c:pt>
                <c:pt idx="83">
                  <c:v>4258</c:v>
                </c:pt>
                <c:pt idx="84">
                  <c:v>3371</c:v>
                </c:pt>
                <c:pt idx="85">
                  <c:v>1470</c:v>
                </c:pt>
                <c:pt idx="86">
                  <c:v>6</c:v>
                </c:pt>
                <c:pt idx="87">
                  <c:v>4</c:v>
                </c:pt>
                <c:pt idx="88">
                  <c:v>3</c:v>
                </c:pt>
                <c:pt idx="89">
                  <c:v>4</c:v>
                </c:pt>
                <c:pt idx="90">
                  <c:v>4</c:v>
                </c:pt>
                <c:pt idx="91">
                  <c:v>4</c:v>
                </c:pt>
                <c:pt idx="92">
                  <c:v>4</c:v>
                </c:pt>
                <c:pt idx="93">
                  <c:v>7</c:v>
                </c:pt>
                <c:pt idx="94">
                  <c:v>4</c:v>
                </c:pt>
                <c:pt idx="95">
                  <c:v>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6661760"/>
        <c:axId val="34062336"/>
      </c:lineChart>
      <c:catAx>
        <c:axId val="36661760"/>
        <c:scaling>
          <c:orientation val="minMax"/>
        </c:scaling>
        <c:delete val="0"/>
        <c:axPos val="b"/>
        <c:majorTickMark val="none"/>
        <c:minorTickMark val="none"/>
        <c:tickLblPos val="nextTo"/>
        <c:crossAx val="34062336"/>
        <c:crosses val="autoZero"/>
        <c:auto val="1"/>
        <c:lblAlgn val="ctr"/>
        <c:lblOffset val="100"/>
        <c:noMultiLvlLbl val="0"/>
      </c:catAx>
      <c:valAx>
        <c:axId val="34062336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App level transactions</a:t>
                </a:r>
              </a:p>
            </c:rich>
          </c:tx>
          <c:layout>
            <c:manualLayout>
              <c:xMode val="edge"/>
              <c:yMode val="edge"/>
              <c:x val="1.5765765765765764E-2"/>
              <c:y val="0.25254811898512686"/>
            </c:manualLayout>
          </c:layout>
          <c:overlay val="0"/>
        </c:title>
        <c:numFmt formatCode="General" sourceLinked="1"/>
        <c:majorTickMark val="none"/>
        <c:minorTickMark val="none"/>
        <c:tickLblPos val="nextTo"/>
        <c:crossAx val="36661760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2265748031496058"/>
          <c:y val="2.9650772820064186E-2"/>
          <c:w val="0.2615767539192736"/>
          <c:h val="0.16743438320209975"/>
        </c:manualLayout>
      </c:layout>
      <c:overlay val="0"/>
    </c:legend>
    <c:plotVisOnly val="1"/>
    <c:dispBlanksAs val="gap"/>
    <c:showDLblsOverMax val="0"/>
  </c:chart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r>
              <a:rPr lang="en-US"/>
              <a:t>Full test - aggregate distribution</a:t>
            </a:r>
          </a:p>
        </c:rich>
      </c:tx>
      <c:layout>
        <c:manualLayout>
          <c:xMode val="edge"/>
          <c:yMode val="edge"/>
          <c:x val="6.3589416187841391E-2"/>
          <c:y val="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31156853663188289"/>
          <c:y val="0.13249052201808106"/>
          <c:w val="0.72137901681208771"/>
          <c:h val="0.86750947798191891"/>
        </c:manualLayout>
      </c:layout>
      <c:pieChart>
        <c:varyColors val="1"/>
        <c:ser>
          <c:idx val="0"/>
          <c:order val="0"/>
          <c:dLbls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SummaryVolumesByHost!$E$2:$F$2</c:f>
              <c:strCache>
                <c:ptCount val="2"/>
                <c:pt idx="0">
                  <c:v> MaxClust2</c:v>
                </c:pt>
                <c:pt idx="1">
                  <c:v> MaxClust1</c:v>
                </c:pt>
              </c:strCache>
            </c:strRef>
          </c:cat>
          <c:val>
            <c:numRef>
              <c:f>SummaryVolumesByHost!$E$1:$F$1</c:f>
              <c:numCache>
                <c:formatCode>General</c:formatCode>
                <c:ptCount val="2"/>
                <c:pt idx="0">
                  <c:v>218289</c:v>
                </c:pt>
                <c:pt idx="1">
                  <c:v>227091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</c:plotArea>
    <c:legend>
      <c:legendPos val="t"/>
      <c:layout>
        <c:manualLayout>
          <c:xMode val="edge"/>
          <c:yMode val="edge"/>
          <c:x val="4.25520925639922E-2"/>
          <c:y val="0.22210666375036453"/>
          <c:w val="0.22733068334303869"/>
          <c:h val="0.53742089530475357"/>
        </c:manualLayout>
      </c:layout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400"/>
      </a:pPr>
      <a:endParaRPr lang="en-US"/>
    </a:p>
  </c:txPr>
  <c:externalData r:id="rId2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 sz="1600"/>
            </a:pPr>
            <a:r>
              <a:rPr lang="en-US" sz="1600"/>
              <a:t>Load distribution across clusters</a:t>
            </a:r>
          </a:p>
        </c:rich>
      </c:tx>
      <c:layout>
        <c:manualLayout>
          <c:xMode val="edge"/>
          <c:yMode val="edge"/>
          <c:x val="4.8271440732070646E-2"/>
          <c:y val="1.8518518518518517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12896591473363128"/>
          <c:y val="0.19480351414406533"/>
          <c:w val="0.84819607008583386"/>
          <c:h val="0.56965624088655586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SummaryVolumesByHost!$E$2</c:f>
              <c:strCache>
                <c:ptCount val="1"/>
                <c:pt idx="0">
                  <c:v> MaxClust2</c:v>
                </c:pt>
              </c:strCache>
            </c:strRef>
          </c:tx>
          <c:invertIfNegative val="0"/>
          <c:cat>
            <c:strRef>
              <c:f>SummaryVolumesByHost!$D$3:$D$98</c:f>
              <c:strCache>
                <c:ptCount val="96"/>
                <c:pt idx="0">
                  <c:v> 13:25:00</c:v>
                </c:pt>
                <c:pt idx="1">
                  <c:v> 13:26:00</c:v>
                </c:pt>
                <c:pt idx="2">
                  <c:v> 13:27:00</c:v>
                </c:pt>
                <c:pt idx="3">
                  <c:v> 13:28:00</c:v>
                </c:pt>
                <c:pt idx="4">
                  <c:v> 13:29:00</c:v>
                </c:pt>
                <c:pt idx="5">
                  <c:v> 13:30:00</c:v>
                </c:pt>
                <c:pt idx="6">
                  <c:v> 13:31:00</c:v>
                </c:pt>
                <c:pt idx="7">
                  <c:v> 13:32:00</c:v>
                </c:pt>
                <c:pt idx="8">
                  <c:v> 13:33:00</c:v>
                </c:pt>
                <c:pt idx="9">
                  <c:v> 13:34:00</c:v>
                </c:pt>
                <c:pt idx="10">
                  <c:v> 13:35:00</c:v>
                </c:pt>
                <c:pt idx="11">
                  <c:v> 13:36:00</c:v>
                </c:pt>
                <c:pt idx="12">
                  <c:v> 13:37:00</c:v>
                </c:pt>
                <c:pt idx="13">
                  <c:v> 13:38:00</c:v>
                </c:pt>
                <c:pt idx="14">
                  <c:v> 13:39:00</c:v>
                </c:pt>
                <c:pt idx="15">
                  <c:v> 13:40:00</c:v>
                </c:pt>
                <c:pt idx="16">
                  <c:v> 13:41:00</c:v>
                </c:pt>
                <c:pt idx="17">
                  <c:v> 13:42:00</c:v>
                </c:pt>
                <c:pt idx="18">
                  <c:v> 13:43:00</c:v>
                </c:pt>
                <c:pt idx="19">
                  <c:v> 13:44:00</c:v>
                </c:pt>
                <c:pt idx="20">
                  <c:v> 13:45:00</c:v>
                </c:pt>
                <c:pt idx="21">
                  <c:v> 13:46:00</c:v>
                </c:pt>
                <c:pt idx="22">
                  <c:v> 13:47:00</c:v>
                </c:pt>
                <c:pt idx="23">
                  <c:v> 13:48:00</c:v>
                </c:pt>
                <c:pt idx="24">
                  <c:v> 13:49:00</c:v>
                </c:pt>
                <c:pt idx="25">
                  <c:v> 13:50:00</c:v>
                </c:pt>
                <c:pt idx="26">
                  <c:v> 13:51:00</c:v>
                </c:pt>
                <c:pt idx="27">
                  <c:v> 13:52:00</c:v>
                </c:pt>
                <c:pt idx="28">
                  <c:v> 13:53:00</c:v>
                </c:pt>
                <c:pt idx="29">
                  <c:v> 13:54:00</c:v>
                </c:pt>
                <c:pt idx="30">
                  <c:v> 13:55:00</c:v>
                </c:pt>
                <c:pt idx="31">
                  <c:v> 13:56:00</c:v>
                </c:pt>
                <c:pt idx="32">
                  <c:v> 13:57:00</c:v>
                </c:pt>
                <c:pt idx="33">
                  <c:v> 13:58:00</c:v>
                </c:pt>
                <c:pt idx="34">
                  <c:v> 13:59:00</c:v>
                </c:pt>
                <c:pt idx="35">
                  <c:v> 14:00:00</c:v>
                </c:pt>
                <c:pt idx="36">
                  <c:v> 14:01:00</c:v>
                </c:pt>
                <c:pt idx="37">
                  <c:v> 14:02:00</c:v>
                </c:pt>
                <c:pt idx="38">
                  <c:v> 14:03:00</c:v>
                </c:pt>
                <c:pt idx="39">
                  <c:v> 14:04:00</c:v>
                </c:pt>
                <c:pt idx="40">
                  <c:v> 14:05:00</c:v>
                </c:pt>
                <c:pt idx="41">
                  <c:v> 14:06:00</c:v>
                </c:pt>
                <c:pt idx="42">
                  <c:v> 14:07:00</c:v>
                </c:pt>
                <c:pt idx="43">
                  <c:v> 14:08:00</c:v>
                </c:pt>
                <c:pt idx="44">
                  <c:v> 14:09:00</c:v>
                </c:pt>
                <c:pt idx="45">
                  <c:v> 14:10:00</c:v>
                </c:pt>
                <c:pt idx="46">
                  <c:v> 14:11:00</c:v>
                </c:pt>
                <c:pt idx="47">
                  <c:v> 14:12:00</c:v>
                </c:pt>
                <c:pt idx="48">
                  <c:v> 14:13:00</c:v>
                </c:pt>
                <c:pt idx="49">
                  <c:v> 14:14:00</c:v>
                </c:pt>
                <c:pt idx="50">
                  <c:v> 14:15:00</c:v>
                </c:pt>
                <c:pt idx="51">
                  <c:v> 14:16:00</c:v>
                </c:pt>
                <c:pt idx="52">
                  <c:v> 14:17:00</c:v>
                </c:pt>
                <c:pt idx="53">
                  <c:v> 14:18:00</c:v>
                </c:pt>
                <c:pt idx="54">
                  <c:v> 14:19:00</c:v>
                </c:pt>
                <c:pt idx="55">
                  <c:v> 14:20:00</c:v>
                </c:pt>
                <c:pt idx="56">
                  <c:v> 14:21:00</c:v>
                </c:pt>
                <c:pt idx="57">
                  <c:v> 14:22:00</c:v>
                </c:pt>
                <c:pt idx="58">
                  <c:v> 14:23:00</c:v>
                </c:pt>
                <c:pt idx="59">
                  <c:v> 14:24:00</c:v>
                </c:pt>
                <c:pt idx="60">
                  <c:v> 14:25:00</c:v>
                </c:pt>
                <c:pt idx="61">
                  <c:v> 14:26:00</c:v>
                </c:pt>
                <c:pt idx="62">
                  <c:v> 14:27:00</c:v>
                </c:pt>
                <c:pt idx="63">
                  <c:v> 14:28:00</c:v>
                </c:pt>
                <c:pt idx="64">
                  <c:v> 14:29:00</c:v>
                </c:pt>
                <c:pt idx="65">
                  <c:v> 14:30:00</c:v>
                </c:pt>
                <c:pt idx="66">
                  <c:v> 14:31:00</c:v>
                </c:pt>
                <c:pt idx="67">
                  <c:v> 14:32:00</c:v>
                </c:pt>
                <c:pt idx="68">
                  <c:v> 14:33:00</c:v>
                </c:pt>
                <c:pt idx="69">
                  <c:v> 14:34:00</c:v>
                </c:pt>
                <c:pt idx="70">
                  <c:v> 14:35:00</c:v>
                </c:pt>
                <c:pt idx="71">
                  <c:v> 14:36:00</c:v>
                </c:pt>
                <c:pt idx="72">
                  <c:v> 14:37:00</c:v>
                </c:pt>
                <c:pt idx="73">
                  <c:v> 14:38:00</c:v>
                </c:pt>
                <c:pt idx="74">
                  <c:v> 14:39:00</c:v>
                </c:pt>
                <c:pt idx="75">
                  <c:v> 14:40:00</c:v>
                </c:pt>
                <c:pt idx="76">
                  <c:v> 14:41:00</c:v>
                </c:pt>
                <c:pt idx="77">
                  <c:v> 14:42:00</c:v>
                </c:pt>
                <c:pt idx="78">
                  <c:v> 14:43:00</c:v>
                </c:pt>
                <c:pt idx="79">
                  <c:v> 14:44:00</c:v>
                </c:pt>
                <c:pt idx="80">
                  <c:v> 14:45:00</c:v>
                </c:pt>
                <c:pt idx="81">
                  <c:v> 14:46:00</c:v>
                </c:pt>
                <c:pt idx="82">
                  <c:v> 14:47:00</c:v>
                </c:pt>
                <c:pt idx="83">
                  <c:v> 14:48:00</c:v>
                </c:pt>
                <c:pt idx="84">
                  <c:v> 14:49:00</c:v>
                </c:pt>
                <c:pt idx="85">
                  <c:v> 14:50:00</c:v>
                </c:pt>
                <c:pt idx="86">
                  <c:v> 14:51:00</c:v>
                </c:pt>
                <c:pt idx="87">
                  <c:v> 14:52:00</c:v>
                </c:pt>
                <c:pt idx="88">
                  <c:v> 14:53:00</c:v>
                </c:pt>
                <c:pt idx="89">
                  <c:v> 14:54:00</c:v>
                </c:pt>
                <c:pt idx="90">
                  <c:v> 14:55:00</c:v>
                </c:pt>
                <c:pt idx="91">
                  <c:v> 14:56:00</c:v>
                </c:pt>
                <c:pt idx="92">
                  <c:v> 14:57:00</c:v>
                </c:pt>
                <c:pt idx="93">
                  <c:v> 14:58:00</c:v>
                </c:pt>
                <c:pt idx="94">
                  <c:v> 14:59:00</c:v>
                </c:pt>
                <c:pt idx="95">
                  <c:v> 15:00:00</c:v>
                </c:pt>
              </c:strCache>
            </c:strRef>
          </c:cat>
          <c:val>
            <c:numRef>
              <c:f>SummaryVolumesByHost!$E$3:$E$98</c:f>
              <c:numCache>
                <c:formatCode>General</c:formatCode>
                <c:ptCount val="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581</c:v>
                </c:pt>
                <c:pt idx="10">
                  <c:v>2</c:v>
                </c:pt>
                <c:pt idx="11">
                  <c:v>3</c:v>
                </c:pt>
                <c:pt idx="12">
                  <c:v>557</c:v>
                </c:pt>
                <c:pt idx="13">
                  <c:v>789</c:v>
                </c:pt>
                <c:pt idx="14">
                  <c:v>690</c:v>
                </c:pt>
                <c:pt idx="15">
                  <c:v>950</c:v>
                </c:pt>
                <c:pt idx="16">
                  <c:v>803</c:v>
                </c:pt>
                <c:pt idx="17">
                  <c:v>729</c:v>
                </c:pt>
                <c:pt idx="18">
                  <c:v>1207</c:v>
                </c:pt>
                <c:pt idx="19">
                  <c:v>1302</c:v>
                </c:pt>
                <c:pt idx="20">
                  <c:v>1084</c:v>
                </c:pt>
                <c:pt idx="21">
                  <c:v>1462</c:v>
                </c:pt>
                <c:pt idx="22">
                  <c:v>2089</c:v>
                </c:pt>
                <c:pt idx="23">
                  <c:v>2255</c:v>
                </c:pt>
                <c:pt idx="24">
                  <c:v>1723</c:v>
                </c:pt>
                <c:pt idx="25">
                  <c:v>2494</c:v>
                </c:pt>
                <c:pt idx="26">
                  <c:v>2326</c:v>
                </c:pt>
                <c:pt idx="27">
                  <c:v>2772</c:v>
                </c:pt>
                <c:pt idx="28">
                  <c:v>2290</c:v>
                </c:pt>
                <c:pt idx="29">
                  <c:v>2291</c:v>
                </c:pt>
                <c:pt idx="30">
                  <c:v>3163</c:v>
                </c:pt>
                <c:pt idx="31">
                  <c:v>2880</c:v>
                </c:pt>
                <c:pt idx="32">
                  <c:v>2956</c:v>
                </c:pt>
                <c:pt idx="33">
                  <c:v>3076</c:v>
                </c:pt>
                <c:pt idx="34">
                  <c:v>3183</c:v>
                </c:pt>
                <c:pt idx="35">
                  <c:v>3443</c:v>
                </c:pt>
                <c:pt idx="36">
                  <c:v>3075</c:v>
                </c:pt>
                <c:pt idx="37">
                  <c:v>2695</c:v>
                </c:pt>
                <c:pt idx="38">
                  <c:v>3920</c:v>
                </c:pt>
                <c:pt idx="39">
                  <c:v>4537</c:v>
                </c:pt>
                <c:pt idx="40">
                  <c:v>3030</c:v>
                </c:pt>
                <c:pt idx="41">
                  <c:v>2189</c:v>
                </c:pt>
                <c:pt idx="42">
                  <c:v>3327</c:v>
                </c:pt>
                <c:pt idx="43">
                  <c:v>3070</c:v>
                </c:pt>
                <c:pt idx="44">
                  <c:v>2306</c:v>
                </c:pt>
                <c:pt idx="45">
                  <c:v>2382</c:v>
                </c:pt>
                <c:pt idx="46">
                  <c:v>2321</c:v>
                </c:pt>
                <c:pt idx="47">
                  <c:v>3246</c:v>
                </c:pt>
                <c:pt idx="48">
                  <c:v>3424</c:v>
                </c:pt>
                <c:pt idx="49">
                  <c:v>3137</c:v>
                </c:pt>
                <c:pt idx="50">
                  <c:v>3739</c:v>
                </c:pt>
                <c:pt idx="51">
                  <c:v>3056</c:v>
                </c:pt>
                <c:pt idx="52">
                  <c:v>3581</c:v>
                </c:pt>
                <c:pt idx="53">
                  <c:v>3191</c:v>
                </c:pt>
                <c:pt idx="54">
                  <c:v>4244</c:v>
                </c:pt>
                <c:pt idx="55">
                  <c:v>3162</c:v>
                </c:pt>
                <c:pt idx="56">
                  <c:v>2809</c:v>
                </c:pt>
                <c:pt idx="57">
                  <c:v>3170</c:v>
                </c:pt>
                <c:pt idx="58">
                  <c:v>4473</c:v>
                </c:pt>
                <c:pt idx="59">
                  <c:v>4337</c:v>
                </c:pt>
                <c:pt idx="60">
                  <c:v>3886</c:v>
                </c:pt>
                <c:pt idx="61">
                  <c:v>3632</c:v>
                </c:pt>
                <c:pt idx="62">
                  <c:v>4227</c:v>
                </c:pt>
                <c:pt idx="63">
                  <c:v>2730</c:v>
                </c:pt>
                <c:pt idx="64">
                  <c:v>3618</c:v>
                </c:pt>
                <c:pt idx="65">
                  <c:v>3596</c:v>
                </c:pt>
                <c:pt idx="66">
                  <c:v>2656</c:v>
                </c:pt>
                <c:pt idx="67">
                  <c:v>3738</c:v>
                </c:pt>
                <c:pt idx="68">
                  <c:v>4052</c:v>
                </c:pt>
                <c:pt idx="69">
                  <c:v>4355</c:v>
                </c:pt>
                <c:pt idx="70">
                  <c:v>4659</c:v>
                </c:pt>
                <c:pt idx="71">
                  <c:v>3975</c:v>
                </c:pt>
                <c:pt idx="72">
                  <c:v>3871</c:v>
                </c:pt>
                <c:pt idx="73">
                  <c:v>3302</c:v>
                </c:pt>
                <c:pt idx="74">
                  <c:v>3971</c:v>
                </c:pt>
                <c:pt idx="75">
                  <c:v>3653</c:v>
                </c:pt>
                <c:pt idx="76">
                  <c:v>3818</c:v>
                </c:pt>
                <c:pt idx="77">
                  <c:v>3016</c:v>
                </c:pt>
                <c:pt idx="78">
                  <c:v>3171</c:v>
                </c:pt>
                <c:pt idx="79">
                  <c:v>4277</c:v>
                </c:pt>
                <c:pt idx="80">
                  <c:v>3290</c:v>
                </c:pt>
                <c:pt idx="81">
                  <c:v>3483</c:v>
                </c:pt>
                <c:pt idx="82">
                  <c:v>3921</c:v>
                </c:pt>
                <c:pt idx="83">
                  <c:v>3023</c:v>
                </c:pt>
                <c:pt idx="84">
                  <c:v>3954</c:v>
                </c:pt>
                <c:pt idx="85">
                  <c:v>1480</c:v>
                </c:pt>
                <c:pt idx="86">
                  <c:v>4</c:v>
                </c:pt>
                <c:pt idx="87">
                  <c:v>3</c:v>
                </c:pt>
                <c:pt idx="88">
                  <c:v>3</c:v>
                </c:pt>
                <c:pt idx="89">
                  <c:v>3</c:v>
                </c:pt>
                <c:pt idx="90">
                  <c:v>6</c:v>
                </c:pt>
                <c:pt idx="91">
                  <c:v>3</c:v>
                </c:pt>
                <c:pt idx="92">
                  <c:v>6</c:v>
                </c:pt>
                <c:pt idx="93">
                  <c:v>4</c:v>
                </c:pt>
                <c:pt idx="94">
                  <c:v>3</c:v>
                </c:pt>
                <c:pt idx="95">
                  <c:v>3</c:v>
                </c:pt>
              </c:numCache>
            </c:numRef>
          </c:val>
        </c:ser>
        <c:ser>
          <c:idx val="1"/>
          <c:order val="1"/>
          <c:tx>
            <c:strRef>
              <c:f>SummaryVolumesByHost!$F$2</c:f>
              <c:strCache>
                <c:ptCount val="1"/>
                <c:pt idx="0">
                  <c:v> MaxClust1</c:v>
                </c:pt>
              </c:strCache>
            </c:strRef>
          </c:tx>
          <c:invertIfNegative val="0"/>
          <c:cat>
            <c:strRef>
              <c:f>SummaryVolumesByHost!$D$3:$D$98</c:f>
              <c:strCache>
                <c:ptCount val="96"/>
                <c:pt idx="0">
                  <c:v> 13:25:00</c:v>
                </c:pt>
                <c:pt idx="1">
                  <c:v> 13:26:00</c:v>
                </c:pt>
                <c:pt idx="2">
                  <c:v> 13:27:00</c:v>
                </c:pt>
                <c:pt idx="3">
                  <c:v> 13:28:00</c:v>
                </c:pt>
                <c:pt idx="4">
                  <c:v> 13:29:00</c:v>
                </c:pt>
                <c:pt idx="5">
                  <c:v> 13:30:00</c:v>
                </c:pt>
                <c:pt idx="6">
                  <c:v> 13:31:00</c:v>
                </c:pt>
                <c:pt idx="7">
                  <c:v> 13:32:00</c:v>
                </c:pt>
                <c:pt idx="8">
                  <c:v> 13:33:00</c:v>
                </c:pt>
                <c:pt idx="9">
                  <c:v> 13:34:00</c:v>
                </c:pt>
                <c:pt idx="10">
                  <c:v> 13:35:00</c:v>
                </c:pt>
                <c:pt idx="11">
                  <c:v> 13:36:00</c:v>
                </c:pt>
                <c:pt idx="12">
                  <c:v> 13:37:00</c:v>
                </c:pt>
                <c:pt idx="13">
                  <c:v> 13:38:00</c:v>
                </c:pt>
                <c:pt idx="14">
                  <c:v> 13:39:00</c:v>
                </c:pt>
                <c:pt idx="15">
                  <c:v> 13:40:00</c:v>
                </c:pt>
                <c:pt idx="16">
                  <c:v> 13:41:00</c:v>
                </c:pt>
                <c:pt idx="17">
                  <c:v> 13:42:00</c:v>
                </c:pt>
                <c:pt idx="18">
                  <c:v> 13:43:00</c:v>
                </c:pt>
                <c:pt idx="19">
                  <c:v> 13:44:00</c:v>
                </c:pt>
                <c:pt idx="20">
                  <c:v> 13:45:00</c:v>
                </c:pt>
                <c:pt idx="21">
                  <c:v> 13:46:00</c:v>
                </c:pt>
                <c:pt idx="22">
                  <c:v> 13:47:00</c:v>
                </c:pt>
                <c:pt idx="23">
                  <c:v> 13:48:00</c:v>
                </c:pt>
                <c:pt idx="24">
                  <c:v> 13:49:00</c:v>
                </c:pt>
                <c:pt idx="25">
                  <c:v> 13:50:00</c:v>
                </c:pt>
                <c:pt idx="26">
                  <c:v> 13:51:00</c:v>
                </c:pt>
                <c:pt idx="27">
                  <c:v> 13:52:00</c:v>
                </c:pt>
                <c:pt idx="28">
                  <c:v> 13:53:00</c:v>
                </c:pt>
                <c:pt idx="29">
                  <c:v> 13:54:00</c:v>
                </c:pt>
                <c:pt idx="30">
                  <c:v> 13:55:00</c:v>
                </c:pt>
                <c:pt idx="31">
                  <c:v> 13:56:00</c:v>
                </c:pt>
                <c:pt idx="32">
                  <c:v> 13:57:00</c:v>
                </c:pt>
                <c:pt idx="33">
                  <c:v> 13:58:00</c:v>
                </c:pt>
                <c:pt idx="34">
                  <c:v> 13:59:00</c:v>
                </c:pt>
                <c:pt idx="35">
                  <c:v> 14:00:00</c:v>
                </c:pt>
                <c:pt idx="36">
                  <c:v> 14:01:00</c:v>
                </c:pt>
                <c:pt idx="37">
                  <c:v> 14:02:00</c:v>
                </c:pt>
                <c:pt idx="38">
                  <c:v> 14:03:00</c:v>
                </c:pt>
                <c:pt idx="39">
                  <c:v> 14:04:00</c:v>
                </c:pt>
                <c:pt idx="40">
                  <c:v> 14:05:00</c:v>
                </c:pt>
                <c:pt idx="41">
                  <c:v> 14:06:00</c:v>
                </c:pt>
                <c:pt idx="42">
                  <c:v> 14:07:00</c:v>
                </c:pt>
                <c:pt idx="43">
                  <c:v> 14:08:00</c:v>
                </c:pt>
                <c:pt idx="44">
                  <c:v> 14:09:00</c:v>
                </c:pt>
                <c:pt idx="45">
                  <c:v> 14:10:00</c:v>
                </c:pt>
                <c:pt idx="46">
                  <c:v> 14:11:00</c:v>
                </c:pt>
                <c:pt idx="47">
                  <c:v> 14:12:00</c:v>
                </c:pt>
                <c:pt idx="48">
                  <c:v> 14:13:00</c:v>
                </c:pt>
                <c:pt idx="49">
                  <c:v> 14:14:00</c:v>
                </c:pt>
                <c:pt idx="50">
                  <c:v> 14:15:00</c:v>
                </c:pt>
                <c:pt idx="51">
                  <c:v> 14:16:00</c:v>
                </c:pt>
                <c:pt idx="52">
                  <c:v> 14:17:00</c:v>
                </c:pt>
                <c:pt idx="53">
                  <c:v> 14:18:00</c:v>
                </c:pt>
                <c:pt idx="54">
                  <c:v> 14:19:00</c:v>
                </c:pt>
                <c:pt idx="55">
                  <c:v> 14:20:00</c:v>
                </c:pt>
                <c:pt idx="56">
                  <c:v> 14:21:00</c:v>
                </c:pt>
                <c:pt idx="57">
                  <c:v> 14:22:00</c:v>
                </c:pt>
                <c:pt idx="58">
                  <c:v> 14:23:00</c:v>
                </c:pt>
                <c:pt idx="59">
                  <c:v> 14:24:00</c:v>
                </c:pt>
                <c:pt idx="60">
                  <c:v> 14:25:00</c:v>
                </c:pt>
                <c:pt idx="61">
                  <c:v> 14:26:00</c:v>
                </c:pt>
                <c:pt idx="62">
                  <c:v> 14:27:00</c:v>
                </c:pt>
                <c:pt idx="63">
                  <c:v> 14:28:00</c:v>
                </c:pt>
                <c:pt idx="64">
                  <c:v> 14:29:00</c:v>
                </c:pt>
                <c:pt idx="65">
                  <c:v> 14:30:00</c:v>
                </c:pt>
                <c:pt idx="66">
                  <c:v> 14:31:00</c:v>
                </c:pt>
                <c:pt idx="67">
                  <c:v> 14:32:00</c:v>
                </c:pt>
                <c:pt idx="68">
                  <c:v> 14:33:00</c:v>
                </c:pt>
                <c:pt idx="69">
                  <c:v> 14:34:00</c:v>
                </c:pt>
                <c:pt idx="70">
                  <c:v> 14:35:00</c:v>
                </c:pt>
                <c:pt idx="71">
                  <c:v> 14:36:00</c:v>
                </c:pt>
                <c:pt idx="72">
                  <c:v> 14:37:00</c:v>
                </c:pt>
                <c:pt idx="73">
                  <c:v> 14:38:00</c:v>
                </c:pt>
                <c:pt idx="74">
                  <c:v> 14:39:00</c:v>
                </c:pt>
                <c:pt idx="75">
                  <c:v> 14:40:00</c:v>
                </c:pt>
                <c:pt idx="76">
                  <c:v> 14:41:00</c:v>
                </c:pt>
                <c:pt idx="77">
                  <c:v> 14:42:00</c:v>
                </c:pt>
                <c:pt idx="78">
                  <c:v> 14:43:00</c:v>
                </c:pt>
                <c:pt idx="79">
                  <c:v> 14:44:00</c:v>
                </c:pt>
                <c:pt idx="80">
                  <c:v> 14:45:00</c:v>
                </c:pt>
                <c:pt idx="81">
                  <c:v> 14:46:00</c:v>
                </c:pt>
                <c:pt idx="82">
                  <c:v> 14:47:00</c:v>
                </c:pt>
                <c:pt idx="83">
                  <c:v> 14:48:00</c:v>
                </c:pt>
                <c:pt idx="84">
                  <c:v> 14:49:00</c:v>
                </c:pt>
                <c:pt idx="85">
                  <c:v> 14:50:00</c:v>
                </c:pt>
                <c:pt idx="86">
                  <c:v> 14:51:00</c:v>
                </c:pt>
                <c:pt idx="87">
                  <c:v> 14:52:00</c:v>
                </c:pt>
                <c:pt idx="88">
                  <c:v> 14:53:00</c:v>
                </c:pt>
                <c:pt idx="89">
                  <c:v> 14:54:00</c:v>
                </c:pt>
                <c:pt idx="90">
                  <c:v> 14:55:00</c:v>
                </c:pt>
                <c:pt idx="91">
                  <c:v> 14:56:00</c:v>
                </c:pt>
                <c:pt idx="92">
                  <c:v> 14:57:00</c:v>
                </c:pt>
                <c:pt idx="93">
                  <c:v> 14:58:00</c:v>
                </c:pt>
                <c:pt idx="94">
                  <c:v> 14:59:00</c:v>
                </c:pt>
                <c:pt idx="95">
                  <c:v> 15:00:00</c:v>
                </c:pt>
              </c:strCache>
            </c:strRef>
          </c:cat>
          <c:val>
            <c:numRef>
              <c:f>SummaryVolumesByHost!$F$3:$F$98</c:f>
              <c:numCache>
                <c:formatCode>General</c:formatCode>
                <c:ptCount val="96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3</c:v>
                </c:pt>
                <c:pt idx="6">
                  <c:v>3</c:v>
                </c:pt>
                <c:pt idx="7">
                  <c:v>2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  <c:pt idx="11">
                  <c:v>4</c:v>
                </c:pt>
                <c:pt idx="12">
                  <c:v>247</c:v>
                </c:pt>
                <c:pt idx="13">
                  <c:v>511</c:v>
                </c:pt>
                <c:pt idx="14">
                  <c:v>575</c:v>
                </c:pt>
                <c:pt idx="15">
                  <c:v>452</c:v>
                </c:pt>
                <c:pt idx="16">
                  <c:v>625</c:v>
                </c:pt>
                <c:pt idx="17">
                  <c:v>941</c:v>
                </c:pt>
                <c:pt idx="18">
                  <c:v>858</c:v>
                </c:pt>
                <c:pt idx="19">
                  <c:v>1123</c:v>
                </c:pt>
                <c:pt idx="20">
                  <c:v>1881</c:v>
                </c:pt>
                <c:pt idx="21">
                  <c:v>2173</c:v>
                </c:pt>
                <c:pt idx="22">
                  <c:v>2108</c:v>
                </c:pt>
                <c:pt idx="23">
                  <c:v>2293</c:v>
                </c:pt>
                <c:pt idx="24">
                  <c:v>2989</c:v>
                </c:pt>
                <c:pt idx="25">
                  <c:v>3010</c:v>
                </c:pt>
                <c:pt idx="26">
                  <c:v>3403</c:v>
                </c:pt>
                <c:pt idx="27">
                  <c:v>3509</c:v>
                </c:pt>
                <c:pt idx="28">
                  <c:v>4360</c:v>
                </c:pt>
                <c:pt idx="29">
                  <c:v>3424</c:v>
                </c:pt>
                <c:pt idx="30">
                  <c:v>3182</c:v>
                </c:pt>
                <c:pt idx="31">
                  <c:v>3466</c:v>
                </c:pt>
                <c:pt idx="32">
                  <c:v>3503</c:v>
                </c:pt>
                <c:pt idx="33">
                  <c:v>3099</c:v>
                </c:pt>
                <c:pt idx="34">
                  <c:v>2552</c:v>
                </c:pt>
                <c:pt idx="35">
                  <c:v>3274</c:v>
                </c:pt>
                <c:pt idx="36">
                  <c:v>3311</c:v>
                </c:pt>
                <c:pt idx="37">
                  <c:v>4412</c:v>
                </c:pt>
                <c:pt idx="38">
                  <c:v>2980</c:v>
                </c:pt>
                <c:pt idx="39">
                  <c:v>2274</c:v>
                </c:pt>
                <c:pt idx="40">
                  <c:v>3411</c:v>
                </c:pt>
                <c:pt idx="41">
                  <c:v>3734</c:v>
                </c:pt>
                <c:pt idx="42">
                  <c:v>2950</c:v>
                </c:pt>
                <c:pt idx="43">
                  <c:v>3104</c:v>
                </c:pt>
                <c:pt idx="44">
                  <c:v>3368</c:v>
                </c:pt>
                <c:pt idx="45">
                  <c:v>4694</c:v>
                </c:pt>
                <c:pt idx="46">
                  <c:v>4430</c:v>
                </c:pt>
                <c:pt idx="47">
                  <c:v>4053</c:v>
                </c:pt>
                <c:pt idx="48">
                  <c:v>3251</c:v>
                </c:pt>
                <c:pt idx="49">
                  <c:v>3861</c:v>
                </c:pt>
                <c:pt idx="50">
                  <c:v>3478</c:v>
                </c:pt>
                <c:pt idx="51">
                  <c:v>3369</c:v>
                </c:pt>
                <c:pt idx="52">
                  <c:v>3468</c:v>
                </c:pt>
                <c:pt idx="53">
                  <c:v>4461</c:v>
                </c:pt>
                <c:pt idx="54">
                  <c:v>3478</c:v>
                </c:pt>
                <c:pt idx="55">
                  <c:v>3954</c:v>
                </c:pt>
                <c:pt idx="56">
                  <c:v>3994</c:v>
                </c:pt>
                <c:pt idx="57">
                  <c:v>3669</c:v>
                </c:pt>
                <c:pt idx="58">
                  <c:v>3093</c:v>
                </c:pt>
                <c:pt idx="59">
                  <c:v>2837</c:v>
                </c:pt>
                <c:pt idx="60">
                  <c:v>3233</c:v>
                </c:pt>
                <c:pt idx="61">
                  <c:v>2936</c:v>
                </c:pt>
                <c:pt idx="62">
                  <c:v>2659</c:v>
                </c:pt>
                <c:pt idx="63">
                  <c:v>4514</c:v>
                </c:pt>
                <c:pt idx="64">
                  <c:v>3662</c:v>
                </c:pt>
                <c:pt idx="65">
                  <c:v>3473</c:v>
                </c:pt>
                <c:pt idx="66">
                  <c:v>4349</c:v>
                </c:pt>
                <c:pt idx="67">
                  <c:v>3734</c:v>
                </c:pt>
                <c:pt idx="68">
                  <c:v>3110</c:v>
                </c:pt>
                <c:pt idx="69">
                  <c:v>2801</c:v>
                </c:pt>
                <c:pt idx="70">
                  <c:v>2714</c:v>
                </c:pt>
                <c:pt idx="71">
                  <c:v>3356</c:v>
                </c:pt>
                <c:pt idx="72">
                  <c:v>3171</c:v>
                </c:pt>
                <c:pt idx="73">
                  <c:v>3748</c:v>
                </c:pt>
                <c:pt idx="74">
                  <c:v>3316</c:v>
                </c:pt>
                <c:pt idx="75">
                  <c:v>3605</c:v>
                </c:pt>
                <c:pt idx="76">
                  <c:v>3427</c:v>
                </c:pt>
                <c:pt idx="77">
                  <c:v>3672</c:v>
                </c:pt>
                <c:pt idx="78">
                  <c:v>3596</c:v>
                </c:pt>
                <c:pt idx="79">
                  <c:v>2564</c:v>
                </c:pt>
                <c:pt idx="80">
                  <c:v>3430</c:v>
                </c:pt>
                <c:pt idx="81">
                  <c:v>4140</c:v>
                </c:pt>
                <c:pt idx="82">
                  <c:v>3590</c:v>
                </c:pt>
                <c:pt idx="83">
                  <c:v>4258</c:v>
                </c:pt>
                <c:pt idx="84">
                  <c:v>3371</c:v>
                </c:pt>
                <c:pt idx="85">
                  <c:v>1470</c:v>
                </c:pt>
                <c:pt idx="86">
                  <c:v>6</c:v>
                </c:pt>
                <c:pt idx="87">
                  <c:v>4</c:v>
                </c:pt>
                <c:pt idx="88">
                  <c:v>3</c:v>
                </c:pt>
                <c:pt idx="89">
                  <c:v>4</c:v>
                </c:pt>
                <c:pt idx="90">
                  <c:v>4</c:v>
                </c:pt>
                <c:pt idx="91">
                  <c:v>4</c:v>
                </c:pt>
                <c:pt idx="92">
                  <c:v>4</c:v>
                </c:pt>
                <c:pt idx="93">
                  <c:v>7</c:v>
                </c:pt>
                <c:pt idx="94">
                  <c:v>4</c:v>
                </c:pt>
                <c:pt idx="95">
                  <c:v>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7036032"/>
        <c:axId val="34066368"/>
      </c:barChart>
      <c:catAx>
        <c:axId val="37036032"/>
        <c:scaling>
          <c:orientation val="minMax"/>
        </c:scaling>
        <c:delete val="0"/>
        <c:axPos val="b"/>
        <c:majorTickMark val="none"/>
        <c:minorTickMark val="none"/>
        <c:tickLblPos val="nextTo"/>
        <c:crossAx val="34066368"/>
        <c:crosses val="autoZero"/>
        <c:auto val="1"/>
        <c:lblAlgn val="ctr"/>
        <c:lblOffset val="100"/>
        <c:noMultiLvlLbl val="0"/>
      </c:catAx>
      <c:valAx>
        <c:axId val="34066368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App level transactions</a:t>
                </a:r>
              </a:p>
            </c:rich>
          </c:tx>
          <c:layout>
            <c:manualLayout>
              <c:xMode val="edge"/>
              <c:yMode val="edge"/>
              <c:x val="1.5765765765765764E-2"/>
              <c:y val="0.25254811898512686"/>
            </c:manualLayout>
          </c:layout>
          <c:overlay val="0"/>
        </c:title>
        <c:numFmt formatCode="0%" sourceLinked="1"/>
        <c:majorTickMark val="none"/>
        <c:minorTickMark val="none"/>
        <c:tickLblPos val="nextTo"/>
        <c:crossAx val="37036032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62130612896360926"/>
          <c:y val="1.1132254301545639E-2"/>
          <c:w val="0.33811839398453575"/>
          <c:h val="0.16743438320209975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200"/>
      </a:pPr>
      <a:endParaRPr lang="en-US"/>
    </a:p>
  </c:txPr>
  <c:externalData r:id="rId2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[UsersConnected_60UserTest_03Apr14_1335_Xls.xlsx]Sheet1!PivotTable2</c:name>
    <c:fmtId val="-1"/>
  </c:pivotSource>
  <c:chart>
    <c:title>
      <c:tx>
        <c:rich>
          <a:bodyPr/>
          <a:lstStyle/>
          <a:p>
            <a:pPr>
              <a:defRPr/>
            </a:pPr>
            <a:r>
              <a:rPr lang="en-US"/>
              <a:t>Users</a:t>
            </a:r>
            <a:r>
              <a:rPr lang="en-US" baseline="0"/>
              <a:t> Connected</a:t>
            </a:r>
            <a:endParaRPr lang="en-US"/>
          </a:p>
        </c:rich>
      </c:tx>
      <c:layout>
        <c:manualLayout>
          <c:xMode val="edge"/>
          <c:yMode val="edge"/>
          <c:x val="0.35565722684663026"/>
          <c:y val="3.138670166229221E-2"/>
        </c:manualLayout>
      </c:layout>
      <c:overlay val="0"/>
    </c:title>
    <c:autoTitleDeleted val="0"/>
    <c:pivotFmts>
      <c:pivotFmt>
        <c:idx val="0"/>
      </c:pivotFmt>
      <c:pivotFmt>
        <c:idx val="1"/>
      </c:pivotFmt>
      <c:pivotFmt>
        <c:idx val="2"/>
      </c:pivotFmt>
      <c:pivotFmt>
        <c:idx val="3"/>
      </c:pivotFmt>
      <c:pivotFmt>
        <c:idx val="4"/>
      </c:pivotFmt>
      <c:pivotFmt>
        <c:idx val="5"/>
      </c:pivotFmt>
    </c:pivotFmts>
    <c:plotArea>
      <c:layout>
        <c:manualLayout>
          <c:layoutTarget val="inner"/>
          <c:xMode val="edge"/>
          <c:yMode val="edge"/>
          <c:x val="9.2414118492137279E-2"/>
          <c:y val="0.15674577136191309"/>
          <c:w val="0.85254361069020301"/>
          <c:h val="0.5219754301545640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cat>
            <c:strRef>
              <c:f>Sheet1!$A$2:$A$176</c:f>
              <c:strCache>
                <c:ptCount val="174"/>
                <c:pt idx="0">
                  <c:v>13:23:17</c:v>
                </c:pt>
                <c:pt idx="1">
                  <c:v>13:24:17</c:v>
                </c:pt>
                <c:pt idx="2">
                  <c:v>13:25:17</c:v>
                </c:pt>
                <c:pt idx="3">
                  <c:v>13:26:17</c:v>
                </c:pt>
                <c:pt idx="4">
                  <c:v>13:27:17</c:v>
                </c:pt>
                <c:pt idx="5">
                  <c:v>13:28:17</c:v>
                </c:pt>
                <c:pt idx="6">
                  <c:v>13:29:17</c:v>
                </c:pt>
                <c:pt idx="7">
                  <c:v>13:30:17</c:v>
                </c:pt>
                <c:pt idx="8">
                  <c:v>13:31:17</c:v>
                </c:pt>
                <c:pt idx="9">
                  <c:v>13:32:17</c:v>
                </c:pt>
                <c:pt idx="10">
                  <c:v>13:33:17</c:v>
                </c:pt>
                <c:pt idx="11">
                  <c:v>13:34:17</c:v>
                </c:pt>
                <c:pt idx="12">
                  <c:v>13:35:17</c:v>
                </c:pt>
                <c:pt idx="13">
                  <c:v>13:36:17</c:v>
                </c:pt>
                <c:pt idx="14">
                  <c:v>13:36:33</c:v>
                </c:pt>
                <c:pt idx="15">
                  <c:v>13:37:17</c:v>
                </c:pt>
                <c:pt idx="16">
                  <c:v>13:37:33</c:v>
                </c:pt>
                <c:pt idx="17">
                  <c:v>13:38:17</c:v>
                </c:pt>
                <c:pt idx="18">
                  <c:v>13:38:33</c:v>
                </c:pt>
                <c:pt idx="19">
                  <c:v>13:39:17</c:v>
                </c:pt>
                <c:pt idx="20">
                  <c:v>13:39:33</c:v>
                </c:pt>
                <c:pt idx="21">
                  <c:v>13:40:17</c:v>
                </c:pt>
                <c:pt idx="22">
                  <c:v>13:40:33</c:v>
                </c:pt>
                <c:pt idx="23">
                  <c:v>13:41:17</c:v>
                </c:pt>
                <c:pt idx="24">
                  <c:v>13:41:33</c:v>
                </c:pt>
                <c:pt idx="25">
                  <c:v>13:42:17</c:v>
                </c:pt>
                <c:pt idx="26">
                  <c:v>13:42:33</c:v>
                </c:pt>
                <c:pt idx="27">
                  <c:v>13:43:17</c:v>
                </c:pt>
                <c:pt idx="28">
                  <c:v>13:43:33</c:v>
                </c:pt>
                <c:pt idx="29">
                  <c:v>13:44:17</c:v>
                </c:pt>
                <c:pt idx="30">
                  <c:v>13:44:33</c:v>
                </c:pt>
                <c:pt idx="31">
                  <c:v>13:45:17</c:v>
                </c:pt>
                <c:pt idx="32">
                  <c:v>13:45:33</c:v>
                </c:pt>
                <c:pt idx="33">
                  <c:v>13:46:17</c:v>
                </c:pt>
                <c:pt idx="34">
                  <c:v>13:46:33</c:v>
                </c:pt>
                <c:pt idx="35">
                  <c:v>13:47:17</c:v>
                </c:pt>
                <c:pt idx="36">
                  <c:v>13:47:33</c:v>
                </c:pt>
                <c:pt idx="37">
                  <c:v>13:48:17</c:v>
                </c:pt>
                <c:pt idx="38">
                  <c:v>13:48:33</c:v>
                </c:pt>
                <c:pt idx="39">
                  <c:v>13:49:17</c:v>
                </c:pt>
                <c:pt idx="40">
                  <c:v>13:49:33</c:v>
                </c:pt>
                <c:pt idx="41">
                  <c:v>13:50:17</c:v>
                </c:pt>
                <c:pt idx="42">
                  <c:v>13:50:33</c:v>
                </c:pt>
                <c:pt idx="43">
                  <c:v>13:51:17</c:v>
                </c:pt>
                <c:pt idx="44">
                  <c:v>13:51:33</c:v>
                </c:pt>
                <c:pt idx="45">
                  <c:v>13:52:17</c:v>
                </c:pt>
                <c:pt idx="46">
                  <c:v>13:52:33</c:v>
                </c:pt>
                <c:pt idx="47">
                  <c:v>13:53:17</c:v>
                </c:pt>
                <c:pt idx="48">
                  <c:v>13:53:33</c:v>
                </c:pt>
                <c:pt idx="49">
                  <c:v>13:54:17</c:v>
                </c:pt>
                <c:pt idx="50">
                  <c:v>13:54:34</c:v>
                </c:pt>
                <c:pt idx="51">
                  <c:v>13:55:17</c:v>
                </c:pt>
                <c:pt idx="52">
                  <c:v>13:55:34</c:v>
                </c:pt>
                <c:pt idx="53">
                  <c:v>13:56:17</c:v>
                </c:pt>
                <c:pt idx="54">
                  <c:v>13:56:34</c:v>
                </c:pt>
                <c:pt idx="55">
                  <c:v>13:57:17</c:v>
                </c:pt>
                <c:pt idx="56">
                  <c:v>13:57:34</c:v>
                </c:pt>
                <c:pt idx="57">
                  <c:v>13:58:17</c:v>
                </c:pt>
                <c:pt idx="58">
                  <c:v>13:58:34</c:v>
                </c:pt>
                <c:pt idx="59">
                  <c:v>13:59:17</c:v>
                </c:pt>
                <c:pt idx="60">
                  <c:v>13:59:34</c:v>
                </c:pt>
                <c:pt idx="61">
                  <c:v>14:00:17</c:v>
                </c:pt>
                <c:pt idx="62">
                  <c:v>14:00:34</c:v>
                </c:pt>
                <c:pt idx="63">
                  <c:v>14:01:17</c:v>
                </c:pt>
                <c:pt idx="64">
                  <c:v>14:01:18</c:v>
                </c:pt>
                <c:pt idx="65">
                  <c:v>14:01:34</c:v>
                </c:pt>
                <c:pt idx="66">
                  <c:v>14:02:17</c:v>
                </c:pt>
                <c:pt idx="67">
                  <c:v>14:02:18</c:v>
                </c:pt>
                <c:pt idx="68">
                  <c:v>14:02:34</c:v>
                </c:pt>
                <c:pt idx="69">
                  <c:v>14:03:17</c:v>
                </c:pt>
                <c:pt idx="70">
                  <c:v>14:03:18</c:v>
                </c:pt>
                <c:pt idx="71">
                  <c:v>14:03:34</c:v>
                </c:pt>
                <c:pt idx="72">
                  <c:v>14:04:17</c:v>
                </c:pt>
                <c:pt idx="73">
                  <c:v>14:04:18</c:v>
                </c:pt>
                <c:pt idx="74">
                  <c:v>14:04:34</c:v>
                </c:pt>
                <c:pt idx="75">
                  <c:v>14:05:17</c:v>
                </c:pt>
                <c:pt idx="76">
                  <c:v>14:05:18</c:v>
                </c:pt>
                <c:pt idx="77">
                  <c:v>14:05:34</c:v>
                </c:pt>
                <c:pt idx="78">
                  <c:v>14:06:18</c:v>
                </c:pt>
                <c:pt idx="79">
                  <c:v>14:06:34</c:v>
                </c:pt>
                <c:pt idx="80">
                  <c:v>14:07:18</c:v>
                </c:pt>
                <c:pt idx="81">
                  <c:v>14:07:34</c:v>
                </c:pt>
                <c:pt idx="82">
                  <c:v>14:08:18</c:v>
                </c:pt>
                <c:pt idx="83">
                  <c:v>14:08:34</c:v>
                </c:pt>
                <c:pt idx="84">
                  <c:v>14:09:18</c:v>
                </c:pt>
                <c:pt idx="85">
                  <c:v>14:09:34</c:v>
                </c:pt>
                <c:pt idx="86">
                  <c:v>14:10:18</c:v>
                </c:pt>
                <c:pt idx="87">
                  <c:v>14:10:34</c:v>
                </c:pt>
                <c:pt idx="88">
                  <c:v>14:11:18</c:v>
                </c:pt>
                <c:pt idx="89">
                  <c:v>14:11:34</c:v>
                </c:pt>
                <c:pt idx="90">
                  <c:v>14:12:18</c:v>
                </c:pt>
                <c:pt idx="91">
                  <c:v>14:12:34</c:v>
                </c:pt>
                <c:pt idx="92">
                  <c:v>14:13:18</c:v>
                </c:pt>
                <c:pt idx="93">
                  <c:v>14:13:34</c:v>
                </c:pt>
                <c:pt idx="94">
                  <c:v>14:14:18</c:v>
                </c:pt>
                <c:pt idx="95">
                  <c:v>14:14:34</c:v>
                </c:pt>
                <c:pt idx="96">
                  <c:v>14:15:18</c:v>
                </c:pt>
                <c:pt idx="97">
                  <c:v>14:15:34</c:v>
                </c:pt>
                <c:pt idx="98">
                  <c:v>14:16:18</c:v>
                </c:pt>
                <c:pt idx="99">
                  <c:v>14:16:34</c:v>
                </c:pt>
                <c:pt idx="100">
                  <c:v>14:17:18</c:v>
                </c:pt>
                <c:pt idx="101">
                  <c:v>14:17:34</c:v>
                </c:pt>
                <c:pt idx="102">
                  <c:v>14:18:18</c:v>
                </c:pt>
                <c:pt idx="103">
                  <c:v>14:18:34</c:v>
                </c:pt>
                <c:pt idx="104">
                  <c:v>14:19:18</c:v>
                </c:pt>
                <c:pt idx="105">
                  <c:v>14:19:35</c:v>
                </c:pt>
                <c:pt idx="106">
                  <c:v>14:20:18</c:v>
                </c:pt>
                <c:pt idx="107">
                  <c:v>14:20:35</c:v>
                </c:pt>
                <c:pt idx="108">
                  <c:v>14:21:18</c:v>
                </c:pt>
                <c:pt idx="109">
                  <c:v>14:21:35</c:v>
                </c:pt>
                <c:pt idx="110">
                  <c:v>14:22:18</c:v>
                </c:pt>
                <c:pt idx="111">
                  <c:v>14:22:35</c:v>
                </c:pt>
                <c:pt idx="112">
                  <c:v>14:23:18</c:v>
                </c:pt>
                <c:pt idx="113">
                  <c:v>14:23:35</c:v>
                </c:pt>
                <c:pt idx="114">
                  <c:v>14:24:19</c:v>
                </c:pt>
                <c:pt idx="115">
                  <c:v>14:24:35</c:v>
                </c:pt>
                <c:pt idx="116">
                  <c:v>14:25:19</c:v>
                </c:pt>
                <c:pt idx="117">
                  <c:v>14:25:35</c:v>
                </c:pt>
                <c:pt idx="118">
                  <c:v>14:26:19</c:v>
                </c:pt>
                <c:pt idx="119">
                  <c:v>14:26:35</c:v>
                </c:pt>
                <c:pt idx="120">
                  <c:v>14:27:19</c:v>
                </c:pt>
                <c:pt idx="121">
                  <c:v>14:27:35</c:v>
                </c:pt>
                <c:pt idx="122">
                  <c:v>14:28:19</c:v>
                </c:pt>
                <c:pt idx="123">
                  <c:v>14:28:35</c:v>
                </c:pt>
                <c:pt idx="124">
                  <c:v>14:29:19</c:v>
                </c:pt>
                <c:pt idx="125">
                  <c:v>14:29:35</c:v>
                </c:pt>
                <c:pt idx="126">
                  <c:v>14:30:19</c:v>
                </c:pt>
                <c:pt idx="127">
                  <c:v>14:30:35</c:v>
                </c:pt>
                <c:pt idx="128">
                  <c:v>14:31:19</c:v>
                </c:pt>
                <c:pt idx="129">
                  <c:v>14:31:35</c:v>
                </c:pt>
                <c:pt idx="130">
                  <c:v>14:32:19</c:v>
                </c:pt>
                <c:pt idx="131">
                  <c:v>14:32:35</c:v>
                </c:pt>
                <c:pt idx="132">
                  <c:v>14:33:19</c:v>
                </c:pt>
                <c:pt idx="133">
                  <c:v>14:33:35</c:v>
                </c:pt>
                <c:pt idx="134">
                  <c:v>14:34:19</c:v>
                </c:pt>
                <c:pt idx="135">
                  <c:v>14:34:35</c:v>
                </c:pt>
                <c:pt idx="136">
                  <c:v>14:35:19</c:v>
                </c:pt>
                <c:pt idx="137">
                  <c:v>14:35:35</c:v>
                </c:pt>
                <c:pt idx="138">
                  <c:v>14:36:19</c:v>
                </c:pt>
                <c:pt idx="139">
                  <c:v>14:36:35</c:v>
                </c:pt>
                <c:pt idx="140">
                  <c:v>14:37:19</c:v>
                </c:pt>
                <c:pt idx="141">
                  <c:v>14:37:35</c:v>
                </c:pt>
                <c:pt idx="142">
                  <c:v>14:38:19</c:v>
                </c:pt>
                <c:pt idx="143">
                  <c:v>14:38:35</c:v>
                </c:pt>
                <c:pt idx="144">
                  <c:v>14:39:19</c:v>
                </c:pt>
                <c:pt idx="145">
                  <c:v>14:39:35</c:v>
                </c:pt>
                <c:pt idx="146">
                  <c:v>14:40:19</c:v>
                </c:pt>
                <c:pt idx="147">
                  <c:v>14:40:35</c:v>
                </c:pt>
                <c:pt idx="148">
                  <c:v>14:41:19</c:v>
                </c:pt>
                <c:pt idx="149">
                  <c:v>14:41:35</c:v>
                </c:pt>
                <c:pt idx="150">
                  <c:v>14:42:19</c:v>
                </c:pt>
                <c:pt idx="151">
                  <c:v>14:42:35</c:v>
                </c:pt>
                <c:pt idx="152">
                  <c:v>14:43:19</c:v>
                </c:pt>
                <c:pt idx="153">
                  <c:v>14:43:35</c:v>
                </c:pt>
                <c:pt idx="154">
                  <c:v>14:44:19</c:v>
                </c:pt>
                <c:pt idx="155">
                  <c:v>14:44:35</c:v>
                </c:pt>
                <c:pt idx="156">
                  <c:v>14:45:19</c:v>
                </c:pt>
                <c:pt idx="157">
                  <c:v>14:45:20</c:v>
                </c:pt>
                <c:pt idx="158">
                  <c:v>14:45:35</c:v>
                </c:pt>
                <c:pt idx="159">
                  <c:v>14:46:19</c:v>
                </c:pt>
                <c:pt idx="160">
                  <c:v>14:46:20</c:v>
                </c:pt>
                <c:pt idx="161">
                  <c:v>14:46:35</c:v>
                </c:pt>
                <c:pt idx="162">
                  <c:v>14:47:19</c:v>
                </c:pt>
                <c:pt idx="163">
                  <c:v>14:47:20</c:v>
                </c:pt>
                <c:pt idx="164">
                  <c:v>14:47:36</c:v>
                </c:pt>
                <c:pt idx="165">
                  <c:v>14:48:19</c:v>
                </c:pt>
                <c:pt idx="166">
                  <c:v>14:48:20</c:v>
                </c:pt>
                <c:pt idx="167">
                  <c:v>14:48:36</c:v>
                </c:pt>
                <c:pt idx="168">
                  <c:v>14:49:19</c:v>
                </c:pt>
                <c:pt idx="169">
                  <c:v>14:49:20</c:v>
                </c:pt>
                <c:pt idx="170">
                  <c:v>14:49:36</c:v>
                </c:pt>
                <c:pt idx="171">
                  <c:v>14:50:19</c:v>
                </c:pt>
                <c:pt idx="172">
                  <c:v>14:50:20</c:v>
                </c:pt>
                <c:pt idx="173">
                  <c:v>14:50:36</c:v>
                </c:pt>
              </c:strCache>
            </c:strRef>
          </c:cat>
          <c:val>
            <c:numRef>
              <c:f>Sheet1!$B$2:$B$176</c:f>
              <c:numCache>
                <c:formatCode>General</c:formatCode>
                <c:ptCount val="17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2</c:v>
                </c:pt>
                <c:pt idx="16">
                  <c:v>4</c:v>
                </c:pt>
                <c:pt idx="17">
                  <c:v>14</c:v>
                </c:pt>
                <c:pt idx="18">
                  <c:v>5</c:v>
                </c:pt>
                <c:pt idx="19">
                  <c:v>14</c:v>
                </c:pt>
                <c:pt idx="20">
                  <c:v>9</c:v>
                </c:pt>
                <c:pt idx="21">
                  <c:v>20</c:v>
                </c:pt>
                <c:pt idx="22">
                  <c:v>10</c:v>
                </c:pt>
                <c:pt idx="23">
                  <c:v>28</c:v>
                </c:pt>
                <c:pt idx="24">
                  <c:v>11</c:v>
                </c:pt>
                <c:pt idx="25">
                  <c:v>28</c:v>
                </c:pt>
                <c:pt idx="26">
                  <c:v>15</c:v>
                </c:pt>
                <c:pt idx="27">
                  <c:v>34</c:v>
                </c:pt>
                <c:pt idx="28">
                  <c:v>16</c:v>
                </c:pt>
                <c:pt idx="29">
                  <c:v>27</c:v>
                </c:pt>
                <c:pt idx="30">
                  <c:v>17</c:v>
                </c:pt>
                <c:pt idx="31">
                  <c:v>44</c:v>
                </c:pt>
                <c:pt idx="32">
                  <c:v>17</c:v>
                </c:pt>
                <c:pt idx="33">
                  <c:v>40</c:v>
                </c:pt>
                <c:pt idx="34">
                  <c:v>25</c:v>
                </c:pt>
                <c:pt idx="35">
                  <c:v>38</c:v>
                </c:pt>
                <c:pt idx="36">
                  <c:v>32</c:v>
                </c:pt>
                <c:pt idx="37">
                  <c:v>48</c:v>
                </c:pt>
                <c:pt idx="38">
                  <c:v>26</c:v>
                </c:pt>
                <c:pt idx="39">
                  <c:v>48</c:v>
                </c:pt>
                <c:pt idx="40">
                  <c:v>25</c:v>
                </c:pt>
                <c:pt idx="41">
                  <c:v>62</c:v>
                </c:pt>
                <c:pt idx="42">
                  <c:v>32</c:v>
                </c:pt>
                <c:pt idx="43">
                  <c:v>72</c:v>
                </c:pt>
                <c:pt idx="44">
                  <c:v>26</c:v>
                </c:pt>
                <c:pt idx="45">
                  <c:v>76</c:v>
                </c:pt>
                <c:pt idx="46">
                  <c:v>29</c:v>
                </c:pt>
                <c:pt idx="47">
                  <c:v>68</c:v>
                </c:pt>
                <c:pt idx="48">
                  <c:v>39</c:v>
                </c:pt>
                <c:pt idx="49">
                  <c:v>66</c:v>
                </c:pt>
                <c:pt idx="50">
                  <c:v>27</c:v>
                </c:pt>
                <c:pt idx="51">
                  <c:v>70</c:v>
                </c:pt>
                <c:pt idx="52">
                  <c:v>33</c:v>
                </c:pt>
                <c:pt idx="53">
                  <c:v>75</c:v>
                </c:pt>
                <c:pt idx="54">
                  <c:v>29</c:v>
                </c:pt>
                <c:pt idx="55">
                  <c:v>66</c:v>
                </c:pt>
                <c:pt idx="56">
                  <c:v>36</c:v>
                </c:pt>
                <c:pt idx="57">
                  <c:v>60</c:v>
                </c:pt>
                <c:pt idx="58">
                  <c:v>31</c:v>
                </c:pt>
                <c:pt idx="59">
                  <c:v>68</c:v>
                </c:pt>
                <c:pt idx="60">
                  <c:v>26</c:v>
                </c:pt>
                <c:pt idx="61">
                  <c:v>64</c:v>
                </c:pt>
                <c:pt idx="62">
                  <c:v>39</c:v>
                </c:pt>
                <c:pt idx="63">
                  <c:v>28</c:v>
                </c:pt>
                <c:pt idx="64">
                  <c:v>27</c:v>
                </c:pt>
                <c:pt idx="65">
                  <c:v>34</c:v>
                </c:pt>
                <c:pt idx="66">
                  <c:v>32</c:v>
                </c:pt>
                <c:pt idx="67">
                  <c:v>32</c:v>
                </c:pt>
                <c:pt idx="68">
                  <c:v>29</c:v>
                </c:pt>
                <c:pt idx="69">
                  <c:v>43</c:v>
                </c:pt>
                <c:pt idx="70">
                  <c:v>42</c:v>
                </c:pt>
                <c:pt idx="71">
                  <c:v>31</c:v>
                </c:pt>
                <c:pt idx="72">
                  <c:v>37</c:v>
                </c:pt>
                <c:pt idx="73">
                  <c:v>38</c:v>
                </c:pt>
                <c:pt idx="74">
                  <c:v>37</c:v>
                </c:pt>
                <c:pt idx="75">
                  <c:v>34</c:v>
                </c:pt>
                <c:pt idx="76">
                  <c:v>34</c:v>
                </c:pt>
                <c:pt idx="77">
                  <c:v>34</c:v>
                </c:pt>
                <c:pt idx="78">
                  <c:v>65</c:v>
                </c:pt>
                <c:pt idx="79">
                  <c:v>31</c:v>
                </c:pt>
                <c:pt idx="80">
                  <c:v>70</c:v>
                </c:pt>
                <c:pt idx="81">
                  <c:v>35</c:v>
                </c:pt>
                <c:pt idx="82">
                  <c:v>72</c:v>
                </c:pt>
                <c:pt idx="83">
                  <c:v>41</c:v>
                </c:pt>
                <c:pt idx="84">
                  <c:v>63</c:v>
                </c:pt>
                <c:pt idx="85">
                  <c:v>31</c:v>
                </c:pt>
                <c:pt idx="86">
                  <c:v>77</c:v>
                </c:pt>
                <c:pt idx="87">
                  <c:v>33</c:v>
                </c:pt>
                <c:pt idx="88">
                  <c:v>63</c:v>
                </c:pt>
                <c:pt idx="89">
                  <c:v>34</c:v>
                </c:pt>
                <c:pt idx="90">
                  <c:v>66</c:v>
                </c:pt>
                <c:pt idx="91">
                  <c:v>33</c:v>
                </c:pt>
                <c:pt idx="92">
                  <c:v>66</c:v>
                </c:pt>
                <c:pt idx="93">
                  <c:v>33</c:v>
                </c:pt>
                <c:pt idx="94">
                  <c:v>70</c:v>
                </c:pt>
                <c:pt idx="95">
                  <c:v>42</c:v>
                </c:pt>
                <c:pt idx="96">
                  <c:v>79</c:v>
                </c:pt>
                <c:pt idx="97">
                  <c:v>38</c:v>
                </c:pt>
                <c:pt idx="98">
                  <c:v>76</c:v>
                </c:pt>
                <c:pt idx="99">
                  <c:v>30</c:v>
                </c:pt>
                <c:pt idx="100">
                  <c:v>83</c:v>
                </c:pt>
                <c:pt idx="101">
                  <c:v>33</c:v>
                </c:pt>
                <c:pt idx="102">
                  <c:v>80</c:v>
                </c:pt>
                <c:pt idx="103">
                  <c:v>32</c:v>
                </c:pt>
                <c:pt idx="104">
                  <c:v>66</c:v>
                </c:pt>
                <c:pt idx="105">
                  <c:v>32</c:v>
                </c:pt>
                <c:pt idx="106">
                  <c:v>76</c:v>
                </c:pt>
                <c:pt idx="107">
                  <c:v>37</c:v>
                </c:pt>
                <c:pt idx="108">
                  <c:v>55</c:v>
                </c:pt>
                <c:pt idx="109">
                  <c:v>48</c:v>
                </c:pt>
                <c:pt idx="110">
                  <c:v>64</c:v>
                </c:pt>
                <c:pt idx="111">
                  <c:v>41</c:v>
                </c:pt>
                <c:pt idx="112">
                  <c:v>88</c:v>
                </c:pt>
                <c:pt idx="113">
                  <c:v>37</c:v>
                </c:pt>
                <c:pt idx="114">
                  <c:v>87</c:v>
                </c:pt>
                <c:pt idx="115">
                  <c:v>35</c:v>
                </c:pt>
                <c:pt idx="116">
                  <c:v>88</c:v>
                </c:pt>
                <c:pt idx="117">
                  <c:v>33</c:v>
                </c:pt>
                <c:pt idx="118">
                  <c:v>68</c:v>
                </c:pt>
                <c:pt idx="119">
                  <c:v>35</c:v>
                </c:pt>
                <c:pt idx="120">
                  <c:v>61</c:v>
                </c:pt>
                <c:pt idx="121">
                  <c:v>36</c:v>
                </c:pt>
                <c:pt idx="122">
                  <c:v>62</c:v>
                </c:pt>
                <c:pt idx="123">
                  <c:v>43</c:v>
                </c:pt>
                <c:pt idx="124">
                  <c:v>64</c:v>
                </c:pt>
                <c:pt idx="125">
                  <c:v>37</c:v>
                </c:pt>
                <c:pt idx="126">
                  <c:v>88</c:v>
                </c:pt>
                <c:pt idx="127">
                  <c:v>40</c:v>
                </c:pt>
                <c:pt idx="128">
                  <c:v>80</c:v>
                </c:pt>
                <c:pt idx="129">
                  <c:v>39</c:v>
                </c:pt>
                <c:pt idx="130">
                  <c:v>71</c:v>
                </c:pt>
                <c:pt idx="131">
                  <c:v>34</c:v>
                </c:pt>
                <c:pt idx="132">
                  <c:v>70</c:v>
                </c:pt>
                <c:pt idx="133">
                  <c:v>29</c:v>
                </c:pt>
                <c:pt idx="134">
                  <c:v>65</c:v>
                </c:pt>
                <c:pt idx="135">
                  <c:v>35</c:v>
                </c:pt>
                <c:pt idx="136">
                  <c:v>72</c:v>
                </c:pt>
                <c:pt idx="137">
                  <c:v>38</c:v>
                </c:pt>
                <c:pt idx="138">
                  <c:v>66</c:v>
                </c:pt>
                <c:pt idx="139">
                  <c:v>37</c:v>
                </c:pt>
                <c:pt idx="140">
                  <c:v>74</c:v>
                </c:pt>
                <c:pt idx="141">
                  <c:v>41</c:v>
                </c:pt>
                <c:pt idx="142">
                  <c:v>78</c:v>
                </c:pt>
                <c:pt idx="143">
                  <c:v>40</c:v>
                </c:pt>
                <c:pt idx="144">
                  <c:v>85</c:v>
                </c:pt>
                <c:pt idx="145">
                  <c:v>31</c:v>
                </c:pt>
                <c:pt idx="146">
                  <c:v>86</c:v>
                </c:pt>
                <c:pt idx="147">
                  <c:v>29</c:v>
                </c:pt>
                <c:pt idx="148">
                  <c:v>74</c:v>
                </c:pt>
                <c:pt idx="149">
                  <c:v>31</c:v>
                </c:pt>
                <c:pt idx="150">
                  <c:v>53</c:v>
                </c:pt>
                <c:pt idx="151">
                  <c:v>37</c:v>
                </c:pt>
                <c:pt idx="152">
                  <c:v>58</c:v>
                </c:pt>
                <c:pt idx="153">
                  <c:v>40</c:v>
                </c:pt>
                <c:pt idx="154">
                  <c:v>70</c:v>
                </c:pt>
                <c:pt idx="155">
                  <c:v>41</c:v>
                </c:pt>
                <c:pt idx="156">
                  <c:v>38</c:v>
                </c:pt>
                <c:pt idx="157">
                  <c:v>38</c:v>
                </c:pt>
                <c:pt idx="158">
                  <c:v>39</c:v>
                </c:pt>
                <c:pt idx="159">
                  <c:v>39</c:v>
                </c:pt>
                <c:pt idx="160">
                  <c:v>39</c:v>
                </c:pt>
                <c:pt idx="161">
                  <c:v>30</c:v>
                </c:pt>
                <c:pt idx="162">
                  <c:v>37</c:v>
                </c:pt>
                <c:pt idx="163">
                  <c:v>37</c:v>
                </c:pt>
                <c:pt idx="164">
                  <c:v>28</c:v>
                </c:pt>
                <c:pt idx="165">
                  <c:v>36</c:v>
                </c:pt>
                <c:pt idx="166">
                  <c:v>36</c:v>
                </c:pt>
                <c:pt idx="167">
                  <c:v>33</c:v>
                </c:pt>
                <c:pt idx="168">
                  <c:v>32</c:v>
                </c:pt>
                <c:pt idx="169">
                  <c:v>32</c:v>
                </c:pt>
                <c:pt idx="170">
                  <c:v>33</c:v>
                </c:pt>
                <c:pt idx="171">
                  <c:v>30</c:v>
                </c:pt>
                <c:pt idx="172">
                  <c:v>29</c:v>
                </c:pt>
                <c:pt idx="173">
                  <c:v>24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7682176"/>
        <c:axId val="34064640"/>
      </c:lineChart>
      <c:catAx>
        <c:axId val="37682176"/>
        <c:scaling>
          <c:orientation val="minMax"/>
        </c:scaling>
        <c:delete val="0"/>
        <c:axPos val="b"/>
        <c:majorTickMark val="none"/>
        <c:minorTickMark val="none"/>
        <c:tickLblPos val="nextTo"/>
        <c:crossAx val="34064640"/>
        <c:crosses val="autoZero"/>
        <c:auto val="1"/>
        <c:lblAlgn val="ctr"/>
        <c:lblOffset val="100"/>
        <c:noMultiLvlLbl val="0"/>
      </c:catAx>
      <c:valAx>
        <c:axId val="34064640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400"/>
                </a:pPr>
                <a:r>
                  <a:rPr lang="en-US" sz="1400"/>
                  <a:t>Users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crossAx val="37682176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69515061722834359"/>
          <c:y val="4.6625109361329825E-2"/>
          <c:w val="0.10953755938008737"/>
          <c:h val="8.7189413823272097E-2"/>
        </c:manualLayout>
      </c:layout>
      <c:overlay val="0"/>
    </c:legend>
    <c:plotVisOnly val="1"/>
    <c:dispBlanksAs val="gap"/>
    <c:showDLblsOverMax val="0"/>
  </c:chart>
  <c:externalData r:id="rId2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[UsersConnected_60UserTest_03Apr14_1335_Xls.xlsx]Sheet2!PivotTable3</c:name>
    <c:fmtId val="-1"/>
  </c:pivotSource>
  <c:chart>
    <c:title>
      <c:tx>
        <c:rich>
          <a:bodyPr/>
          <a:lstStyle/>
          <a:p>
            <a:pPr>
              <a:defRPr/>
            </a:pPr>
            <a:r>
              <a:rPr lang="en-US"/>
              <a:t>Users</a:t>
            </a:r>
            <a:r>
              <a:rPr lang="en-US" baseline="0"/>
              <a:t> Connected</a:t>
            </a:r>
            <a:endParaRPr lang="en-US"/>
          </a:p>
        </c:rich>
      </c:tx>
      <c:layout>
        <c:manualLayout>
          <c:xMode val="edge"/>
          <c:yMode val="edge"/>
          <c:x val="0.23531085958005249"/>
          <c:y val="5.9164479440069993E-2"/>
        </c:manualLayout>
      </c:layout>
      <c:overlay val="0"/>
    </c:title>
    <c:autoTitleDeleted val="0"/>
    <c:pivotFmts>
      <c:pivotFmt>
        <c:idx val="0"/>
      </c:pivotFmt>
      <c:pivotFmt>
        <c:idx val="1"/>
      </c:pivotFmt>
      <c:pivotFmt>
        <c:idx val="2"/>
      </c:pivotFmt>
      <c:pivotFmt>
        <c:idx val="3"/>
      </c:pivotFmt>
      <c:pivotFmt>
        <c:idx val="4"/>
      </c:pivotFmt>
      <c:pivotFmt>
        <c:idx val="5"/>
      </c:pivotFmt>
      <c:pivotFmt>
        <c:idx val="6"/>
      </c:pivotFmt>
      <c:pivotFmt>
        <c:idx val="7"/>
      </c:pivotFmt>
    </c:pivotFmts>
    <c:plotArea>
      <c:layout>
        <c:manualLayout>
          <c:layoutTarget val="inner"/>
          <c:xMode val="edge"/>
          <c:yMode val="edge"/>
          <c:x val="0.1053760704154405"/>
          <c:y val="0.2030420676582094"/>
          <c:w val="0.84511529998144175"/>
          <c:h val="0.54512357830271219"/>
        </c:manualLayout>
      </c:layout>
      <c:lineChart>
        <c:grouping val="standard"/>
        <c:varyColors val="0"/>
        <c:ser>
          <c:idx val="0"/>
          <c:order val="0"/>
          <c:tx>
            <c:strRef>
              <c:f>Sheet2!$B$1:$B$2</c:f>
              <c:strCache>
                <c:ptCount val="1"/>
                <c:pt idx="0">
                  <c:v>MaxClust1</c:v>
                </c:pt>
              </c:strCache>
            </c:strRef>
          </c:tx>
          <c:cat>
            <c:strRef>
              <c:f>Sheet2!$A$3:$A$166</c:f>
              <c:strCache>
                <c:ptCount val="163"/>
                <c:pt idx="0">
                  <c:v>13:23:17</c:v>
                </c:pt>
                <c:pt idx="1">
                  <c:v>13:24:17</c:v>
                </c:pt>
                <c:pt idx="2">
                  <c:v>13:25:17</c:v>
                </c:pt>
                <c:pt idx="3">
                  <c:v>13:26:17</c:v>
                </c:pt>
                <c:pt idx="4">
                  <c:v>13:27:17</c:v>
                </c:pt>
                <c:pt idx="5">
                  <c:v>13:28:17</c:v>
                </c:pt>
                <c:pt idx="6">
                  <c:v>13:29:17</c:v>
                </c:pt>
                <c:pt idx="7">
                  <c:v>13:30:17</c:v>
                </c:pt>
                <c:pt idx="8">
                  <c:v>13:31:17</c:v>
                </c:pt>
                <c:pt idx="9">
                  <c:v>13:32:17</c:v>
                </c:pt>
                <c:pt idx="10">
                  <c:v>13:33:17</c:v>
                </c:pt>
                <c:pt idx="11">
                  <c:v>13:34:17</c:v>
                </c:pt>
                <c:pt idx="12">
                  <c:v>13:35:17</c:v>
                </c:pt>
                <c:pt idx="13">
                  <c:v>13:36:17</c:v>
                </c:pt>
                <c:pt idx="14">
                  <c:v>13:36:33</c:v>
                </c:pt>
                <c:pt idx="15">
                  <c:v>13:37:17</c:v>
                </c:pt>
                <c:pt idx="16">
                  <c:v>13:37:33</c:v>
                </c:pt>
                <c:pt idx="17">
                  <c:v>13:38:17</c:v>
                </c:pt>
                <c:pt idx="18">
                  <c:v>13:38:33</c:v>
                </c:pt>
                <c:pt idx="19">
                  <c:v>13:39:17</c:v>
                </c:pt>
                <c:pt idx="20">
                  <c:v>13:39:33</c:v>
                </c:pt>
                <c:pt idx="21">
                  <c:v>13:40:17</c:v>
                </c:pt>
                <c:pt idx="22">
                  <c:v>13:40:33</c:v>
                </c:pt>
                <c:pt idx="23">
                  <c:v>13:41:17</c:v>
                </c:pt>
                <c:pt idx="24">
                  <c:v>13:41:33</c:v>
                </c:pt>
                <c:pt idx="25">
                  <c:v>13:42:17</c:v>
                </c:pt>
                <c:pt idx="26">
                  <c:v>13:42:33</c:v>
                </c:pt>
                <c:pt idx="27">
                  <c:v>13:43:17</c:v>
                </c:pt>
                <c:pt idx="28">
                  <c:v>13:43:33</c:v>
                </c:pt>
                <c:pt idx="29">
                  <c:v>13:44:17</c:v>
                </c:pt>
                <c:pt idx="30">
                  <c:v>13:44:33</c:v>
                </c:pt>
                <c:pt idx="31">
                  <c:v>13:45:17</c:v>
                </c:pt>
                <c:pt idx="32">
                  <c:v>13:45:33</c:v>
                </c:pt>
                <c:pt idx="33">
                  <c:v>13:46:17</c:v>
                </c:pt>
                <c:pt idx="34">
                  <c:v>13:46:33</c:v>
                </c:pt>
                <c:pt idx="35">
                  <c:v>13:47:17</c:v>
                </c:pt>
                <c:pt idx="36">
                  <c:v>13:47:33</c:v>
                </c:pt>
                <c:pt idx="37">
                  <c:v>13:48:17</c:v>
                </c:pt>
                <c:pt idx="38">
                  <c:v>13:48:33</c:v>
                </c:pt>
                <c:pt idx="39">
                  <c:v>13:49:17</c:v>
                </c:pt>
                <c:pt idx="40">
                  <c:v>13:49:33</c:v>
                </c:pt>
                <c:pt idx="41">
                  <c:v>13:50:17</c:v>
                </c:pt>
                <c:pt idx="42">
                  <c:v>13:50:33</c:v>
                </c:pt>
                <c:pt idx="43">
                  <c:v>13:51:17</c:v>
                </c:pt>
                <c:pt idx="44">
                  <c:v>13:51:33</c:v>
                </c:pt>
                <c:pt idx="45">
                  <c:v>13:52:17</c:v>
                </c:pt>
                <c:pt idx="46">
                  <c:v>13:52:33</c:v>
                </c:pt>
                <c:pt idx="47">
                  <c:v>13:53:17</c:v>
                </c:pt>
                <c:pt idx="48">
                  <c:v>13:53:33</c:v>
                </c:pt>
                <c:pt idx="49">
                  <c:v>13:54:17</c:v>
                </c:pt>
                <c:pt idx="50">
                  <c:v>13:54:34</c:v>
                </c:pt>
                <c:pt idx="51">
                  <c:v>13:55:17</c:v>
                </c:pt>
                <c:pt idx="52">
                  <c:v>13:55:34</c:v>
                </c:pt>
                <c:pt idx="53">
                  <c:v>13:56:17</c:v>
                </c:pt>
                <c:pt idx="54">
                  <c:v>13:56:34</c:v>
                </c:pt>
                <c:pt idx="55">
                  <c:v>13:57:17</c:v>
                </c:pt>
                <c:pt idx="56">
                  <c:v>13:57:34</c:v>
                </c:pt>
                <c:pt idx="57">
                  <c:v>13:58:17</c:v>
                </c:pt>
                <c:pt idx="58">
                  <c:v>13:58:34</c:v>
                </c:pt>
                <c:pt idx="59">
                  <c:v>13:59:17</c:v>
                </c:pt>
                <c:pt idx="60">
                  <c:v>13:59:34</c:v>
                </c:pt>
                <c:pt idx="61">
                  <c:v>14:00:17</c:v>
                </c:pt>
                <c:pt idx="62">
                  <c:v>14:00:34</c:v>
                </c:pt>
                <c:pt idx="63">
                  <c:v>14:01:17</c:v>
                </c:pt>
                <c:pt idx="64">
                  <c:v>14:01:34</c:v>
                </c:pt>
                <c:pt idx="65">
                  <c:v>14:02:17</c:v>
                </c:pt>
                <c:pt idx="66">
                  <c:v>14:02:34</c:v>
                </c:pt>
                <c:pt idx="67">
                  <c:v>14:03:17</c:v>
                </c:pt>
                <c:pt idx="68">
                  <c:v>14:03:34</c:v>
                </c:pt>
                <c:pt idx="69">
                  <c:v>14:04:17</c:v>
                </c:pt>
                <c:pt idx="70">
                  <c:v>14:04:34</c:v>
                </c:pt>
                <c:pt idx="71">
                  <c:v>14:05:17</c:v>
                </c:pt>
                <c:pt idx="72">
                  <c:v>14:05:34</c:v>
                </c:pt>
                <c:pt idx="73">
                  <c:v>14:06:18</c:v>
                </c:pt>
                <c:pt idx="74">
                  <c:v>14:06:34</c:v>
                </c:pt>
                <c:pt idx="75">
                  <c:v>14:07:18</c:v>
                </c:pt>
                <c:pt idx="76">
                  <c:v>14:07:34</c:v>
                </c:pt>
                <c:pt idx="77">
                  <c:v>14:08:18</c:v>
                </c:pt>
                <c:pt idx="78">
                  <c:v>14:08:34</c:v>
                </c:pt>
                <c:pt idx="79">
                  <c:v>14:09:18</c:v>
                </c:pt>
                <c:pt idx="80">
                  <c:v>14:09:34</c:v>
                </c:pt>
                <c:pt idx="81">
                  <c:v>14:10:18</c:v>
                </c:pt>
                <c:pt idx="82">
                  <c:v>14:10:34</c:v>
                </c:pt>
                <c:pt idx="83">
                  <c:v>14:11:18</c:v>
                </c:pt>
                <c:pt idx="84">
                  <c:v>14:11:34</c:v>
                </c:pt>
                <c:pt idx="85">
                  <c:v>14:12:18</c:v>
                </c:pt>
                <c:pt idx="86">
                  <c:v>14:12:34</c:v>
                </c:pt>
                <c:pt idx="87">
                  <c:v>14:13:18</c:v>
                </c:pt>
                <c:pt idx="88">
                  <c:v>14:13:34</c:v>
                </c:pt>
                <c:pt idx="89">
                  <c:v>14:14:18</c:v>
                </c:pt>
                <c:pt idx="90">
                  <c:v>14:14:34</c:v>
                </c:pt>
                <c:pt idx="91">
                  <c:v>14:15:18</c:v>
                </c:pt>
                <c:pt idx="92">
                  <c:v>14:15:34</c:v>
                </c:pt>
                <c:pt idx="93">
                  <c:v>14:16:18</c:v>
                </c:pt>
                <c:pt idx="94">
                  <c:v>14:16:34</c:v>
                </c:pt>
                <c:pt idx="95">
                  <c:v>14:17:18</c:v>
                </c:pt>
                <c:pt idx="96">
                  <c:v>14:17:34</c:v>
                </c:pt>
                <c:pt idx="97">
                  <c:v>14:18:18</c:v>
                </c:pt>
                <c:pt idx="98">
                  <c:v>14:18:34</c:v>
                </c:pt>
                <c:pt idx="99">
                  <c:v>14:19:18</c:v>
                </c:pt>
                <c:pt idx="100">
                  <c:v>14:19:35</c:v>
                </c:pt>
                <c:pt idx="101">
                  <c:v>14:20:18</c:v>
                </c:pt>
                <c:pt idx="102">
                  <c:v>14:20:35</c:v>
                </c:pt>
                <c:pt idx="103">
                  <c:v>14:21:18</c:v>
                </c:pt>
                <c:pt idx="104">
                  <c:v>14:21:35</c:v>
                </c:pt>
                <c:pt idx="105">
                  <c:v>14:22:18</c:v>
                </c:pt>
                <c:pt idx="106">
                  <c:v>14:22:35</c:v>
                </c:pt>
                <c:pt idx="107">
                  <c:v>14:23:18</c:v>
                </c:pt>
                <c:pt idx="108">
                  <c:v>14:23:35</c:v>
                </c:pt>
                <c:pt idx="109">
                  <c:v>14:24:19</c:v>
                </c:pt>
                <c:pt idx="110">
                  <c:v>14:24:35</c:v>
                </c:pt>
                <c:pt idx="111">
                  <c:v>14:25:19</c:v>
                </c:pt>
                <c:pt idx="112">
                  <c:v>14:25:35</c:v>
                </c:pt>
                <c:pt idx="113">
                  <c:v>14:26:19</c:v>
                </c:pt>
                <c:pt idx="114">
                  <c:v>14:26:35</c:v>
                </c:pt>
                <c:pt idx="115">
                  <c:v>14:27:19</c:v>
                </c:pt>
                <c:pt idx="116">
                  <c:v>14:27:35</c:v>
                </c:pt>
                <c:pt idx="117">
                  <c:v>14:28:19</c:v>
                </c:pt>
                <c:pt idx="118">
                  <c:v>14:28:35</c:v>
                </c:pt>
                <c:pt idx="119">
                  <c:v>14:29:19</c:v>
                </c:pt>
                <c:pt idx="120">
                  <c:v>14:29:35</c:v>
                </c:pt>
                <c:pt idx="121">
                  <c:v>14:30:19</c:v>
                </c:pt>
                <c:pt idx="122">
                  <c:v>14:30:35</c:v>
                </c:pt>
                <c:pt idx="123">
                  <c:v>14:31:19</c:v>
                </c:pt>
                <c:pt idx="124">
                  <c:v>14:31:35</c:v>
                </c:pt>
                <c:pt idx="125">
                  <c:v>14:32:19</c:v>
                </c:pt>
                <c:pt idx="126">
                  <c:v>14:32:35</c:v>
                </c:pt>
                <c:pt idx="127">
                  <c:v>14:33:19</c:v>
                </c:pt>
                <c:pt idx="128">
                  <c:v>14:33:35</c:v>
                </c:pt>
                <c:pt idx="129">
                  <c:v>14:34:19</c:v>
                </c:pt>
                <c:pt idx="130">
                  <c:v>14:34:35</c:v>
                </c:pt>
                <c:pt idx="131">
                  <c:v>14:35:19</c:v>
                </c:pt>
                <c:pt idx="132">
                  <c:v>14:35:35</c:v>
                </c:pt>
                <c:pt idx="133">
                  <c:v>14:36:19</c:v>
                </c:pt>
                <c:pt idx="134">
                  <c:v>14:36:35</c:v>
                </c:pt>
                <c:pt idx="135">
                  <c:v>14:37:19</c:v>
                </c:pt>
                <c:pt idx="136">
                  <c:v>14:37:35</c:v>
                </c:pt>
                <c:pt idx="137">
                  <c:v>14:38:19</c:v>
                </c:pt>
                <c:pt idx="138">
                  <c:v>14:38:35</c:v>
                </c:pt>
                <c:pt idx="139">
                  <c:v>14:39:19</c:v>
                </c:pt>
                <c:pt idx="140">
                  <c:v>14:39:35</c:v>
                </c:pt>
                <c:pt idx="141">
                  <c:v>14:40:19</c:v>
                </c:pt>
                <c:pt idx="142">
                  <c:v>14:40:35</c:v>
                </c:pt>
                <c:pt idx="143">
                  <c:v>14:41:19</c:v>
                </c:pt>
                <c:pt idx="144">
                  <c:v>14:41:35</c:v>
                </c:pt>
                <c:pt idx="145">
                  <c:v>14:42:19</c:v>
                </c:pt>
                <c:pt idx="146">
                  <c:v>14:42:35</c:v>
                </c:pt>
                <c:pt idx="147">
                  <c:v>14:43:19</c:v>
                </c:pt>
                <c:pt idx="148">
                  <c:v>14:43:35</c:v>
                </c:pt>
                <c:pt idx="149">
                  <c:v>14:44:19</c:v>
                </c:pt>
                <c:pt idx="150">
                  <c:v>14:44:35</c:v>
                </c:pt>
                <c:pt idx="151">
                  <c:v>14:45:19</c:v>
                </c:pt>
                <c:pt idx="152">
                  <c:v>14:45:35</c:v>
                </c:pt>
                <c:pt idx="153">
                  <c:v>14:46:19</c:v>
                </c:pt>
                <c:pt idx="154">
                  <c:v>14:46:35</c:v>
                </c:pt>
                <c:pt idx="155">
                  <c:v>14:47:19</c:v>
                </c:pt>
                <c:pt idx="156">
                  <c:v>14:47:36</c:v>
                </c:pt>
                <c:pt idx="157">
                  <c:v>14:48:19</c:v>
                </c:pt>
                <c:pt idx="158">
                  <c:v>14:48:36</c:v>
                </c:pt>
                <c:pt idx="159">
                  <c:v>14:49:19</c:v>
                </c:pt>
                <c:pt idx="160">
                  <c:v>14:49:36</c:v>
                </c:pt>
                <c:pt idx="161">
                  <c:v>14:50:19</c:v>
                </c:pt>
                <c:pt idx="162">
                  <c:v>14:50:36</c:v>
                </c:pt>
              </c:strCache>
            </c:strRef>
          </c:cat>
          <c:val>
            <c:numRef>
              <c:f>Sheet2!$B$3:$B$166</c:f>
              <c:numCache>
                <c:formatCode>General</c:formatCode>
                <c:ptCount val="16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5">
                  <c:v>1</c:v>
                </c:pt>
                <c:pt idx="17">
                  <c:v>7</c:v>
                </c:pt>
                <c:pt idx="19">
                  <c:v>7</c:v>
                </c:pt>
                <c:pt idx="21">
                  <c:v>10</c:v>
                </c:pt>
                <c:pt idx="23">
                  <c:v>14</c:v>
                </c:pt>
                <c:pt idx="25">
                  <c:v>14</c:v>
                </c:pt>
                <c:pt idx="27">
                  <c:v>17</c:v>
                </c:pt>
                <c:pt idx="29">
                  <c:v>13</c:v>
                </c:pt>
                <c:pt idx="31">
                  <c:v>22</c:v>
                </c:pt>
                <c:pt idx="33">
                  <c:v>20</c:v>
                </c:pt>
                <c:pt idx="35">
                  <c:v>19</c:v>
                </c:pt>
                <c:pt idx="37">
                  <c:v>24</c:v>
                </c:pt>
                <c:pt idx="39">
                  <c:v>24</c:v>
                </c:pt>
                <c:pt idx="41">
                  <c:v>31</c:v>
                </c:pt>
                <c:pt idx="43">
                  <c:v>36</c:v>
                </c:pt>
                <c:pt idx="45">
                  <c:v>38</c:v>
                </c:pt>
                <c:pt idx="47">
                  <c:v>34</c:v>
                </c:pt>
                <c:pt idx="49">
                  <c:v>33</c:v>
                </c:pt>
                <c:pt idx="51">
                  <c:v>35</c:v>
                </c:pt>
                <c:pt idx="53">
                  <c:v>38</c:v>
                </c:pt>
                <c:pt idx="55">
                  <c:v>33</c:v>
                </c:pt>
                <c:pt idx="57">
                  <c:v>30</c:v>
                </c:pt>
                <c:pt idx="59">
                  <c:v>34</c:v>
                </c:pt>
                <c:pt idx="61">
                  <c:v>32</c:v>
                </c:pt>
                <c:pt idx="63">
                  <c:v>28</c:v>
                </c:pt>
                <c:pt idx="65">
                  <c:v>32</c:v>
                </c:pt>
                <c:pt idx="67">
                  <c:v>43</c:v>
                </c:pt>
                <c:pt idx="69">
                  <c:v>37</c:v>
                </c:pt>
                <c:pt idx="71">
                  <c:v>34</c:v>
                </c:pt>
                <c:pt idx="73">
                  <c:v>32</c:v>
                </c:pt>
                <c:pt idx="75">
                  <c:v>35</c:v>
                </c:pt>
                <c:pt idx="77">
                  <c:v>36</c:v>
                </c:pt>
                <c:pt idx="79">
                  <c:v>31</c:v>
                </c:pt>
                <c:pt idx="81">
                  <c:v>38</c:v>
                </c:pt>
                <c:pt idx="83">
                  <c:v>32</c:v>
                </c:pt>
                <c:pt idx="85">
                  <c:v>33</c:v>
                </c:pt>
                <c:pt idx="87">
                  <c:v>33</c:v>
                </c:pt>
                <c:pt idx="89">
                  <c:v>35</c:v>
                </c:pt>
                <c:pt idx="91">
                  <c:v>39</c:v>
                </c:pt>
                <c:pt idx="93">
                  <c:v>38</c:v>
                </c:pt>
                <c:pt idx="95">
                  <c:v>41</c:v>
                </c:pt>
                <c:pt idx="97">
                  <c:v>40</c:v>
                </c:pt>
                <c:pt idx="99">
                  <c:v>33</c:v>
                </c:pt>
                <c:pt idx="101">
                  <c:v>38</c:v>
                </c:pt>
                <c:pt idx="103">
                  <c:v>27</c:v>
                </c:pt>
                <c:pt idx="105">
                  <c:v>32</c:v>
                </c:pt>
                <c:pt idx="107">
                  <c:v>43</c:v>
                </c:pt>
                <c:pt idx="109">
                  <c:v>44</c:v>
                </c:pt>
                <c:pt idx="111">
                  <c:v>44</c:v>
                </c:pt>
                <c:pt idx="113">
                  <c:v>34</c:v>
                </c:pt>
                <c:pt idx="115">
                  <c:v>31</c:v>
                </c:pt>
                <c:pt idx="117">
                  <c:v>31</c:v>
                </c:pt>
                <c:pt idx="119">
                  <c:v>32</c:v>
                </c:pt>
                <c:pt idx="121">
                  <c:v>44</c:v>
                </c:pt>
                <c:pt idx="123">
                  <c:v>40</c:v>
                </c:pt>
                <c:pt idx="125">
                  <c:v>36</c:v>
                </c:pt>
                <c:pt idx="127">
                  <c:v>35</c:v>
                </c:pt>
                <c:pt idx="129">
                  <c:v>33</c:v>
                </c:pt>
                <c:pt idx="131">
                  <c:v>36</c:v>
                </c:pt>
                <c:pt idx="133">
                  <c:v>33</c:v>
                </c:pt>
                <c:pt idx="135">
                  <c:v>37</c:v>
                </c:pt>
                <c:pt idx="137">
                  <c:v>39</c:v>
                </c:pt>
                <c:pt idx="139">
                  <c:v>43</c:v>
                </c:pt>
                <c:pt idx="141">
                  <c:v>43</c:v>
                </c:pt>
                <c:pt idx="143">
                  <c:v>37</c:v>
                </c:pt>
                <c:pt idx="145">
                  <c:v>27</c:v>
                </c:pt>
                <c:pt idx="147">
                  <c:v>29</c:v>
                </c:pt>
                <c:pt idx="149">
                  <c:v>35</c:v>
                </c:pt>
                <c:pt idx="151">
                  <c:v>38</c:v>
                </c:pt>
                <c:pt idx="153">
                  <c:v>39</c:v>
                </c:pt>
                <c:pt idx="155">
                  <c:v>37</c:v>
                </c:pt>
                <c:pt idx="157">
                  <c:v>36</c:v>
                </c:pt>
                <c:pt idx="159">
                  <c:v>32</c:v>
                </c:pt>
                <c:pt idx="161">
                  <c:v>30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Sheet2!$C$1:$C$2</c:f>
              <c:strCache>
                <c:ptCount val="1"/>
                <c:pt idx="0">
                  <c:v>MaxClust2</c:v>
                </c:pt>
              </c:strCache>
            </c:strRef>
          </c:tx>
          <c:cat>
            <c:strRef>
              <c:f>Sheet2!$A$3:$A$166</c:f>
              <c:strCache>
                <c:ptCount val="163"/>
                <c:pt idx="0">
                  <c:v>13:23:17</c:v>
                </c:pt>
                <c:pt idx="1">
                  <c:v>13:24:17</c:v>
                </c:pt>
                <c:pt idx="2">
                  <c:v>13:25:17</c:v>
                </c:pt>
                <c:pt idx="3">
                  <c:v>13:26:17</c:v>
                </c:pt>
                <c:pt idx="4">
                  <c:v>13:27:17</c:v>
                </c:pt>
                <c:pt idx="5">
                  <c:v>13:28:17</c:v>
                </c:pt>
                <c:pt idx="6">
                  <c:v>13:29:17</c:v>
                </c:pt>
                <c:pt idx="7">
                  <c:v>13:30:17</c:v>
                </c:pt>
                <c:pt idx="8">
                  <c:v>13:31:17</c:v>
                </c:pt>
                <c:pt idx="9">
                  <c:v>13:32:17</c:v>
                </c:pt>
                <c:pt idx="10">
                  <c:v>13:33:17</c:v>
                </c:pt>
                <c:pt idx="11">
                  <c:v>13:34:17</c:v>
                </c:pt>
                <c:pt idx="12">
                  <c:v>13:35:17</c:v>
                </c:pt>
                <c:pt idx="13">
                  <c:v>13:36:17</c:v>
                </c:pt>
                <c:pt idx="14">
                  <c:v>13:36:33</c:v>
                </c:pt>
                <c:pt idx="15">
                  <c:v>13:37:17</c:v>
                </c:pt>
                <c:pt idx="16">
                  <c:v>13:37:33</c:v>
                </c:pt>
                <c:pt idx="17">
                  <c:v>13:38:17</c:v>
                </c:pt>
                <c:pt idx="18">
                  <c:v>13:38:33</c:v>
                </c:pt>
                <c:pt idx="19">
                  <c:v>13:39:17</c:v>
                </c:pt>
                <c:pt idx="20">
                  <c:v>13:39:33</c:v>
                </c:pt>
                <c:pt idx="21">
                  <c:v>13:40:17</c:v>
                </c:pt>
                <c:pt idx="22">
                  <c:v>13:40:33</c:v>
                </c:pt>
                <c:pt idx="23">
                  <c:v>13:41:17</c:v>
                </c:pt>
                <c:pt idx="24">
                  <c:v>13:41:33</c:v>
                </c:pt>
                <c:pt idx="25">
                  <c:v>13:42:17</c:v>
                </c:pt>
                <c:pt idx="26">
                  <c:v>13:42:33</c:v>
                </c:pt>
                <c:pt idx="27">
                  <c:v>13:43:17</c:v>
                </c:pt>
                <c:pt idx="28">
                  <c:v>13:43:33</c:v>
                </c:pt>
                <c:pt idx="29">
                  <c:v>13:44:17</c:v>
                </c:pt>
                <c:pt idx="30">
                  <c:v>13:44:33</c:v>
                </c:pt>
                <c:pt idx="31">
                  <c:v>13:45:17</c:v>
                </c:pt>
                <c:pt idx="32">
                  <c:v>13:45:33</c:v>
                </c:pt>
                <c:pt idx="33">
                  <c:v>13:46:17</c:v>
                </c:pt>
                <c:pt idx="34">
                  <c:v>13:46:33</c:v>
                </c:pt>
                <c:pt idx="35">
                  <c:v>13:47:17</c:v>
                </c:pt>
                <c:pt idx="36">
                  <c:v>13:47:33</c:v>
                </c:pt>
                <c:pt idx="37">
                  <c:v>13:48:17</c:v>
                </c:pt>
                <c:pt idx="38">
                  <c:v>13:48:33</c:v>
                </c:pt>
                <c:pt idx="39">
                  <c:v>13:49:17</c:v>
                </c:pt>
                <c:pt idx="40">
                  <c:v>13:49:33</c:v>
                </c:pt>
                <c:pt idx="41">
                  <c:v>13:50:17</c:v>
                </c:pt>
                <c:pt idx="42">
                  <c:v>13:50:33</c:v>
                </c:pt>
                <c:pt idx="43">
                  <c:v>13:51:17</c:v>
                </c:pt>
                <c:pt idx="44">
                  <c:v>13:51:33</c:v>
                </c:pt>
                <c:pt idx="45">
                  <c:v>13:52:17</c:v>
                </c:pt>
                <c:pt idx="46">
                  <c:v>13:52:33</c:v>
                </c:pt>
                <c:pt idx="47">
                  <c:v>13:53:17</c:v>
                </c:pt>
                <c:pt idx="48">
                  <c:v>13:53:33</c:v>
                </c:pt>
                <c:pt idx="49">
                  <c:v>13:54:17</c:v>
                </c:pt>
                <c:pt idx="50">
                  <c:v>13:54:34</c:v>
                </c:pt>
                <c:pt idx="51">
                  <c:v>13:55:17</c:v>
                </c:pt>
                <c:pt idx="52">
                  <c:v>13:55:34</c:v>
                </c:pt>
                <c:pt idx="53">
                  <c:v>13:56:17</c:v>
                </c:pt>
                <c:pt idx="54">
                  <c:v>13:56:34</c:v>
                </c:pt>
                <c:pt idx="55">
                  <c:v>13:57:17</c:v>
                </c:pt>
                <c:pt idx="56">
                  <c:v>13:57:34</c:v>
                </c:pt>
                <c:pt idx="57">
                  <c:v>13:58:17</c:v>
                </c:pt>
                <c:pt idx="58">
                  <c:v>13:58:34</c:v>
                </c:pt>
                <c:pt idx="59">
                  <c:v>13:59:17</c:v>
                </c:pt>
                <c:pt idx="60">
                  <c:v>13:59:34</c:v>
                </c:pt>
                <c:pt idx="61">
                  <c:v>14:00:17</c:v>
                </c:pt>
                <c:pt idx="62">
                  <c:v>14:00:34</c:v>
                </c:pt>
                <c:pt idx="63">
                  <c:v>14:01:17</c:v>
                </c:pt>
                <c:pt idx="64">
                  <c:v>14:01:34</c:v>
                </c:pt>
                <c:pt idx="65">
                  <c:v>14:02:17</c:v>
                </c:pt>
                <c:pt idx="66">
                  <c:v>14:02:34</c:v>
                </c:pt>
                <c:pt idx="67">
                  <c:v>14:03:17</c:v>
                </c:pt>
                <c:pt idx="68">
                  <c:v>14:03:34</c:v>
                </c:pt>
                <c:pt idx="69">
                  <c:v>14:04:17</c:v>
                </c:pt>
                <c:pt idx="70">
                  <c:v>14:04:34</c:v>
                </c:pt>
                <c:pt idx="71">
                  <c:v>14:05:17</c:v>
                </c:pt>
                <c:pt idx="72">
                  <c:v>14:05:34</c:v>
                </c:pt>
                <c:pt idx="73">
                  <c:v>14:06:18</c:v>
                </c:pt>
                <c:pt idx="74">
                  <c:v>14:06:34</c:v>
                </c:pt>
                <c:pt idx="75">
                  <c:v>14:07:18</c:v>
                </c:pt>
                <c:pt idx="76">
                  <c:v>14:07:34</c:v>
                </c:pt>
                <c:pt idx="77">
                  <c:v>14:08:18</c:v>
                </c:pt>
                <c:pt idx="78">
                  <c:v>14:08:34</c:v>
                </c:pt>
                <c:pt idx="79">
                  <c:v>14:09:18</c:v>
                </c:pt>
                <c:pt idx="80">
                  <c:v>14:09:34</c:v>
                </c:pt>
                <c:pt idx="81">
                  <c:v>14:10:18</c:v>
                </c:pt>
                <c:pt idx="82">
                  <c:v>14:10:34</c:v>
                </c:pt>
                <c:pt idx="83">
                  <c:v>14:11:18</c:v>
                </c:pt>
                <c:pt idx="84">
                  <c:v>14:11:34</c:v>
                </c:pt>
                <c:pt idx="85">
                  <c:v>14:12:18</c:v>
                </c:pt>
                <c:pt idx="86">
                  <c:v>14:12:34</c:v>
                </c:pt>
                <c:pt idx="87">
                  <c:v>14:13:18</c:v>
                </c:pt>
                <c:pt idx="88">
                  <c:v>14:13:34</c:v>
                </c:pt>
                <c:pt idx="89">
                  <c:v>14:14:18</c:v>
                </c:pt>
                <c:pt idx="90">
                  <c:v>14:14:34</c:v>
                </c:pt>
                <c:pt idx="91">
                  <c:v>14:15:18</c:v>
                </c:pt>
                <c:pt idx="92">
                  <c:v>14:15:34</c:v>
                </c:pt>
                <c:pt idx="93">
                  <c:v>14:16:18</c:v>
                </c:pt>
                <c:pt idx="94">
                  <c:v>14:16:34</c:v>
                </c:pt>
                <c:pt idx="95">
                  <c:v>14:17:18</c:v>
                </c:pt>
                <c:pt idx="96">
                  <c:v>14:17:34</c:v>
                </c:pt>
                <c:pt idx="97">
                  <c:v>14:18:18</c:v>
                </c:pt>
                <c:pt idx="98">
                  <c:v>14:18:34</c:v>
                </c:pt>
                <c:pt idx="99">
                  <c:v>14:19:18</c:v>
                </c:pt>
                <c:pt idx="100">
                  <c:v>14:19:35</c:v>
                </c:pt>
                <c:pt idx="101">
                  <c:v>14:20:18</c:v>
                </c:pt>
                <c:pt idx="102">
                  <c:v>14:20:35</c:v>
                </c:pt>
                <c:pt idx="103">
                  <c:v>14:21:18</c:v>
                </c:pt>
                <c:pt idx="104">
                  <c:v>14:21:35</c:v>
                </c:pt>
                <c:pt idx="105">
                  <c:v>14:22:18</c:v>
                </c:pt>
                <c:pt idx="106">
                  <c:v>14:22:35</c:v>
                </c:pt>
                <c:pt idx="107">
                  <c:v>14:23:18</c:v>
                </c:pt>
                <c:pt idx="108">
                  <c:v>14:23:35</c:v>
                </c:pt>
                <c:pt idx="109">
                  <c:v>14:24:19</c:v>
                </c:pt>
                <c:pt idx="110">
                  <c:v>14:24:35</c:v>
                </c:pt>
                <c:pt idx="111">
                  <c:v>14:25:19</c:v>
                </c:pt>
                <c:pt idx="112">
                  <c:v>14:25:35</c:v>
                </c:pt>
                <c:pt idx="113">
                  <c:v>14:26:19</c:v>
                </c:pt>
                <c:pt idx="114">
                  <c:v>14:26:35</c:v>
                </c:pt>
                <c:pt idx="115">
                  <c:v>14:27:19</c:v>
                </c:pt>
                <c:pt idx="116">
                  <c:v>14:27:35</c:v>
                </c:pt>
                <c:pt idx="117">
                  <c:v>14:28:19</c:v>
                </c:pt>
                <c:pt idx="118">
                  <c:v>14:28:35</c:v>
                </c:pt>
                <c:pt idx="119">
                  <c:v>14:29:19</c:v>
                </c:pt>
                <c:pt idx="120">
                  <c:v>14:29:35</c:v>
                </c:pt>
                <c:pt idx="121">
                  <c:v>14:30:19</c:v>
                </c:pt>
                <c:pt idx="122">
                  <c:v>14:30:35</c:v>
                </c:pt>
                <c:pt idx="123">
                  <c:v>14:31:19</c:v>
                </c:pt>
                <c:pt idx="124">
                  <c:v>14:31:35</c:v>
                </c:pt>
                <c:pt idx="125">
                  <c:v>14:32:19</c:v>
                </c:pt>
                <c:pt idx="126">
                  <c:v>14:32:35</c:v>
                </c:pt>
                <c:pt idx="127">
                  <c:v>14:33:19</c:v>
                </c:pt>
                <c:pt idx="128">
                  <c:v>14:33:35</c:v>
                </c:pt>
                <c:pt idx="129">
                  <c:v>14:34:19</c:v>
                </c:pt>
                <c:pt idx="130">
                  <c:v>14:34:35</c:v>
                </c:pt>
                <c:pt idx="131">
                  <c:v>14:35:19</c:v>
                </c:pt>
                <c:pt idx="132">
                  <c:v>14:35:35</c:v>
                </c:pt>
                <c:pt idx="133">
                  <c:v>14:36:19</c:v>
                </c:pt>
                <c:pt idx="134">
                  <c:v>14:36:35</c:v>
                </c:pt>
                <c:pt idx="135">
                  <c:v>14:37:19</c:v>
                </c:pt>
                <c:pt idx="136">
                  <c:v>14:37:35</c:v>
                </c:pt>
                <c:pt idx="137">
                  <c:v>14:38:19</c:v>
                </c:pt>
                <c:pt idx="138">
                  <c:v>14:38:35</c:v>
                </c:pt>
                <c:pt idx="139">
                  <c:v>14:39:19</c:v>
                </c:pt>
                <c:pt idx="140">
                  <c:v>14:39:35</c:v>
                </c:pt>
                <c:pt idx="141">
                  <c:v>14:40:19</c:v>
                </c:pt>
                <c:pt idx="142">
                  <c:v>14:40:35</c:v>
                </c:pt>
                <c:pt idx="143">
                  <c:v>14:41:19</c:v>
                </c:pt>
                <c:pt idx="144">
                  <c:v>14:41:35</c:v>
                </c:pt>
                <c:pt idx="145">
                  <c:v>14:42:19</c:v>
                </c:pt>
                <c:pt idx="146">
                  <c:v>14:42:35</c:v>
                </c:pt>
                <c:pt idx="147">
                  <c:v>14:43:19</c:v>
                </c:pt>
                <c:pt idx="148">
                  <c:v>14:43:35</c:v>
                </c:pt>
                <c:pt idx="149">
                  <c:v>14:44:19</c:v>
                </c:pt>
                <c:pt idx="150">
                  <c:v>14:44:35</c:v>
                </c:pt>
                <c:pt idx="151">
                  <c:v>14:45:19</c:v>
                </c:pt>
                <c:pt idx="152">
                  <c:v>14:45:35</c:v>
                </c:pt>
                <c:pt idx="153">
                  <c:v>14:46:19</c:v>
                </c:pt>
                <c:pt idx="154">
                  <c:v>14:46:35</c:v>
                </c:pt>
                <c:pt idx="155">
                  <c:v>14:47:19</c:v>
                </c:pt>
                <c:pt idx="156">
                  <c:v>14:47:36</c:v>
                </c:pt>
                <c:pt idx="157">
                  <c:v>14:48:19</c:v>
                </c:pt>
                <c:pt idx="158">
                  <c:v>14:48:36</c:v>
                </c:pt>
                <c:pt idx="159">
                  <c:v>14:49:19</c:v>
                </c:pt>
                <c:pt idx="160">
                  <c:v>14:49:36</c:v>
                </c:pt>
                <c:pt idx="161">
                  <c:v>14:50:19</c:v>
                </c:pt>
                <c:pt idx="162">
                  <c:v>14:50:36</c:v>
                </c:pt>
              </c:strCache>
            </c:strRef>
          </c:cat>
          <c:val>
            <c:numRef>
              <c:f>Sheet2!$C$3:$C$166</c:f>
              <c:numCache>
                <c:formatCode>General</c:formatCode>
                <c:ptCount val="163"/>
                <c:pt idx="14">
                  <c:v>0</c:v>
                </c:pt>
                <c:pt idx="16">
                  <c:v>4</c:v>
                </c:pt>
                <c:pt idx="18">
                  <c:v>5</c:v>
                </c:pt>
                <c:pt idx="20">
                  <c:v>9</c:v>
                </c:pt>
                <c:pt idx="22">
                  <c:v>10</c:v>
                </c:pt>
                <c:pt idx="24">
                  <c:v>11</c:v>
                </c:pt>
                <c:pt idx="26">
                  <c:v>15</c:v>
                </c:pt>
                <c:pt idx="28">
                  <c:v>16</c:v>
                </c:pt>
                <c:pt idx="30">
                  <c:v>17</c:v>
                </c:pt>
                <c:pt idx="32">
                  <c:v>17</c:v>
                </c:pt>
                <c:pt idx="34">
                  <c:v>25</c:v>
                </c:pt>
                <c:pt idx="36">
                  <c:v>32</c:v>
                </c:pt>
                <c:pt idx="38">
                  <c:v>26</c:v>
                </c:pt>
                <c:pt idx="40">
                  <c:v>25</c:v>
                </c:pt>
                <c:pt idx="42">
                  <c:v>32</c:v>
                </c:pt>
                <c:pt idx="44">
                  <c:v>26</c:v>
                </c:pt>
                <c:pt idx="46">
                  <c:v>29</c:v>
                </c:pt>
                <c:pt idx="48">
                  <c:v>39</c:v>
                </c:pt>
                <c:pt idx="50">
                  <c:v>27</c:v>
                </c:pt>
                <c:pt idx="52">
                  <c:v>33</c:v>
                </c:pt>
                <c:pt idx="54">
                  <c:v>29</c:v>
                </c:pt>
                <c:pt idx="56">
                  <c:v>36</c:v>
                </c:pt>
                <c:pt idx="58">
                  <c:v>31</c:v>
                </c:pt>
                <c:pt idx="60">
                  <c:v>26</c:v>
                </c:pt>
                <c:pt idx="62">
                  <c:v>39</c:v>
                </c:pt>
                <c:pt idx="64">
                  <c:v>34</c:v>
                </c:pt>
                <c:pt idx="66">
                  <c:v>29</c:v>
                </c:pt>
                <c:pt idx="68">
                  <c:v>31</c:v>
                </c:pt>
                <c:pt idx="70">
                  <c:v>37</c:v>
                </c:pt>
                <c:pt idx="72">
                  <c:v>34</c:v>
                </c:pt>
                <c:pt idx="74">
                  <c:v>31</c:v>
                </c:pt>
                <c:pt idx="76">
                  <c:v>35</c:v>
                </c:pt>
                <c:pt idx="78">
                  <c:v>41</c:v>
                </c:pt>
                <c:pt idx="80">
                  <c:v>31</c:v>
                </c:pt>
                <c:pt idx="82">
                  <c:v>33</c:v>
                </c:pt>
                <c:pt idx="84">
                  <c:v>34</c:v>
                </c:pt>
                <c:pt idx="86">
                  <c:v>33</c:v>
                </c:pt>
                <c:pt idx="88">
                  <c:v>33</c:v>
                </c:pt>
                <c:pt idx="90">
                  <c:v>42</c:v>
                </c:pt>
                <c:pt idx="92">
                  <c:v>38</c:v>
                </c:pt>
                <c:pt idx="94">
                  <c:v>30</c:v>
                </c:pt>
                <c:pt idx="96">
                  <c:v>33</c:v>
                </c:pt>
                <c:pt idx="98">
                  <c:v>32</c:v>
                </c:pt>
                <c:pt idx="100">
                  <c:v>32</c:v>
                </c:pt>
                <c:pt idx="102">
                  <c:v>37</c:v>
                </c:pt>
                <c:pt idx="104">
                  <c:v>48</c:v>
                </c:pt>
                <c:pt idx="106">
                  <c:v>41</c:v>
                </c:pt>
                <c:pt idx="108">
                  <c:v>37</c:v>
                </c:pt>
                <c:pt idx="110">
                  <c:v>35</c:v>
                </c:pt>
                <c:pt idx="112">
                  <c:v>33</c:v>
                </c:pt>
                <c:pt idx="114">
                  <c:v>35</c:v>
                </c:pt>
                <c:pt idx="116">
                  <c:v>36</c:v>
                </c:pt>
                <c:pt idx="118">
                  <c:v>43</c:v>
                </c:pt>
                <c:pt idx="120">
                  <c:v>37</c:v>
                </c:pt>
                <c:pt idx="122">
                  <c:v>40</c:v>
                </c:pt>
                <c:pt idx="124">
                  <c:v>39</c:v>
                </c:pt>
                <c:pt idx="126">
                  <c:v>34</c:v>
                </c:pt>
                <c:pt idx="128">
                  <c:v>29</c:v>
                </c:pt>
                <c:pt idx="130">
                  <c:v>35</c:v>
                </c:pt>
                <c:pt idx="132">
                  <c:v>38</c:v>
                </c:pt>
                <c:pt idx="134">
                  <c:v>37</c:v>
                </c:pt>
                <c:pt idx="136">
                  <c:v>41</c:v>
                </c:pt>
                <c:pt idx="138">
                  <c:v>40</c:v>
                </c:pt>
                <c:pt idx="140">
                  <c:v>31</c:v>
                </c:pt>
                <c:pt idx="142">
                  <c:v>29</c:v>
                </c:pt>
                <c:pt idx="144">
                  <c:v>31</c:v>
                </c:pt>
                <c:pt idx="146">
                  <c:v>37</c:v>
                </c:pt>
                <c:pt idx="148">
                  <c:v>40</c:v>
                </c:pt>
                <c:pt idx="150">
                  <c:v>41</c:v>
                </c:pt>
                <c:pt idx="152">
                  <c:v>39</c:v>
                </c:pt>
                <c:pt idx="154">
                  <c:v>30</c:v>
                </c:pt>
                <c:pt idx="156">
                  <c:v>28</c:v>
                </c:pt>
                <c:pt idx="158">
                  <c:v>33</c:v>
                </c:pt>
                <c:pt idx="160">
                  <c:v>33</c:v>
                </c:pt>
                <c:pt idx="162">
                  <c:v>24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076800"/>
        <c:axId val="36962304"/>
      </c:lineChart>
      <c:catAx>
        <c:axId val="40076800"/>
        <c:scaling>
          <c:orientation val="minMax"/>
        </c:scaling>
        <c:delete val="0"/>
        <c:axPos val="b"/>
        <c:majorTickMark val="none"/>
        <c:minorTickMark val="none"/>
        <c:tickLblPos val="nextTo"/>
        <c:crossAx val="36962304"/>
        <c:crosses val="autoZero"/>
        <c:auto val="1"/>
        <c:lblAlgn val="ctr"/>
        <c:lblOffset val="100"/>
        <c:noMultiLvlLbl val="0"/>
      </c:catAx>
      <c:valAx>
        <c:axId val="36962304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Users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crossAx val="40076800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54645096635647816"/>
          <c:y val="2.3795567220764039E-2"/>
          <c:w val="0.43469381478830305"/>
          <c:h val="0.16525627004957713"/>
        </c:manualLayout>
      </c:layout>
      <c:overlay val="0"/>
    </c:legend>
    <c:plotVisOnly val="1"/>
    <c:dispBlanksAs val="gap"/>
    <c:showDLblsOverMax val="0"/>
  </c:chart>
  <c:externalData r:id="rId2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/>
              <a:t>Total</a:t>
            </a:r>
            <a:r>
              <a:rPr lang="en-US" baseline="0" dirty="0"/>
              <a:t> time for all SQLs - execution time</a:t>
            </a:r>
            <a:endParaRPr lang="en-US" dirty="0"/>
          </a:p>
        </c:rich>
      </c:tx>
      <c:layout>
        <c:manualLayout>
          <c:xMode val="edge"/>
          <c:yMode val="edge"/>
          <c:x val="3.0223841422807228E-2"/>
          <c:y val="2.7777777777777776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8.1703137854036906E-2"/>
          <c:y val="0.19480351414406533"/>
          <c:w val="0.89024640576644343"/>
          <c:h val="0.5696562408865558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AggLoadSummary!$J$1</c:f>
              <c:strCache>
                <c:ptCount val="1"/>
                <c:pt idx="0">
                  <c:v>SQL Execution Time</c:v>
                </c:pt>
              </c:strCache>
            </c:strRef>
          </c:tx>
          <c:spPr>
            <a:solidFill>
              <a:srgbClr val="C00000"/>
            </a:solidFill>
            <a:ln>
              <a:solidFill>
                <a:srgbClr val="C00000"/>
              </a:solidFill>
            </a:ln>
          </c:spPr>
          <c:invertIfNegative val="0"/>
          <c:cat>
            <c:strRef>
              <c:f>AggLoadSummary!$C$2:$C$97</c:f>
              <c:strCache>
                <c:ptCount val="96"/>
                <c:pt idx="0">
                  <c:v> 13:25:00</c:v>
                </c:pt>
                <c:pt idx="1">
                  <c:v> 13:26:00</c:v>
                </c:pt>
                <c:pt idx="2">
                  <c:v> 13:27:00</c:v>
                </c:pt>
                <c:pt idx="3">
                  <c:v> 13:28:00</c:v>
                </c:pt>
                <c:pt idx="4">
                  <c:v> 13:29:00</c:v>
                </c:pt>
                <c:pt idx="5">
                  <c:v> 13:30:00</c:v>
                </c:pt>
                <c:pt idx="6">
                  <c:v> 13:31:00</c:v>
                </c:pt>
                <c:pt idx="7">
                  <c:v> 13:32:00</c:v>
                </c:pt>
                <c:pt idx="8">
                  <c:v> 13:33:00</c:v>
                </c:pt>
                <c:pt idx="9">
                  <c:v> 13:34:00</c:v>
                </c:pt>
                <c:pt idx="10">
                  <c:v> 13:35:00</c:v>
                </c:pt>
                <c:pt idx="11">
                  <c:v> 13:36:00</c:v>
                </c:pt>
                <c:pt idx="12">
                  <c:v> 13:37:00</c:v>
                </c:pt>
                <c:pt idx="13">
                  <c:v> 13:38:00</c:v>
                </c:pt>
                <c:pt idx="14">
                  <c:v> 13:39:00</c:v>
                </c:pt>
                <c:pt idx="15">
                  <c:v> 13:40:00</c:v>
                </c:pt>
                <c:pt idx="16">
                  <c:v> 13:41:00</c:v>
                </c:pt>
                <c:pt idx="17">
                  <c:v> 13:42:00</c:v>
                </c:pt>
                <c:pt idx="18">
                  <c:v> 13:43:00</c:v>
                </c:pt>
                <c:pt idx="19">
                  <c:v> 13:44:00</c:v>
                </c:pt>
                <c:pt idx="20">
                  <c:v> 13:45:00</c:v>
                </c:pt>
                <c:pt idx="21">
                  <c:v> 13:46:00</c:v>
                </c:pt>
                <c:pt idx="22">
                  <c:v> 13:47:00</c:v>
                </c:pt>
                <c:pt idx="23">
                  <c:v> 13:48:00</c:v>
                </c:pt>
                <c:pt idx="24">
                  <c:v> 13:49:00</c:v>
                </c:pt>
                <c:pt idx="25">
                  <c:v> 13:50:00</c:v>
                </c:pt>
                <c:pt idx="26">
                  <c:v> 13:51:00</c:v>
                </c:pt>
                <c:pt idx="27">
                  <c:v> 13:52:00</c:v>
                </c:pt>
                <c:pt idx="28">
                  <c:v> 13:53:00</c:v>
                </c:pt>
                <c:pt idx="29">
                  <c:v> 13:54:00</c:v>
                </c:pt>
                <c:pt idx="30">
                  <c:v> 13:55:00</c:v>
                </c:pt>
                <c:pt idx="31">
                  <c:v> 13:56:00</c:v>
                </c:pt>
                <c:pt idx="32">
                  <c:v> 13:57:00</c:v>
                </c:pt>
                <c:pt idx="33">
                  <c:v> 13:58:00</c:v>
                </c:pt>
                <c:pt idx="34">
                  <c:v> 13:59:00</c:v>
                </c:pt>
                <c:pt idx="35">
                  <c:v> 14:00:00</c:v>
                </c:pt>
                <c:pt idx="36">
                  <c:v> 14:01:00</c:v>
                </c:pt>
                <c:pt idx="37">
                  <c:v> 14:02:00</c:v>
                </c:pt>
                <c:pt idx="38">
                  <c:v> 14:03:00</c:v>
                </c:pt>
                <c:pt idx="39">
                  <c:v> 14:04:00</c:v>
                </c:pt>
                <c:pt idx="40">
                  <c:v> 14:05:00</c:v>
                </c:pt>
                <c:pt idx="41">
                  <c:v> 14:06:00</c:v>
                </c:pt>
                <c:pt idx="42">
                  <c:v> 14:07:00</c:v>
                </c:pt>
                <c:pt idx="43">
                  <c:v> 14:08:00</c:v>
                </c:pt>
                <c:pt idx="44">
                  <c:v> 14:09:00</c:v>
                </c:pt>
                <c:pt idx="45">
                  <c:v> 14:10:00</c:v>
                </c:pt>
                <c:pt idx="46">
                  <c:v> 14:11:00</c:v>
                </c:pt>
                <c:pt idx="47">
                  <c:v> 14:12:00</c:v>
                </c:pt>
                <c:pt idx="48">
                  <c:v> 14:13:00</c:v>
                </c:pt>
                <c:pt idx="49">
                  <c:v> 14:14:00</c:v>
                </c:pt>
                <c:pt idx="50">
                  <c:v> 14:15:00</c:v>
                </c:pt>
                <c:pt idx="51">
                  <c:v> 14:16:00</c:v>
                </c:pt>
                <c:pt idx="52">
                  <c:v> 14:17:00</c:v>
                </c:pt>
                <c:pt idx="53">
                  <c:v> 14:18:00</c:v>
                </c:pt>
                <c:pt idx="54">
                  <c:v> 14:19:00</c:v>
                </c:pt>
                <c:pt idx="55">
                  <c:v> 14:20:00</c:v>
                </c:pt>
                <c:pt idx="56">
                  <c:v> 14:21:00</c:v>
                </c:pt>
                <c:pt idx="57">
                  <c:v> 14:22:00</c:v>
                </c:pt>
                <c:pt idx="58">
                  <c:v> 14:23:00</c:v>
                </c:pt>
                <c:pt idx="59">
                  <c:v> 14:24:00</c:v>
                </c:pt>
                <c:pt idx="60">
                  <c:v> 14:25:00</c:v>
                </c:pt>
                <c:pt idx="61">
                  <c:v> 14:26:00</c:v>
                </c:pt>
                <c:pt idx="62">
                  <c:v> 14:27:00</c:v>
                </c:pt>
                <c:pt idx="63">
                  <c:v> 14:28:00</c:v>
                </c:pt>
                <c:pt idx="64">
                  <c:v> 14:29:00</c:v>
                </c:pt>
                <c:pt idx="65">
                  <c:v> 14:30:00</c:v>
                </c:pt>
                <c:pt idx="66">
                  <c:v> 14:31:00</c:v>
                </c:pt>
                <c:pt idx="67">
                  <c:v> 14:32:00</c:v>
                </c:pt>
                <c:pt idx="68">
                  <c:v> 14:33:00</c:v>
                </c:pt>
                <c:pt idx="69">
                  <c:v> 14:34:00</c:v>
                </c:pt>
                <c:pt idx="70">
                  <c:v> 14:35:00</c:v>
                </c:pt>
                <c:pt idx="71">
                  <c:v> 14:36:00</c:v>
                </c:pt>
                <c:pt idx="72">
                  <c:v> 14:37:00</c:v>
                </c:pt>
                <c:pt idx="73">
                  <c:v> 14:38:00</c:v>
                </c:pt>
                <c:pt idx="74">
                  <c:v> 14:39:00</c:v>
                </c:pt>
                <c:pt idx="75">
                  <c:v> 14:40:00</c:v>
                </c:pt>
                <c:pt idx="76">
                  <c:v> 14:41:00</c:v>
                </c:pt>
                <c:pt idx="77">
                  <c:v> 14:42:00</c:v>
                </c:pt>
                <c:pt idx="78">
                  <c:v> 14:43:00</c:v>
                </c:pt>
                <c:pt idx="79">
                  <c:v> 14:44:00</c:v>
                </c:pt>
                <c:pt idx="80">
                  <c:v> 14:45:00</c:v>
                </c:pt>
                <c:pt idx="81">
                  <c:v> 14:46:00</c:v>
                </c:pt>
                <c:pt idx="82">
                  <c:v> 14:47:00</c:v>
                </c:pt>
                <c:pt idx="83">
                  <c:v> 14:48:00</c:v>
                </c:pt>
                <c:pt idx="84">
                  <c:v> 14:49:00</c:v>
                </c:pt>
                <c:pt idx="85">
                  <c:v> 14:50:00</c:v>
                </c:pt>
                <c:pt idx="86">
                  <c:v> 14:51:00</c:v>
                </c:pt>
                <c:pt idx="87">
                  <c:v> 14:52:00</c:v>
                </c:pt>
                <c:pt idx="88">
                  <c:v> 14:53:00</c:v>
                </c:pt>
                <c:pt idx="89">
                  <c:v> 14:54:00</c:v>
                </c:pt>
                <c:pt idx="90">
                  <c:v> 14:55:00</c:v>
                </c:pt>
                <c:pt idx="91">
                  <c:v> 14:56:00</c:v>
                </c:pt>
                <c:pt idx="92">
                  <c:v> 14:57:00</c:v>
                </c:pt>
                <c:pt idx="93">
                  <c:v> 14:58:00</c:v>
                </c:pt>
                <c:pt idx="94">
                  <c:v> 14:59:00</c:v>
                </c:pt>
                <c:pt idx="95">
                  <c:v> 15:00:00</c:v>
                </c:pt>
              </c:strCache>
            </c:strRef>
          </c:cat>
          <c:val>
            <c:numRef>
              <c:f>AggLoadSummary!$J$2:$J$97</c:f>
              <c:numCache>
                <c:formatCode>General</c:formatCode>
                <c:ptCount val="96"/>
                <c:pt idx="0">
                  <c:v>3.5000000000000003E-2</c:v>
                </c:pt>
                <c:pt idx="1">
                  <c:v>5.8000000000000003E-2</c:v>
                </c:pt>
                <c:pt idx="2">
                  <c:v>7.1999999999999995E-2</c:v>
                </c:pt>
                <c:pt idx="3">
                  <c:v>5.7000000000000002E-2</c:v>
                </c:pt>
                <c:pt idx="4">
                  <c:v>5.1999999999999998E-2</c:v>
                </c:pt>
                <c:pt idx="5">
                  <c:v>6.6000000000000003E-2</c:v>
                </c:pt>
                <c:pt idx="6">
                  <c:v>2.5999999999999999E-2</c:v>
                </c:pt>
                <c:pt idx="7">
                  <c:v>4.5999999999999999E-2</c:v>
                </c:pt>
                <c:pt idx="8">
                  <c:v>7.1999999999999995E-2</c:v>
                </c:pt>
                <c:pt idx="9">
                  <c:v>3.98</c:v>
                </c:pt>
                <c:pt idx="10">
                  <c:v>5.5E-2</c:v>
                </c:pt>
                <c:pt idx="11">
                  <c:v>0.08</c:v>
                </c:pt>
                <c:pt idx="12">
                  <c:v>13.493</c:v>
                </c:pt>
                <c:pt idx="13">
                  <c:v>7.1619999999999999</c:v>
                </c:pt>
                <c:pt idx="14">
                  <c:v>18.498000000000001</c:v>
                </c:pt>
                <c:pt idx="15">
                  <c:v>6.7480000000000002</c:v>
                </c:pt>
                <c:pt idx="16">
                  <c:v>8.4459999999999997</c:v>
                </c:pt>
                <c:pt idx="17">
                  <c:v>8.8010000000000002</c:v>
                </c:pt>
                <c:pt idx="18">
                  <c:v>11.629</c:v>
                </c:pt>
                <c:pt idx="19">
                  <c:v>12.662000000000001</c:v>
                </c:pt>
                <c:pt idx="20">
                  <c:v>16.486999999999998</c:v>
                </c:pt>
                <c:pt idx="21">
                  <c:v>21.835999999999999</c:v>
                </c:pt>
                <c:pt idx="22">
                  <c:v>25.175999999999998</c:v>
                </c:pt>
                <c:pt idx="23">
                  <c:v>27.044</c:v>
                </c:pt>
                <c:pt idx="24">
                  <c:v>26.951000000000001</c:v>
                </c:pt>
                <c:pt idx="25">
                  <c:v>32.771000000000001</c:v>
                </c:pt>
                <c:pt idx="26">
                  <c:v>35.81</c:v>
                </c:pt>
                <c:pt idx="27">
                  <c:v>36.497</c:v>
                </c:pt>
                <c:pt idx="28">
                  <c:v>36.546999999999997</c:v>
                </c:pt>
                <c:pt idx="29">
                  <c:v>28.983000000000001</c:v>
                </c:pt>
                <c:pt idx="30">
                  <c:v>36.575000000000003</c:v>
                </c:pt>
                <c:pt idx="31">
                  <c:v>35.043999999999997</c:v>
                </c:pt>
                <c:pt idx="32">
                  <c:v>34.927999999999997</c:v>
                </c:pt>
                <c:pt idx="33">
                  <c:v>35.238999999999997</c:v>
                </c:pt>
                <c:pt idx="34">
                  <c:v>30.759</c:v>
                </c:pt>
                <c:pt idx="35">
                  <c:v>52.401000000000003</c:v>
                </c:pt>
                <c:pt idx="36">
                  <c:v>39.984999999999999</c:v>
                </c:pt>
                <c:pt idx="37">
                  <c:v>41.174999999999997</c:v>
                </c:pt>
                <c:pt idx="38">
                  <c:v>46.216000000000001</c:v>
                </c:pt>
                <c:pt idx="39">
                  <c:v>37.954999999999998</c:v>
                </c:pt>
                <c:pt idx="40">
                  <c:v>36.792999999999999</c:v>
                </c:pt>
                <c:pt idx="41">
                  <c:v>32.118000000000002</c:v>
                </c:pt>
                <c:pt idx="42">
                  <c:v>30.338000000000001</c:v>
                </c:pt>
                <c:pt idx="43">
                  <c:v>33.554000000000002</c:v>
                </c:pt>
                <c:pt idx="44">
                  <c:v>27.135000000000002</c:v>
                </c:pt>
                <c:pt idx="45">
                  <c:v>34.444000000000003</c:v>
                </c:pt>
                <c:pt idx="46">
                  <c:v>38.325000000000003</c:v>
                </c:pt>
                <c:pt idx="47">
                  <c:v>44.347000000000001</c:v>
                </c:pt>
                <c:pt idx="48">
                  <c:v>38.182000000000002</c:v>
                </c:pt>
                <c:pt idx="49">
                  <c:v>38.823999999999998</c:v>
                </c:pt>
                <c:pt idx="50">
                  <c:v>38.899000000000001</c:v>
                </c:pt>
                <c:pt idx="51">
                  <c:v>38</c:v>
                </c:pt>
                <c:pt idx="52">
                  <c:v>43.923000000000002</c:v>
                </c:pt>
                <c:pt idx="53">
                  <c:v>41.789000000000001</c:v>
                </c:pt>
                <c:pt idx="54">
                  <c:v>52.256</c:v>
                </c:pt>
                <c:pt idx="55">
                  <c:v>46.045000000000002</c:v>
                </c:pt>
                <c:pt idx="56">
                  <c:v>40.884999999999998</c:v>
                </c:pt>
                <c:pt idx="57">
                  <c:v>40.268999999999998</c:v>
                </c:pt>
                <c:pt idx="58">
                  <c:v>44.237000000000002</c:v>
                </c:pt>
                <c:pt idx="59">
                  <c:v>44.695</c:v>
                </c:pt>
                <c:pt idx="60">
                  <c:v>38.534999999999997</c:v>
                </c:pt>
                <c:pt idx="61">
                  <c:v>35.037999999999997</c:v>
                </c:pt>
                <c:pt idx="62">
                  <c:v>38.155000000000001</c:v>
                </c:pt>
                <c:pt idx="63">
                  <c:v>44.393999999999998</c:v>
                </c:pt>
                <c:pt idx="64">
                  <c:v>45.994999999999997</c:v>
                </c:pt>
                <c:pt idx="65">
                  <c:v>39.634999999999998</c:v>
                </c:pt>
                <c:pt idx="66">
                  <c:v>39.454000000000001</c:v>
                </c:pt>
                <c:pt idx="67">
                  <c:v>42.722999999999999</c:v>
                </c:pt>
                <c:pt idx="68">
                  <c:v>41.31</c:v>
                </c:pt>
                <c:pt idx="69">
                  <c:v>43.624000000000002</c:v>
                </c:pt>
                <c:pt idx="70">
                  <c:v>45.012999999999998</c:v>
                </c:pt>
                <c:pt idx="71">
                  <c:v>40.103000000000002</c:v>
                </c:pt>
                <c:pt idx="72">
                  <c:v>39.764000000000003</c:v>
                </c:pt>
                <c:pt idx="73">
                  <c:v>38.515000000000001</c:v>
                </c:pt>
                <c:pt idx="74">
                  <c:v>41.302</c:v>
                </c:pt>
                <c:pt idx="75">
                  <c:v>45.652000000000001</c:v>
                </c:pt>
                <c:pt idx="76">
                  <c:v>38.200000000000003</c:v>
                </c:pt>
                <c:pt idx="77">
                  <c:v>36.878999999999998</c:v>
                </c:pt>
                <c:pt idx="78">
                  <c:v>40.808</c:v>
                </c:pt>
                <c:pt idx="79">
                  <c:v>39.865000000000002</c:v>
                </c:pt>
                <c:pt idx="80">
                  <c:v>38.470999999999997</c:v>
                </c:pt>
                <c:pt idx="81">
                  <c:v>41.106999999999999</c:v>
                </c:pt>
                <c:pt idx="82">
                  <c:v>41.792000000000002</c:v>
                </c:pt>
                <c:pt idx="83">
                  <c:v>43.79</c:v>
                </c:pt>
                <c:pt idx="84">
                  <c:v>40.621000000000002</c:v>
                </c:pt>
                <c:pt idx="85">
                  <c:v>15.696999999999999</c:v>
                </c:pt>
                <c:pt idx="86">
                  <c:v>4.2999999999999997E-2</c:v>
                </c:pt>
                <c:pt idx="87">
                  <c:v>0.05</c:v>
                </c:pt>
                <c:pt idx="88">
                  <c:v>0.05</c:v>
                </c:pt>
                <c:pt idx="89">
                  <c:v>0.04</c:v>
                </c:pt>
                <c:pt idx="90">
                  <c:v>4.2999999999999997E-2</c:v>
                </c:pt>
                <c:pt idx="91">
                  <c:v>3.5999999999999997E-2</c:v>
                </c:pt>
                <c:pt idx="92">
                  <c:v>4.2999999999999997E-2</c:v>
                </c:pt>
                <c:pt idx="93">
                  <c:v>3.3000000000000002E-2</c:v>
                </c:pt>
                <c:pt idx="94">
                  <c:v>5.7000000000000002E-2</c:v>
                </c:pt>
                <c:pt idx="95">
                  <c:v>7.2999999999999995E-2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5113984"/>
        <c:axId val="85234176"/>
      </c:barChart>
      <c:catAx>
        <c:axId val="155113984"/>
        <c:scaling>
          <c:orientation val="minMax"/>
        </c:scaling>
        <c:delete val="0"/>
        <c:axPos val="b"/>
        <c:majorTickMark val="out"/>
        <c:minorTickMark val="none"/>
        <c:tickLblPos val="nextTo"/>
        <c:crossAx val="85234176"/>
        <c:crosses val="autoZero"/>
        <c:auto val="1"/>
        <c:lblAlgn val="ctr"/>
        <c:lblOffset val="100"/>
        <c:noMultiLvlLbl val="0"/>
      </c:catAx>
      <c:valAx>
        <c:axId val="85234176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Total time in sec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5511398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0329282720256969"/>
          <c:y val="2.98428842228055E-2"/>
          <c:w val="0.27481662553374858"/>
          <c:h val="8.3717191601049873E-2"/>
        </c:manualLayout>
      </c:layout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SQL Execution Time vis</a:t>
            </a:r>
            <a:r>
              <a:rPr lang="en-US" baseline="0"/>
              <a:t> a vis load</a:t>
            </a:r>
            <a:endParaRPr lang="en-US"/>
          </a:p>
        </c:rich>
      </c:tx>
      <c:layout>
        <c:manualLayout>
          <c:xMode val="edge"/>
          <c:yMode val="edge"/>
          <c:x val="5.430120148024975E-2"/>
          <c:y val="3.7037037037037035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5.3655956048972137E-2"/>
          <c:y val="0.16702573636628754"/>
          <c:w val="0.90767952918928607"/>
          <c:h val="0.71699438611840183"/>
        </c:manualLayout>
      </c:layout>
      <c:scatterChart>
        <c:scatterStyle val="lineMarker"/>
        <c:varyColors val="0"/>
        <c:ser>
          <c:idx val="0"/>
          <c:order val="0"/>
          <c:tx>
            <c:strRef>
              <c:f>AggLoadSummary!$J$1</c:f>
              <c:strCache>
                <c:ptCount val="1"/>
                <c:pt idx="0">
                  <c:v>SQL Execution Time</c:v>
                </c:pt>
              </c:strCache>
            </c:strRef>
          </c:tx>
          <c:spPr>
            <a:ln w="28575">
              <a:noFill/>
            </a:ln>
          </c:spPr>
          <c:marker>
            <c:spPr>
              <a:solidFill>
                <a:srgbClr val="C00000"/>
              </a:solidFill>
            </c:spPr>
          </c:marker>
          <c:trendline>
            <c:trendlineType val="linear"/>
            <c:dispRSqr val="0"/>
            <c:dispEq val="0"/>
          </c:trendline>
          <c:xVal>
            <c:numRef>
              <c:f>AggLoadSummary!$D$2:$D$97</c:f>
              <c:numCache>
                <c:formatCode>General</c:formatCode>
                <c:ptCount val="96"/>
                <c:pt idx="0">
                  <c:v>15</c:v>
                </c:pt>
                <c:pt idx="1">
                  <c:v>21</c:v>
                </c:pt>
                <c:pt idx="2">
                  <c:v>28</c:v>
                </c:pt>
                <c:pt idx="3">
                  <c:v>20</c:v>
                </c:pt>
                <c:pt idx="4">
                  <c:v>20</c:v>
                </c:pt>
                <c:pt idx="5">
                  <c:v>26</c:v>
                </c:pt>
                <c:pt idx="6">
                  <c:v>12</c:v>
                </c:pt>
                <c:pt idx="7">
                  <c:v>23</c:v>
                </c:pt>
                <c:pt idx="8">
                  <c:v>33</c:v>
                </c:pt>
                <c:pt idx="9">
                  <c:v>611</c:v>
                </c:pt>
                <c:pt idx="10">
                  <c:v>26</c:v>
                </c:pt>
                <c:pt idx="11">
                  <c:v>32</c:v>
                </c:pt>
                <c:pt idx="12">
                  <c:v>856</c:v>
                </c:pt>
                <c:pt idx="13">
                  <c:v>1317</c:v>
                </c:pt>
                <c:pt idx="14">
                  <c:v>1276</c:v>
                </c:pt>
                <c:pt idx="15">
                  <c:v>1427</c:v>
                </c:pt>
                <c:pt idx="16">
                  <c:v>1450</c:v>
                </c:pt>
                <c:pt idx="17">
                  <c:v>1723</c:v>
                </c:pt>
                <c:pt idx="18">
                  <c:v>2127</c:v>
                </c:pt>
                <c:pt idx="19">
                  <c:v>2457</c:v>
                </c:pt>
                <c:pt idx="20">
                  <c:v>3009</c:v>
                </c:pt>
                <c:pt idx="21">
                  <c:v>3661</c:v>
                </c:pt>
                <c:pt idx="22">
                  <c:v>4237</c:v>
                </c:pt>
                <c:pt idx="23">
                  <c:v>4583</c:v>
                </c:pt>
                <c:pt idx="24">
                  <c:v>4754</c:v>
                </c:pt>
                <c:pt idx="25">
                  <c:v>5561</c:v>
                </c:pt>
                <c:pt idx="26">
                  <c:v>5765</c:v>
                </c:pt>
                <c:pt idx="27">
                  <c:v>6336</c:v>
                </c:pt>
                <c:pt idx="28">
                  <c:v>6688</c:v>
                </c:pt>
                <c:pt idx="29">
                  <c:v>5755</c:v>
                </c:pt>
                <c:pt idx="30">
                  <c:v>6404</c:v>
                </c:pt>
                <c:pt idx="31">
                  <c:v>6380</c:v>
                </c:pt>
                <c:pt idx="32">
                  <c:v>6531</c:v>
                </c:pt>
                <c:pt idx="33">
                  <c:v>6219</c:v>
                </c:pt>
                <c:pt idx="34">
                  <c:v>5779</c:v>
                </c:pt>
                <c:pt idx="35">
                  <c:v>7058</c:v>
                </c:pt>
                <c:pt idx="36">
                  <c:v>7245</c:v>
                </c:pt>
                <c:pt idx="37">
                  <c:v>7899</c:v>
                </c:pt>
                <c:pt idx="38">
                  <c:v>7565</c:v>
                </c:pt>
                <c:pt idx="39">
                  <c:v>6873</c:v>
                </c:pt>
                <c:pt idx="40">
                  <c:v>6489</c:v>
                </c:pt>
                <c:pt idx="41">
                  <c:v>5954</c:v>
                </c:pt>
                <c:pt idx="42">
                  <c:v>6328</c:v>
                </c:pt>
                <c:pt idx="43">
                  <c:v>6207</c:v>
                </c:pt>
                <c:pt idx="44">
                  <c:v>5695</c:v>
                </c:pt>
                <c:pt idx="45">
                  <c:v>7120</c:v>
                </c:pt>
                <c:pt idx="46">
                  <c:v>6793</c:v>
                </c:pt>
                <c:pt idx="47">
                  <c:v>7342</c:v>
                </c:pt>
                <c:pt idx="48">
                  <c:v>6724</c:v>
                </c:pt>
                <c:pt idx="49">
                  <c:v>7051</c:v>
                </c:pt>
                <c:pt idx="50">
                  <c:v>7258</c:v>
                </c:pt>
                <c:pt idx="51">
                  <c:v>6464</c:v>
                </c:pt>
                <c:pt idx="52">
                  <c:v>7099</c:v>
                </c:pt>
                <c:pt idx="53">
                  <c:v>7715</c:v>
                </c:pt>
                <c:pt idx="54">
                  <c:v>7761</c:v>
                </c:pt>
                <c:pt idx="55">
                  <c:v>7164</c:v>
                </c:pt>
                <c:pt idx="56">
                  <c:v>6848</c:v>
                </c:pt>
                <c:pt idx="57">
                  <c:v>6887</c:v>
                </c:pt>
                <c:pt idx="58">
                  <c:v>7623</c:v>
                </c:pt>
                <c:pt idx="59">
                  <c:v>7212</c:v>
                </c:pt>
                <c:pt idx="60">
                  <c:v>7169</c:v>
                </c:pt>
                <c:pt idx="61">
                  <c:v>6609</c:v>
                </c:pt>
                <c:pt idx="62">
                  <c:v>6953</c:v>
                </c:pt>
                <c:pt idx="63">
                  <c:v>7294</c:v>
                </c:pt>
                <c:pt idx="64">
                  <c:v>7313</c:v>
                </c:pt>
                <c:pt idx="65">
                  <c:v>7116</c:v>
                </c:pt>
                <c:pt idx="66">
                  <c:v>7048</c:v>
                </c:pt>
                <c:pt idx="67">
                  <c:v>7543</c:v>
                </c:pt>
                <c:pt idx="68">
                  <c:v>7197</c:v>
                </c:pt>
                <c:pt idx="69">
                  <c:v>7207</c:v>
                </c:pt>
                <c:pt idx="70">
                  <c:v>7418</c:v>
                </c:pt>
                <c:pt idx="71">
                  <c:v>7363</c:v>
                </c:pt>
                <c:pt idx="72">
                  <c:v>7099</c:v>
                </c:pt>
                <c:pt idx="73">
                  <c:v>7092</c:v>
                </c:pt>
                <c:pt idx="74">
                  <c:v>7350</c:v>
                </c:pt>
                <c:pt idx="75">
                  <c:v>7316</c:v>
                </c:pt>
                <c:pt idx="76">
                  <c:v>7288</c:v>
                </c:pt>
                <c:pt idx="77">
                  <c:v>6740</c:v>
                </c:pt>
                <c:pt idx="78">
                  <c:v>6801</c:v>
                </c:pt>
                <c:pt idx="79">
                  <c:v>6880</c:v>
                </c:pt>
                <c:pt idx="80">
                  <c:v>6771</c:v>
                </c:pt>
                <c:pt idx="81">
                  <c:v>7686</c:v>
                </c:pt>
                <c:pt idx="82">
                  <c:v>7572</c:v>
                </c:pt>
                <c:pt idx="83">
                  <c:v>7325</c:v>
                </c:pt>
                <c:pt idx="84">
                  <c:v>7364</c:v>
                </c:pt>
                <c:pt idx="85">
                  <c:v>2987</c:v>
                </c:pt>
                <c:pt idx="86">
                  <c:v>19</c:v>
                </c:pt>
                <c:pt idx="87">
                  <c:v>23</c:v>
                </c:pt>
                <c:pt idx="88">
                  <c:v>23</c:v>
                </c:pt>
                <c:pt idx="89">
                  <c:v>20</c:v>
                </c:pt>
                <c:pt idx="90">
                  <c:v>21</c:v>
                </c:pt>
                <c:pt idx="91">
                  <c:v>17</c:v>
                </c:pt>
                <c:pt idx="92">
                  <c:v>20</c:v>
                </c:pt>
                <c:pt idx="93">
                  <c:v>16</c:v>
                </c:pt>
                <c:pt idx="94">
                  <c:v>25</c:v>
                </c:pt>
                <c:pt idx="95">
                  <c:v>29</c:v>
                </c:pt>
              </c:numCache>
            </c:numRef>
          </c:xVal>
          <c:yVal>
            <c:numRef>
              <c:f>AggLoadSummary!$J$2:$J$97</c:f>
              <c:numCache>
                <c:formatCode>General</c:formatCode>
                <c:ptCount val="96"/>
                <c:pt idx="0">
                  <c:v>3.5000000000000003E-2</c:v>
                </c:pt>
                <c:pt idx="1">
                  <c:v>5.8000000000000003E-2</c:v>
                </c:pt>
                <c:pt idx="2">
                  <c:v>7.1999999999999995E-2</c:v>
                </c:pt>
                <c:pt idx="3">
                  <c:v>5.7000000000000002E-2</c:v>
                </c:pt>
                <c:pt idx="4">
                  <c:v>5.1999999999999998E-2</c:v>
                </c:pt>
                <c:pt idx="5">
                  <c:v>6.6000000000000003E-2</c:v>
                </c:pt>
                <c:pt idx="6">
                  <c:v>2.5999999999999999E-2</c:v>
                </c:pt>
                <c:pt idx="7">
                  <c:v>4.5999999999999999E-2</c:v>
                </c:pt>
                <c:pt idx="8">
                  <c:v>7.1999999999999995E-2</c:v>
                </c:pt>
                <c:pt idx="9">
                  <c:v>3.98</c:v>
                </c:pt>
                <c:pt idx="10">
                  <c:v>5.5E-2</c:v>
                </c:pt>
                <c:pt idx="11">
                  <c:v>0.08</c:v>
                </c:pt>
                <c:pt idx="12">
                  <c:v>13.493</c:v>
                </c:pt>
                <c:pt idx="13">
                  <c:v>7.1619999999999999</c:v>
                </c:pt>
                <c:pt idx="14">
                  <c:v>18.498000000000001</c:v>
                </c:pt>
                <c:pt idx="15">
                  <c:v>6.7480000000000002</c:v>
                </c:pt>
                <c:pt idx="16">
                  <c:v>8.4459999999999997</c:v>
                </c:pt>
                <c:pt idx="17">
                  <c:v>8.8010000000000002</c:v>
                </c:pt>
                <c:pt idx="18">
                  <c:v>11.629</c:v>
                </c:pt>
                <c:pt idx="19">
                  <c:v>12.662000000000001</c:v>
                </c:pt>
                <c:pt idx="20">
                  <c:v>16.486999999999998</c:v>
                </c:pt>
                <c:pt idx="21">
                  <c:v>21.835999999999999</c:v>
                </c:pt>
                <c:pt idx="22">
                  <c:v>25.175999999999998</c:v>
                </c:pt>
                <c:pt idx="23">
                  <c:v>27.044</c:v>
                </c:pt>
                <c:pt idx="24">
                  <c:v>26.951000000000001</c:v>
                </c:pt>
                <c:pt idx="25">
                  <c:v>32.771000000000001</c:v>
                </c:pt>
                <c:pt idx="26">
                  <c:v>35.81</c:v>
                </c:pt>
                <c:pt idx="27">
                  <c:v>36.497</c:v>
                </c:pt>
                <c:pt idx="28">
                  <c:v>36.546999999999997</c:v>
                </c:pt>
                <c:pt idx="29">
                  <c:v>28.983000000000001</c:v>
                </c:pt>
                <c:pt idx="30">
                  <c:v>36.575000000000003</c:v>
                </c:pt>
                <c:pt idx="31">
                  <c:v>35.043999999999997</c:v>
                </c:pt>
                <c:pt idx="32">
                  <c:v>34.927999999999997</c:v>
                </c:pt>
                <c:pt idx="33">
                  <c:v>35.238999999999997</c:v>
                </c:pt>
                <c:pt idx="34">
                  <c:v>30.759</c:v>
                </c:pt>
                <c:pt idx="35">
                  <c:v>52.401000000000003</c:v>
                </c:pt>
                <c:pt idx="36">
                  <c:v>39.984999999999999</c:v>
                </c:pt>
                <c:pt idx="37">
                  <c:v>41.174999999999997</c:v>
                </c:pt>
                <c:pt idx="38">
                  <c:v>46.216000000000001</c:v>
                </c:pt>
                <c:pt idx="39">
                  <c:v>37.954999999999998</c:v>
                </c:pt>
                <c:pt idx="40">
                  <c:v>36.792999999999999</c:v>
                </c:pt>
                <c:pt idx="41">
                  <c:v>32.118000000000002</c:v>
                </c:pt>
                <c:pt idx="42">
                  <c:v>30.338000000000001</c:v>
                </c:pt>
                <c:pt idx="43">
                  <c:v>33.554000000000002</c:v>
                </c:pt>
                <c:pt idx="44">
                  <c:v>27.135000000000002</c:v>
                </c:pt>
                <c:pt idx="45">
                  <c:v>34.444000000000003</c:v>
                </c:pt>
                <c:pt idx="46">
                  <c:v>38.325000000000003</c:v>
                </c:pt>
                <c:pt idx="47">
                  <c:v>44.347000000000001</c:v>
                </c:pt>
                <c:pt idx="48">
                  <c:v>38.182000000000002</c:v>
                </c:pt>
                <c:pt idx="49">
                  <c:v>38.823999999999998</c:v>
                </c:pt>
                <c:pt idx="50">
                  <c:v>38.899000000000001</c:v>
                </c:pt>
                <c:pt idx="51">
                  <c:v>38</c:v>
                </c:pt>
                <c:pt idx="52">
                  <c:v>43.923000000000002</c:v>
                </c:pt>
                <c:pt idx="53">
                  <c:v>41.789000000000001</c:v>
                </c:pt>
                <c:pt idx="54">
                  <c:v>52.256</c:v>
                </c:pt>
                <c:pt idx="55">
                  <c:v>46.045000000000002</c:v>
                </c:pt>
                <c:pt idx="56">
                  <c:v>40.884999999999998</c:v>
                </c:pt>
                <c:pt idx="57">
                  <c:v>40.268999999999998</c:v>
                </c:pt>
                <c:pt idx="58">
                  <c:v>44.237000000000002</c:v>
                </c:pt>
                <c:pt idx="59">
                  <c:v>44.695</c:v>
                </c:pt>
                <c:pt idx="60">
                  <c:v>38.534999999999997</c:v>
                </c:pt>
                <c:pt idx="61">
                  <c:v>35.037999999999997</c:v>
                </c:pt>
                <c:pt idx="62">
                  <c:v>38.155000000000001</c:v>
                </c:pt>
                <c:pt idx="63">
                  <c:v>44.393999999999998</c:v>
                </c:pt>
                <c:pt idx="64">
                  <c:v>45.994999999999997</c:v>
                </c:pt>
                <c:pt idx="65">
                  <c:v>39.634999999999998</c:v>
                </c:pt>
                <c:pt idx="66">
                  <c:v>39.454000000000001</c:v>
                </c:pt>
                <c:pt idx="67">
                  <c:v>42.722999999999999</c:v>
                </c:pt>
                <c:pt idx="68">
                  <c:v>41.31</c:v>
                </c:pt>
                <c:pt idx="69">
                  <c:v>43.624000000000002</c:v>
                </c:pt>
                <c:pt idx="70">
                  <c:v>45.012999999999998</c:v>
                </c:pt>
                <c:pt idx="71">
                  <c:v>40.103000000000002</c:v>
                </c:pt>
                <c:pt idx="72">
                  <c:v>39.764000000000003</c:v>
                </c:pt>
                <c:pt idx="73">
                  <c:v>38.515000000000001</c:v>
                </c:pt>
                <c:pt idx="74">
                  <c:v>41.302</c:v>
                </c:pt>
                <c:pt idx="75">
                  <c:v>45.652000000000001</c:v>
                </c:pt>
                <c:pt idx="76">
                  <c:v>38.200000000000003</c:v>
                </c:pt>
                <c:pt idx="77">
                  <c:v>36.878999999999998</c:v>
                </c:pt>
                <c:pt idx="78">
                  <c:v>40.808</c:v>
                </c:pt>
                <c:pt idx="79">
                  <c:v>39.865000000000002</c:v>
                </c:pt>
                <c:pt idx="80">
                  <c:v>38.470999999999997</c:v>
                </c:pt>
                <c:pt idx="81">
                  <c:v>41.106999999999999</c:v>
                </c:pt>
                <c:pt idx="82">
                  <c:v>41.792000000000002</c:v>
                </c:pt>
                <c:pt idx="83">
                  <c:v>43.79</c:v>
                </c:pt>
                <c:pt idx="84">
                  <c:v>40.621000000000002</c:v>
                </c:pt>
                <c:pt idx="85">
                  <c:v>15.696999999999999</c:v>
                </c:pt>
                <c:pt idx="86">
                  <c:v>4.2999999999999997E-2</c:v>
                </c:pt>
                <c:pt idx="87">
                  <c:v>0.05</c:v>
                </c:pt>
                <c:pt idx="88">
                  <c:v>0.05</c:v>
                </c:pt>
                <c:pt idx="89">
                  <c:v>0.04</c:v>
                </c:pt>
                <c:pt idx="90">
                  <c:v>4.2999999999999997E-2</c:v>
                </c:pt>
                <c:pt idx="91">
                  <c:v>3.5999999999999997E-2</c:v>
                </c:pt>
                <c:pt idx="92">
                  <c:v>4.2999999999999997E-2</c:v>
                </c:pt>
                <c:pt idx="93">
                  <c:v>3.3000000000000002E-2</c:v>
                </c:pt>
                <c:pt idx="94">
                  <c:v>5.7000000000000002E-2</c:v>
                </c:pt>
                <c:pt idx="95">
                  <c:v>7.2999999999999995E-2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5235904"/>
        <c:axId val="85236480"/>
      </c:scatterChart>
      <c:valAx>
        <c:axId val="85235904"/>
        <c:scaling>
          <c:orientation val="minMax"/>
          <c:max val="8500"/>
          <c:min val="0"/>
        </c:scaling>
        <c:delete val="0"/>
        <c:axPos val="b"/>
        <c:numFmt formatCode="General" sourceLinked="1"/>
        <c:majorTickMark val="out"/>
        <c:minorTickMark val="none"/>
        <c:tickLblPos val="nextTo"/>
        <c:crossAx val="85236480"/>
        <c:crosses val="autoZero"/>
        <c:crossBetween val="midCat"/>
      </c:valAx>
      <c:valAx>
        <c:axId val="8523648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85235904"/>
        <c:crosses val="autoZero"/>
        <c:crossBetween val="midCat"/>
      </c:valAx>
    </c:plotArea>
    <c:legend>
      <c:legendPos val="r"/>
      <c:layout>
        <c:manualLayout>
          <c:xMode val="edge"/>
          <c:yMode val="edge"/>
          <c:x val="0.69563553438085513"/>
          <c:y val="8.7179150683087694E-2"/>
          <c:w val="0.28987173920696568"/>
          <c:h val="4.9529241537115555E-2"/>
        </c:manualLayout>
      </c:layout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r>
              <a:rPr lang="en-US"/>
              <a:t>SQL</a:t>
            </a:r>
            <a:r>
              <a:rPr lang="en-US" baseline="0"/>
              <a:t> Execution activities</a:t>
            </a:r>
            <a:endParaRPr lang="en-US"/>
          </a:p>
        </c:rich>
      </c:tx>
      <c:layout>
        <c:manualLayout>
          <c:xMode val="edge"/>
          <c:yMode val="edge"/>
          <c:x val="0.12879901270619315"/>
          <c:y val="2.3148148148148147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9.2169300029549289E-2"/>
          <c:y val="0.19480351414406533"/>
          <c:w val="0.8725190940536407"/>
          <c:h val="0.56965624088655586"/>
        </c:manualLayout>
      </c:layout>
      <c:lineChart>
        <c:grouping val="standard"/>
        <c:varyColors val="0"/>
        <c:ser>
          <c:idx val="0"/>
          <c:order val="0"/>
          <c:tx>
            <c:strRef>
              <c:f>AggLoadSummary!$F$1</c:f>
              <c:strCache>
                <c:ptCount val="1"/>
                <c:pt idx="0">
                  <c:v>Brief_SQL #</c:v>
                </c:pt>
              </c:strCache>
            </c:strRef>
          </c:tx>
          <c:spPr>
            <a:ln>
              <a:solidFill>
                <a:srgbClr val="00B050"/>
              </a:solidFill>
            </a:ln>
          </c:spPr>
          <c:marker>
            <c:symbol val="diamond"/>
            <c:size val="9"/>
            <c:spPr>
              <a:solidFill>
                <a:srgbClr val="00B050"/>
              </a:solidFill>
            </c:spPr>
          </c:marker>
          <c:cat>
            <c:strRef>
              <c:f>AggLoadSummary!$C$2:$C$97</c:f>
              <c:strCache>
                <c:ptCount val="96"/>
                <c:pt idx="0">
                  <c:v> 13:25:00</c:v>
                </c:pt>
                <c:pt idx="1">
                  <c:v> 13:26:00</c:v>
                </c:pt>
                <c:pt idx="2">
                  <c:v> 13:27:00</c:v>
                </c:pt>
                <c:pt idx="3">
                  <c:v> 13:28:00</c:v>
                </c:pt>
                <c:pt idx="4">
                  <c:v> 13:29:00</c:v>
                </c:pt>
                <c:pt idx="5">
                  <c:v> 13:30:00</c:v>
                </c:pt>
                <c:pt idx="6">
                  <c:v> 13:31:00</c:v>
                </c:pt>
                <c:pt idx="7">
                  <c:v> 13:32:00</c:v>
                </c:pt>
                <c:pt idx="8">
                  <c:v> 13:33:00</c:v>
                </c:pt>
                <c:pt idx="9">
                  <c:v> 13:34:00</c:v>
                </c:pt>
                <c:pt idx="10">
                  <c:v> 13:35:00</c:v>
                </c:pt>
                <c:pt idx="11">
                  <c:v> 13:36:00</c:v>
                </c:pt>
                <c:pt idx="12">
                  <c:v> 13:37:00</c:v>
                </c:pt>
                <c:pt idx="13">
                  <c:v> 13:38:00</c:v>
                </c:pt>
                <c:pt idx="14">
                  <c:v> 13:39:00</c:v>
                </c:pt>
                <c:pt idx="15">
                  <c:v> 13:40:00</c:v>
                </c:pt>
                <c:pt idx="16">
                  <c:v> 13:41:00</c:v>
                </c:pt>
                <c:pt idx="17">
                  <c:v> 13:42:00</c:v>
                </c:pt>
                <c:pt idx="18">
                  <c:v> 13:43:00</c:v>
                </c:pt>
                <c:pt idx="19">
                  <c:v> 13:44:00</c:v>
                </c:pt>
                <c:pt idx="20">
                  <c:v> 13:45:00</c:v>
                </c:pt>
                <c:pt idx="21">
                  <c:v> 13:46:00</c:v>
                </c:pt>
                <c:pt idx="22">
                  <c:v> 13:47:00</c:v>
                </c:pt>
                <c:pt idx="23">
                  <c:v> 13:48:00</c:v>
                </c:pt>
                <c:pt idx="24">
                  <c:v> 13:49:00</c:v>
                </c:pt>
                <c:pt idx="25">
                  <c:v> 13:50:00</c:v>
                </c:pt>
                <c:pt idx="26">
                  <c:v> 13:51:00</c:v>
                </c:pt>
                <c:pt idx="27">
                  <c:v> 13:52:00</c:v>
                </c:pt>
                <c:pt idx="28">
                  <c:v> 13:53:00</c:v>
                </c:pt>
                <c:pt idx="29">
                  <c:v> 13:54:00</c:v>
                </c:pt>
                <c:pt idx="30">
                  <c:v> 13:55:00</c:v>
                </c:pt>
                <c:pt idx="31">
                  <c:v> 13:56:00</c:v>
                </c:pt>
                <c:pt idx="32">
                  <c:v> 13:57:00</c:v>
                </c:pt>
                <c:pt idx="33">
                  <c:v> 13:58:00</c:v>
                </c:pt>
                <c:pt idx="34">
                  <c:v> 13:59:00</c:v>
                </c:pt>
                <c:pt idx="35">
                  <c:v> 14:00:00</c:v>
                </c:pt>
                <c:pt idx="36">
                  <c:v> 14:01:00</c:v>
                </c:pt>
                <c:pt idx="37">
                  <c:v> 14:02:00</c:v>
                </c:pt>
                <c:pt idx="38">
                  <c:v> 14:03:00</c:v>
                </c:pt>
                <c:pt idx="39">
                  <c:v> 14:04:00</c:v>
                </c:pt>
                <c:pt idx="40">
                  <c:v> 14:05:00</c:v>
                </c:pt>
                <c:pt idx="41">
                  <c:v> 14:06:00</c:v>
                </c:pt>
                <c:pt idx="42">
                  <c:v> 14:07:00</c:v>
                </c:pt>
                <c:pt idx="43">
                  <c:v> 14:08:00</c:v>
                </c:pt>
                <c:pt idx="44">
                  <c:v> 14:09:00</c:v>
                </c:pt>
                <c:pt idx="45">
                  <c:v> 14:10:00</c:v>
                </c:pt>
                <c:pt idx="46">
                  <c:v> 14:11:00</c:v>
                </c:pt>
                <c:pt idx="47">
                  <c:v> 14:12:00</c:v>
                </c:pt>
                <c:pt idx="48">
                  <c:v> 14:13:00</c:v>
                </c:pt>
                <c:pt idx="49">
                  <c:v> 14:14:00</c:v>
                </c:pt>
                <c:pt idx="50">
                  <c:v> 14:15:00</c:v>
                </c:pt>
                <c:pt idx="51">
                  <c:v> 14:16:00</c:v>
                </c:pt>
                <c:pt idx="52">
                  <c:v> 14:17:00</c:v>
                </c:pt>
                <c:pt idx="53">
                  <c:v> 14:18:00</c:v>
                </c:pt>
                <c:pt idx="54">
                  <c:v> 14:19:00</c:v>
                </c:pt>
                <c:pt idx="55">
                  <c:v> 14:20:00</c:v>
                </c:pt>
                <c:pt idx="56">
                  <c:v> 14:21:00</c:v>
                </c:pt>
                <c:pt idx="57">
                  <c:v> 14:22:00</c:v>
                </c:pt>
                <c:pt idx="58">
                  <c:v> 14:23:00</c:v>
                </c:pt>
                <c:pt idx="59">
                  <c:v> 14:24:00</c:v>
                </c:pt>
                <c:pt idx="60">
                  <c:v> 14:25:00</c:v>
                </c:pt>
                <c:pt idx="61">
                  <c:v> 14:26:00</c:v>
                </c:pt>
                <c:pt idx="62">
                  <c:v> 14:27:00</c:v>
                </c:pt>
                <c:pt idx="63">
                  <c:v> 14:28:00</c:v>
                </c:pt>
                <c:pt idx="64">
                  <c:v> 14:29:00</c:v>
                </c:pt>
                <c:pt idx="65">
                  <c:v> 14:30:00</c:v>
                </c:pt>
                <c:pt idx="66">
                  <c:v> 14:31:00</c:v>
                </c:pt>
                <c:pt idx="67">
                  <c:v> 14:32:00</c:v>
                </c:pt>
                <c:pt idx="68">
                  <c:v> 14:33:00</c:v>
                </c:pt>
                <c:pt idx="69">
                  <c:v> 14:34:00</c:v>
                </c:pt>
                <c:pt idx="70">
                  <c:v> 14:35:00</c:v>
                </c:pt>
                <c:pt idx="71">
                  <c:v> 14:36:00</c:v>
                </c:pt>
                <c:pt idx="72">
                  <c:v> 14:37:00</c:v>
                </c:pt>
                <c:pt idx="73">
                  <c:v> 14:38:00</c:v>
                </c:pt>
                <c:pt idx="74">
                  <c:v> 14:39:00</c:v>
                </c:pt>
                <c:pt idx="75">
                  <c:v> 14:40:00</c:v>
                </c:pt>
                <c:pt idx="76">
                  <c:v> 14:41:00</c:v>
                </c:pt>
                <c:pt idx="77">
                  <c:v> 14:42:00</c:v>
                </c:pt>
                <c:pt idx="78">
                  <c:v> 14:43:00</c:v>
                </c:pt>
                <c:pt idx="79">
                  <c:v> 14:44:00</c:v>
                </c:pt>
                <c:pt idx="80">
                  <c:v> 14:45:00</c:v>
                </c:pt>
                <c:pt idx="81">
                  <c:v> 14:46:00</c:v>
                </c:pt>
                <c:pt idx="82">
                  <c:v> 14:47:00</c:v>
                </c:pt>
                <c:pt idx="83">
                  <c:v> 14:48:00</c:v>
                </c:pt>
                <c:pt idx="84">
                  <c:v> 14:49:00</c:v>
                </c:pt>
                <c:pt idx="85">
                  <c:v> 14:50:00</c:v>
                </c:pt>
                <c:pt idx="86">
                  <c:v> 14:51:00</c:v>
                </c:pt>
                <c:pt idx="87">
                  <c:v> 14:52:00</c:v>
                </c:pt>
                <c:pt idx="88">
                  <c:v> 14:53:00</c:v>
                </c:pt>
                <c:pt idx="89">
                  <c:v> 14:54:00</c:v>
                </c:pt>
                <c:pt idx="90">
                  <c:v> 14:55:00</c:v>
                </c:pt>
                <c:pt idx="91">
                  <c:v> 14:56:00</c:v>
                </c:pt>
                <c:pt idx="92">
                  <c:v> 14:57:00</c:v>
                </c:pt>
                <c:pt idx="93">
                  <c:v> 14:58:00</c:v>
                </c:pt>
                <c:pt idx="94">
                  <c:v> 14:59:00</c:v>
                </c:pt>
                <c:pt idx="95">
                  <c:v> 15:00:00</c:v>
                </c:pt>
              </c:strCache>
            </c:strRef>
          </c:cat>
          <c:val>
            <c:numRef>
              <c:f>AggLoadSummary!$F$2:$F$97</c:f>
              <c:numCache>
                <c:formatCode>General</c:formatCode>
                <c:ptCount val="96"/>
                <c:pt idx="0">
                  <c:v>9</c:v>
                </c:pt>
                <c:pt idx="1">
                  <c:v>7</c:v>
                </c:pt>
                <c:pt idx="2">
                  <c:v>10</c:v>
                </c:pt>
                <c:pt idx="3">
                  <c:v>7</c:v>
                </c:pt>
                <c:pt idx="4">
                  <c:v>8</c:v>
                </c:pt>
                <c:pt idx="5">
                  <c:v>10</c:v>
                </c:pt>
                <c:pt idx="6">
                  <c:v>4</c:v>
                </c:pt>
                <c:pt idx="7">
                  <c:v>11</c:v>
                </c:pt>
                <c:pt idx="8">
                  <c:v>10</c:v>
                </c:pt>
                <c:pt idx="9">
                  <c:v>24</c:v>
                </c:pt>
                <c:pt idx="10">
                  <c:v>9</c:v>
                </c:pt>
                <c:pt idx="11">
                  <c:v>9</c:v>
                </c:pt>
                <c:pt idx="12">
                  <c:v>130</c:v>
                </c:pt>
                <c:pt idx="13">
                  <c:v>143</c:v>
                </c:pt>
                <c:pt idx="14">
                  <c:v>138</c:v>
                </c:pt>
                <c:pt idx="15">
                  <c:v>138</c:v>
                </c:pt>
                <c:pt idx="16">
                  <c:v>141</c:v>
                </c:pt>
                <c:pt idx="17">
                  <c:v>144</c:v>
                </c:pt>
                <c:pt idx="18">
                  <c:v>138</c:v>
                </c:pt>
                <c:pt idx="19">
                  <c:v>135</c:v>
                </c:pt>
                <c:pt idx="20">
                  <c:v>158</c:v>
                </c:pt>
                <c:pt idx="21">
                  <c:v>150</c:v>
                </c:pt>
                <c:pt idx="22">
                  <c:v>165</c:v>
                </c:pt>
                <c:pt idx="23">
                  <c:v>160</c:v>
                </c:pt>
                <c:pt idx="24">
                  <c:v>164</c:v>
                </c:pt>
                <c:pt idx="25">
                  <c:v>179</c:v>
                </c:pt>
                <c:pt idx="26">
                  <c:v>167</c:v>
                </c:pt>
                <c:pt idx="27">
                  <c:v>174</c:v>
                </c:pt>
                <c:pt idx="28">
                  <c:v>174</c:v>
                </c:pt>
                <c:pt idx="29">
                  <c:v>163</c:v>
                </c:pt>
                <c:pt idx="30">
                  <c:v>175</c:v>
                </c:pt>
                <c:pt idx="31">
                  <c:v>172</c:v>
                </c:pt>
                <c:pt idx="32">
                  <c:v>179</c:v>
                </c:pt>
                <c:pt idx="33">
                  <c:v>168</c:v>
                </c:pt>
                <c:pt idx="34">
                  <c:v>170</c:v>
                </c:pt>
                <c:pt idx="35">
                  <c:v>190</c:v>
                </c:pt>
                <c:pt idx="36">
                  <c:v>163</c:v>
                </c:pt>
                <c:pt idx="37">
                  <c:v>175</c:v>
                </c:pt>
                <c:pt idx="38">
                  <c:v>180</c:v>
                </c:pt>
                <c:pt idx="39">
                  <c:v>171</c:v>
                </c:pt>
                <c:pt idx="40">
                  <c:v>163</c:v>
                </c:pt>
                <c:pt idx="41">
                  <c:v>175</c:v>
                </c:pt>
                <c:pt idx="42">
                  <c:v>178</c:v>
                </c:pt>
                <c:pt idx="43">
                  <c:v>157</c:v>
                </c:pt>
                <c:pt idx="44">
                  <c:v>173</c:v>
                </c:pt>
                <c:pt idx="45">
                  <c:v>174</c:v>
                </c:pt>
                <c:pt idx="46">
                  <c:v>170</c:v>
                </c:pt>
                <c:pt idx="47">
                  <c:v>178</c:v>
                </c:pt>
                <c:pt idx="48">
                  <c:v>171</c:v>
                </c:pt>
                <c:pt idx="49">
                  <c:v>175</c:v>
                </c:pt>
                <c:pt idx="50">
                  <c:v>172</c:v>
                </c:pt>
                <c:pt idx="51">
                  <c:v>169</c:v>
                </c:pt>
                <c:pt idx="52">
                  <c:v>175</c:v>
                </c:pt>
                <c:pt idx="53">
                  <c:v>168</c:v>
                </c:pt>
                <c:pt idx="54">
                  <c:v>173</c:v>
                </c:pt>
                <c:pt idx="55">
                  <c:v>178</c:v>
                </c:pt>
                <c:pt idx="56">
                  <c:v>163</c:v>
                </c:pt>
                <c:pt idx="57">
                  <c:v>171</c:v>
                </c:pt>
                <c:pt idx="58">
                  <c:v>174</c:v>
                </c:pt>
                <c:pt idx="59">
                  <c:v>172</c:v>
                </c:pt>
                <c:pt idx="60">
                  <c:v>167</c:v>
                </c:pt>
                <c:pt idx="61">
                  <c:v>172</c:v>
                </c:pt>
                <c:pt idx="62">
                  <c:v>180</c:v>
                </c:pt>
                <c:pt idx="63">
                  <c:v>172</c:v>
                </c:pt>
                <c:pt idx="64">
                  <c:v>174</c:v>
                </c:pt>
                <c:pt idx="65">
                  <c:v>178</c:v>
                </c:pt>
                <c:pt idx="66">
                  <c:v>173</c:v>
                </c:pt>
                <c:pt idx="67">
                  <c:v>179</c:v>
                </c:pt>
                <c:pt idx="68">
                  <c:v>173</c:v>
                </c:pt>
                <c:pt idx="69">
                  <c:v>170</c:v>
                </c:pt>
                <c:pt idx="70">
                  <c:v>164</c:v>
                </c:pt>
                <c:pt idx="71">
                  <c:v>173</c:v>
                </c:pt>
                <c:pt idx="72">
                  <c:v>177</c:v>
                </c:pt>
                <c:pt idx="73">
                  <c:v>171</c:v>
                </c:pt>
                <c:pt idx="74">
                  <c:v>168</c:v>
                </c:pt>
                <c:pt idx="75">
                  <c:v>176</c:v>
                </c:pt>
                <c:pt idx="76">
                  <c:v>174</c:v>
                </c:pt>
                <c:pt idx="77">
                  <c:v>164</c:v>
                </c:pt>
                <c:pt idx="78">
                  <c:v>173</c:v>
                </c:pt>
                <c:pt idx="79">
                  <c:v>174</c:v>
                </c:pt>
                <c:pt idx="80">
                  <c:v>173</c:v>
                </c:pt>
                <c:pt idx="81">
                  <c:v>179</c:v>
                </c:pt>
                <c:pt idx="82">
                  <c:v>178</c:v>
                </c:pt>
                <c:pt idx="83">
                  <c:v>175</c:v>
                </c:pt>
                <c:pt idx="84">
                  <c:v>165</c:v>
                </c:pt>
                <c:pt idx="85">
                  <c:v>172</c:v>
                </c:pt>
                <c:pt idx="86">
                  <c:v>7</c:v>
                </c:pt>
                <c:pt idx="87">
                  <c:v>7</c:v>
                </c:pt>
                <c:pt idx="88">
                  <c:v>9</c:v>
                </c:pt>
                <c:pt idx="89">
                  <c:v>4</c:v>
                </c:pt>
                <c:pt idx="90">
                  <c:v>6</c:v>
                </c:pt>
                <c:pt idx="91">
                  <c:v>6</c:v>
                </c:pt>
                <c:pt idx="92">
                  <c:v>8</c:v>
                </c:pt>
                <c:pt idx="93">
                  <c:v>5</c:v>
                </c:pt>
                <c:pt idx="94">
                  <c:v>7</c:v>
                </c:pt>
                <c:pt idx="95">
                  <c:v>10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AggLoadSummary!$H$1</c:f>
              <c:strCache>
                <c:ptCount val="1"/>
                <c:pt idx="0">
                  <c:v>Objects #</c:v>
                </c:pt>
              </c:strCache>
            </c:strRef>
          </c:tx>
          <c:marker>
            <c:symbol val="diamond"/>
            <c:size val="8"/>
          </c:marker>
          <c:cat>
            <c:strRef>
              <c:f>AggLoadSummary!$C$2:$C$97</c:f>
              <c:strCache>
                <c:ptCount val="96"/>
                <c:pt idx="0">
                  <c:v> 13:25:00</c:v>
                </c:pt>
                <c:pt idx="1">
                  <c:v> 13:26:00</c:v>
                </c:pt>
                <c:pt idx="2">
                  <c:v> 13:27:00</c:v>
                </c:pt>
                <c:pt idx="3">
                  <c:v> 13:28:00</c:v>
                </c:pt>
                <c:pt idx="4">
                  <c:v> 13:29:00</c:v>
                </c:pt>
                <c:pt idx="5">
                  <c:v> 13:30:00</c:v>
                </c:pt>
                <c:pt idx="6">
                  <c:v> 13:31:00</c:v>
                </c:pt>
                <c:pt idx="7">
                  <c:v> 13:32:00</c:v>
                </c:pt>
                <c:pt idx="8">
                  <c:v> 13:33:00</c:v>
                </c:pt>
                <c:pt idx="9">
                  <c:v> 13:34:00</c:v>
                </c:pt>
                <c:pt idx="10">
                  <c:v> 13:35:00</c:v>
                </c:pt>
                <c:pt idx="11">
                  <c:v> 13:36:00</c:v>
                </c:pt>
                <c:pt idx="12">
                  <c:v> 13:37:00</c:v>
                </c:pt>
                <c:pt idx="13">
                  <c:v> 13:38:00</c:v>
                </c:pt>
                <c:pt idx="14">
                  <c:v> 13:39:00</c:v>
                </c:pt>
                <c:pt idx="15">
                  <c:v> 13:40:00</c:v>
                </c:pt>
                <c:pt idx="16">
                  <c:v> 13:41:00</c:v>
                </c:pt>
                <c:pt idx="17">
                  <c:v> 13:42:00</c:v>
                </c:pt>
                <c:pt idx="18">
                  <c:v> 13:43:00</c:v>
                </c:pt>
                <c:pt idx="19">
                  <c:v> 13:44:00</c:v>
                </c:pt>
                <c:pt idx="20">
                  <c:v> 13:45:00</c:v>
                </c:pt>
                <c:pt idx="21">
                  <c:v> 13:46:00</c:v>
                </c:pt>
                <c:pt idx="22">
                  <c:v> 13:47:00</c:v>
                </c:pt>
                <c:pt idx="23">
                  <c:v> 13:48:00</c:v>
                </c:pt>
                <c:pt idx="24">
                  <c:v> 13:49:00</c:v>
                </c:pt>
                <c:pt idx="25">
                  <c:v> 13:50:00</c:v>
                </c:pt>
                <c:pt idx="26">
                  <c:v> 13:51:00</c:v>
                </c:pt>
                <c:pt idx="27">
                  <c:v> 13:52:00</c:v>
                </c:pt>
                <c:pt idx="28">
                  <c:v> 13:53:00</c:v>
                </c:pt>
                <c:pt idx="29">
                  <c:v> 13:54:00</c:v>
                </c:pt>
                <c:pt idx="30">
                  <c:v> 13:55:00</c:v>
                </c:pt>
                <c:pt idx="31">
                  <c:v> 13:56:00</c:v>
                </c:pt>
                <c:pt idx="32">
                  <c:v> 13:57:00</c:v>
                </c:pt>
                <c:pt idx="33">
                  <c:v> 13:58:00</c:v>
                </c:pt>
                <c:pt idx="34">
                  <c:v> 13:59:00</c:v>
                </c:pt>
                <c:pt idx="35">
                  <c:v> 14:00:00</c:v>
                </c:pt>
                <c:pt idx="36">
                  <c:v> 14:01:00</c:v>
                </c:pt>
                <c:pt idx="37">
                  <c:v> 14:02:00</c:v>
                </c:pt>
                <c:pt idx="38">
                  <c:v> 14:03:00</c:v>
                </c:pt>
                <c:pt idx="39">
                  <c:v> 14:04:00</c:v>
                </c:pt>
                <c:pt idx="40">
                  <c:v> 14:05:00</c:v>
                </c:pt>
                <c:pt idx="41">
                  <c:v> 14:06:00</c:v>
                </c:pt>
                <c:pt idx="42">
                  <c:v> 14:07:00</c:v>
                </c:pt>
                <c:pt idx="43">
                  <c:v> 14:08:00</c:v>
                </c:pt>
                <c:pt idx="44">
                  <c:v> 14:09:00</c:v>
                </c:pt>
                <c:pt idx="45">
                  <c:v> 14:10:00</c:v>
                </c:pt>
                <c:pt idx="46">
                  <c:v> 14:11:00</c:v>
                </c:pt>
                <c:pt idx="47">
                  <c:v> 14:12:00</c:v>
                </c:pt>
                <c:pt idx="48">
                  <c:v> 14:13:00</c:v>
                </c:pt>
                <c:pt idx="49">
                  <c:v> 14:14:00</c:v>
                </c:pt>
                <c:pt idx="50">
                  <c:v> 14:15:00</c:v>
                </c:pt>
                <c:pt idx="51">
                  <c:v> 14:16:00</c:v>
                </c:pt>
                <c:pt idx="52">
                  <c:v> 14:17:00</c:v>
                </c:pt>
                <c:pt idx="53">
                  <c:v> 14:18:00</c:v>
                </c:pt>
                <c:pt idx="54">
                  <c:v> 14:19:00</c:v>
                </c:pt>
                <c:pt idx="55">
                  <c:v> 14:20:00</c:v>
                </c:pt>
                <c:pt idx="56">
                  <c:v> 14:21:00</c:v>
                </c:pt>
                <c:pt idx="57">
                  <c:v> 14:22:00</c:v>
                </c:pt>
                <c:pt idx="58">
                  <c:v> 14:23:00</c:v>
                </c:pt>
                <c:pt idx="59">
                  <c:v> 14:24:00</c:v>
                </c:pt>
                <c:pt idx="60">
                  <c:v> 14:25:00</c:v>
                </c:pt>
                <c:pt idx="61">
                  <c:v> 14:26:00</c:v>
                </c:pt>
                <c:pt idx="62">
                  <c:v> 14:27:00</c:v>
                </c:pt>
                <c:pt idx="63">
                  <c:v> 14:28:00</c:v>
                </c:pt>
                <c:pt idx="64">
                  <c:v> 14:29:00</c:v>
                </c:pt>
                <c:pt idx="65">
                  <c:v> 14:30:00</c:v>
                </c:pt>
                <c:pt idx="66">
                  <c:v> 14:31:00</c:v>
                </c:pt>
                <c:pt idx="67">
                  <c:v> 14:32:00</c:v>
                </c:pt>
                <c:pt idx="68">
                  <c:v> 14:33:00</c:v>
                </c:pt>
                <c:pt idx="69">
                  <c:v> 14:34:00</c:v>
                </c:pt>
                <c:pt idx="70">
                  <c:v> 14:35:00</c:v>
                </c:pt>
                <c:pt idx="71">
                  <c:v> 14:36:00</c:v>
                </c:pt>
                <c:pt idx="72">
                  <c:v> 14:37:00</c:v>
                </c:pt>
                <c:pt idx="73">
                  <c:v> 14:38:00</c:v>
                </c:pt>
                <c:pt idx="74">
                  <c:v> 14:39:00</c:v>
                </c:pt>
                <c:pt idx="75">
                  <c:v> 14:40:00</c:v>
                </c:pt>
                <c:pt idx="76">
                  <c:v> 14:41:00</c:v>
                </c:pt>
                <c:pt idx="77">
                  <c:v> 14:42:00</c:v>
                </c:pt>
                <c:pt idx="78">
                  <c:v> 14:43:00</c:v>
                </c:pt>
                <c:pt idx="79">
                  <c:v> 14:44:00</c:v>
                </c:pt>
                <c:pt idx="80">
                  <c:v> 14:45:00</c:v>
                </c:pt>
                <c:pt idx="81">
                  <c:v> 14:46:00</c:v>
                </c:pt>
                <c:pt idx="82">
                  <c:v> 14:47:00</c:v>
                </c:pt>
                <c:pt idx="83">
                  <c:v> 14:48:00</c:v>
                </c:pt>
                <c:pt idx="84">
                  <c:v> 14:49:00</c:v>
                </c:pt>
                <c:pt idx="85">
                  <c:v> 14:50:00</c:v>
                </c:pt>
                <c:pt idx="86">
                  <c:v> 14:51:00</c:v>
                </c:pt>
                <c:pt idx="87">
                  <c:v> 14:52:00</c:v>
                </c:pt>
                <c:pt idx="88">
                  <c:v> 14:53:00</c:v>
                </c:pt>
                <c:pt idx="89">
                  <c:v> 14:54:00</c:v>
                </c:pt>
                <c:pt idx="90">
                  <c:v> 14:55:00</c:v>
                </c:pt>
                <c:pt idx="91">
                  <c:v> 14:56:00</c:v>
                </c:pt>
                <c:pt idx="92">
                  <c:v> 14:57:00</c:v>
                </c:pt>
                <c:pt idx="93">
                  <c:v> 14:58:00</c:v>
                </c:pt>
                <c:pt idx="94">
                  <c:v> 14:59:00</c:v>
                </c:pt>
                <c:pt idx="95">
                  <c:v> 15:00:00</c:v>
                </c:pt>
              </c:strCache>
            </c:strRef>
          </c:cat>
          <c:val>
            <c:numRef>
              <c:f>AggLoadSummary!$H$2:$H$97</c:f>
              <c:numCache>
                <c:formatCode>General</c:formatCode>
                <c:ptCount val="96"/>
                <c:pt idx="0">
                  <c:v>9</c:v>
                </c:pt>
                <c:pt idx="1">
                  <c:v>7</c:v>
                </c:pt>
                <c:pt idx="2">
                  <c:v>10</c:v>
                </c:pt>
                <c:pt idx="3">
                  <c:v>7</c:v>
                </c:pt>
                <c:pt idx="4">
                  <c:v>8</c:v>
                </c:pt>
                <c:pt idx="5">
                  <c:v>10</c:v>
                </c:pt>
                <c:pt idx="6">
                  <c:v>4</c:v>
                </c:pt>
                <c:pt idx="7">
                  <c:v>11</c:v>
                </c:pt>
                <c:pt idx="8">
                  <c:v>10</c:v>
                </c:pt>
                <c:pt idx="9">
                  <c:v>23</c:v>
                </c:pt>
                <c:pt idx="10">
                  <c:v>9</c:v>
                </c:pt>
                <c:pt idx="11">
                  <c:v>9</c:v>
                </c:pt>
                <c:pt idx="12">
                  <c:v>107</c:v>
                </c:pt>
                <c:pt idx="13">
                  <c:v>103</c:v>
                </c:pt>
                <c:pt idx="14">
                  <c:v>100</c:v>
                </c:pt>
                <c:pt idx="15">
                  <c:v>100</c:v>
                </c:pt>
                <c:pt idx="16">
                  <c:v>103</c:v>
                </c:pt>
                <c:pt idx="17">
                  <c:v>104</c:v>
                </c:pt>
                <c:pt idx="18">
                  <c:v>100</c:v>
                </c:pt>
                <c:pt idx="19">
                  <c:v>100</c:v>
                </c:pt>
                <c:pt idx="20">
                  <c:v>110</c:v>
                </c:pt>
                <c:pt idx="21">
                  <c:v>104</c:v>
                </c:pt>
                <c:pt idx="22">
                  <c:v>111</c:v>
                </c:pt>
                <c:pt idx="23">
                  <c:v>109</c:v>
                </c:pt>
                <c:pt idx="24">
                  <c:v>108</c:v>
                </c:pt>
                <c:pt idx="25">
                  <c:v>121</c:v>
                </c:pt>
                <c:pt idx="26">
                  <c:v>109</c:v>
                </c:pt>
                <c:pt idx="27">
                  <c:v>112</c:v>
                </c:pt>
                <c:pt idx="28">
                  <c:v>112</c:v>
                </c:pt>
                <c:pt idx="29">
                  <c:v>109</c:v>
                </c:pt>
                <c:pt idx="30">
                  <c:v>115</c:v>
                </c:pt>
                <c:pt idx="31">
                  <c:v>112</c:v>
                </c:pt>
                <c:pt idx="32">
                  <c:v>118</c:v>
                </c:pt>
                <c:pt idx="33">
                  <c:v>107</c:v>
                </c:pt>
                <c:pt idx="34">
                  <c:v>111</c:v>
                </c:pt>
                <c:pt idx="35">
                  <c:v>122</c:v>
                </c:pt>
                <c:pt idx="36">
                  <c:v>110</c:v>
                </c:pt>
                <c:pt idx="37">
                  <c:v>117</c:v>
                </c:pt>
                <c:pt idx="38">
                  <c:v>116</c:v>
                </c:pt>
                <c:pt idx="39">
                  <c:v>115</c:v>
                </c:pt>
                <c:pt idx="40">
                  <c:v>107</c:v>
                </c:pt>
                <c:pt idx="41">
                  <c:v>113</c:v>
                </c:pt>
                <c:pt idx="42">
                  <c:v>118</c:v>
                </c:pt>
                <c:pt idx="43">
                  <c:v>103</c:v>
                </c:pt>
                <c:pt idx="44">
                  <c:v>111</c:v>
                </c:pt>
                <c:pt idx="45">
                  <c:v>111</c:v>
                </c:pt>
                <c:pt idx="46">
                  <c:v>112</c:v>
                </c:pt>
                <c:pt idx="47">
                  <c:v>115</c:v>
                </c:pt>
                <c:pt idx="48">
                  <c:v>110</c:v>
                </c:pt>
                <c:pt idx="49">
                  <c:v>116</c:v>
                </c:pt>
                <c:pt idx="50">
                  <c:v>111</c:v>
                </c:pt>
                <c:pt idx="51">
                  <c:v>108</c:v>
                </c:pt>
                <c:pt idx="52">
                  <c:v>114</c:v>
                </c:pt>
                <c:pt idx="53">
                  <c:v>110</c:v>
                </c:pt>
                <c:pt idx="54">
                  <c:v>112</c:v>
                </c:pt>
                <c:pt idx="55">
                  <c:v>116</c:v>
                </c:pt>
                <c:pt idx="56">
                  <c:v>108</c:v>
                </c:pt>
                <c:pt idx="57">
                  <c:v>112</c:v>
                </c:pt>
                <c:pt idx="58">
                  <c:v>113</c:v>
                </c:pt>
                <c:pt idx="59">
                  <c:v>112</c:v>
                </c:pt>
                <c:pt idx="60">
                  <c:v>111</c:v>
                </c:pt>
                <c:pt idx="61">
                  <c:v>109</c:v>
                </c:pt>
                <c:pt idx="62">
                  <c:v>118</c:v>
                </c:pt>
                <c:pt idx="63">
                  <c:v>115</c:v>
                </c:pt>
                <c:pt idx="64">
                  <c:v>111</c:v>
                </c:pt>
                <c:pt idx="65">
                  <c:v>116</c:v>
                </c:pt>
                <c:pt idx="66">
                  <c:v>110</c:v>
                </c:pt>
                <c:pt idx="67">
                  <c:v>118</c:v>
                </c:pt>
                <c:pt idx="68">
                  <c:v>111</c:v>
                </c:pt>
                <c:pt idx="69">
                  <c:v>111</c:v>
                </c:pt>
                <c:pt idx="70">
                  <c:v>109</c:v>
                </c:pt>
                <c:pt idx="71">
                  <c:v>112</c:v>
                </c:pt>
                <c:pt idx="72">
                  <c:v>117</c:v>
                </c:pt>
                <c:pt idx="73">
                  <c:v>111</c:v>
                </c:pt>
                <c:pt idx="74">
                  <c:v>110</c:v>
                </c:pt>
                <c:pt idx="75">
                  <c:v>116</c:v>
                </c:pt>
                <c:pt idx="76">
                  <c:v>112</c:v>
                </c:pt>
                <c:pt idx="77">
                  <c:v>109</c:v>
                </c:pt>
                <c:pt idx="78">
                  <c:v>112</c:v>
                </c:pt>
                <c:pt idx="79">
                  <c:v>112</c:v>
                </c:pt>
                <c:pt idx="80">
                  <c:v>115</c:v>
                </c:pt>
                <c:pt idx="81">
                  <c:v>116</c:v>
                </c:pt>
                <c:pt idx="82">
                  <c:v>117</c:v>
                </c:pt>
                <c:pt idx="83">
                  <c:v>112</c:v>
                </c:pt>
                <c:pt idx="84">
                  <c:v>106</c:v>
                </c:pt>
                <c:pt idx="85">
                  <c:v>117</c:v>
                </c:pt>
                <c:pt idx="86">
                  <c:v>6</c:v>
                </c:pt>
                <c:pt idx="87">
                  <c:v>7</c:v>
                </c:pt>
                <c:pt idx="88">
                  <c:v>9</c:v>
                </c:pt>
                <c:pt idx="89">
                  <c:v>4</c:v>
                </c:pt>
                <c:pt idx="90">
                  <c:v>6</c:v>
                </c:pt>
                <c:pt idx="91">
                  <c:v>6</c:v>
                </c:pt>
                <c:pt idx="92">
                  <c:v>8</c:v>
                </c:pt>
                <c:pt idx="93">
                  <c:v>5</c:v>
                </c:pt>
                <c:pt idx="94">
                  <c:v>7</c:v>
                </c:pt>
                <c:pt idx="95">
                  <c:v>10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030208"/>
        <c:axId val="36967488"/>
      </c:lineChart>
      <c:catAx>
        <c:axId val="40030208"/>
        <c:scaling>
          <c:orientation val="minMax"/>
        </c:scaling>
        <c:delete val="0"/>
        <c:axPos val="b"/>
        <c:majorTickMark val="none"/>
        <c:minorTickMark val="none"/>
        <c:tickLblPos val="nextTo"/>
        <c:crossAx val="36967488"/>
        <c:crosses val="autoZero"/>
        <c:auto val="1"/>
        <c:lblAlgn val="ctr"/>
        <c:lblOffset val="100"/>
        <c:noMultiLvlLbl val="0"/>
      </c:catAx>
      <c:valAx>
        <c:axId val="36967488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200"/>
                </a:pPr>
                <a:r>
                  <a:rPr lang="en-US" sz="1200"/>
                  <a:t>Volumes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crossAx val="40030208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54437934331056304"/>
          <c:y val="1.576188393117527E-2"/>
          <c:w val="0.35672440944881889"/>
          <c:h val="0.13502697579469233"/>
        </c:manualLayout>
      </c:layout>
      <c:overlay val="0"/>
      <c:txPr>
        <a:bodyPr/>
        <a:lstStyle/>
        <a:p>
          <a:pPr>
            <a:defRPr sz="1200" b="1"/>
          </a:pPr>
          <a:endParaRPr lang="en-US"/>
        </a:p>
      </c:txPr>
    </c:legend>
    <c:plotVisOnly val="1"/>
    <c:dispBlanksAs val="gap"/>
    <c:showDLblsOverMax val="0"/>
  </c:chart>
  <c:externalData r:id="rId2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r>
              <a:rPr lang="en-US"/>
              <a:t>Number of processes required at application level</a:t>
            </a:r>
          </a:p>
        </c:rich>
      </c:tx>
      <c:layout>
        <c:manualLayout>
          <c:xMode val="edge"/>
          <c:yMode val="edge"/>
          <c:x val="3.0223841422807228E-2"/>
          <c:y val="2.7777777777777776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7.175288909781799E-2"/>
          <c:y val="0.19480351414406533"/>
          <c:w val="0.87233595800524932"/>
          <c:h val="0.56965624088655586"/>
        </c:manualLayout>
      </c:layout>
      <c:lineChart>
        <c:grouping val="standard"/>
        <c:varyColors val="0"/>
        <c:ser>
          <c:idx val="0"/>
          <c:order val="0"/>
          <c:tx>
            <c:strRef>
              <c:f>AggLoadSummary!$I$1</c:f>
              <c:strCache>
                <c:ptCount val="1"/>
                <c:pt idx="0">
                  <c:v>Processes #</c:v>
                </c:pt>
              </c:strCache>
            </c:strRef>
          </c:tx>
          <c:cat>
            <c:strRef>
              <c:f>AggLoadSummary!$C$2:$C$97</c:f>
              <c:strCache>
                <c:ptCount val="96"/>
                <c:pt idx="0">
                  <c:v> 13:25:00</c:v>
                </c:pt>
                <c:pt idx="1">
                  <c:v> 13:26:00</c:v>
                </c:pt>
                <c:pt idx="2">
                  <c:v> 13:27:00</c:v>
                </c:pt>
                <c:pt idx="3">
                  <c:v> 13:28:00</c:v>
                </c:pt>
                <c:pt idx="4">
                  <c:v> 13:29:00</c:v>
                </c:pt>
                <c:pt idx="5">
                  <c:v> 13:30:00</c:v>
                </c:pt>
                <c:pt idx="6">
                  <c:v> 13:31:00</c:v>
                </c:pt>
                <c:pt idx="7">
                  <c:v> 13:32:00</c:v>
                </c:pt>
                <c:pt idx="8">
                  <c:v> 13:33:00</c:v>
                </c:pt>
                <c:pt idx="9">
                  <c:v> 13:34:00</c:v>
                </c:pt>
                <c:pt idx="10">
                  <c:v> 13:35:00</c:v>
                </c:pt>
                <c:pt idx="11">
                  <c:v> 13:36:00</c:v>
                </c:pt>
                <c:pt idx="12">
                  <c:v> 13:37:00</c:v>
                </c:pt>
                <c:pt idx="13">
                  <c:v> 13:38:00</c:v>
                </c:pt>
                <c:pt idx="14">
                  <c:v> 13:39:00</c:v>
                </c:pt>
                <c:pt idx="15">
                  <c:v> 13:40:00</c:v>
                </c:pt>
                <c:pt idx="16">
                  <c:v> 13:41:00</c:v>
                </c:pt>
                <c:pt idx="17">
                  <c:v> 13:42:00</c:v>
                </c:pt>
                <c:pt idx="18">
                  <c:v> 13:43:00</c:v>
                </c:pt>
                <c:pt idx="19">
                  <c:v> 13:44:00</c:v>
                </c:pt>
                <c:pt idx="20">
                  <c:v> 13:45:00</c:v>
                </c:pt>
                <c:pt idx="21">
                  <c:v> 13:46:00</c:v>
                </c:pt>
                <c:pt idx="22">
                  <c:v> 13:47:00</c:v>
                </c:pt>
                <c:pt idx="23">
                  <c:v> 13:48:00</c:v>
                </c:pt>
                <c:pt idx="24">
                  <c:v> 13:49:00</c:v>
                </c:pt>
                <c:pt idx="25">
                  <c:v> 13:50:00</c:v>
                </c:pt>
                <c:pt idx="26">
                  <c:v> 13:51:00</c:v>
                </c:pt>
                <c:pt idx="27">
                  <c:v> 13:52:00</c:v>
                </c:pt>
                <c:pt idx="28">
                  <c:v> 13:53:00</c:v>
                </c:pt>
                <c:pt idx="29">
                  <c:v> 13:54:00</c:v>
                </c:pt>
                <c:pt idx="30">
                  <c:v> 13:55:00</c:v>
                </c:pt>
                <c:pt idx="31">
                  <c:v> 13:56:00</c:v>
                </c:pt>
                <c:pt idx="32">
                  <c:v> 13:57:00</c:v>
                </c:pt>
                <c:pt idx="33">
                  <c:v> 13:58:00</c:v>
                </c:pt>
                <c:pt idx="34">
                  <c:v> 13:59:00</c:v>
                </c:pt>
                <c:pt idx="35">
                  <c:v> 14:00:00</c:v>
                </c:pt>
                <c:pt idx="36">
                  <c:v> 14:01:00</c:v>
                </c:pt>
                <c:pt idx="37">
                  <c:v> 14:02:00</c:v>
                </c:pt>
                <c:pt idx="38">
                  <c:v> 14:03:00</c:v>
                </c:pt>
                <c:pt idx="39">
                  <c:v> 14:04:00</c:v>
                </c:pt>
                <c:pt idx="40">
                  <c:v> 14:05:00</c:v>
                </c:pt>
                <c:pt idx="41">
                  <c:v> 14:06:00</c:v>
                </c:pt>
                <c:pt idx="42">
                  <c:v> 14:07:00</c:v>
                </c:pt>
                <c:pt idx="43">
                  <c:v> 14:08:00</c:v>
                </c:pt>
                <c:pt idx="44">
                  <c:v> 14:09:00</c:v>
                </c:pt>
                <c:pt idx="45">
                  <c:v> 14:10:00</c:v>
                </c:pt>
                <c:pt idx="46">
                  <c:v> 14:11:00</c:v>
                </c:pt>
                <c:pt idx="47">
                  <c:v> 14:12:00</c:v>
                </c:pt>
                <c:pt idx="48">
                  <c:v> 14:13:00</c:v>
                </c:pt>
                <c:pt idx="49">
                  <c:v> 14:14:00</c:v>
                </c:pt>
                <c:pt idx="50">
                  <c:v> 14:15:00</c:v>
                </c:pt>
                <c:pt idx="51">
                  <c:v> 14:16:00</c:v>
                </c:pt>
                <c:pt idx="52">
                  <c:v> 14:17:00</c:v>
                </c:pt>
                <c:pt idx="53">
                  <c:v> 14:18:00</c:v>
                </c:pt>
                <c:pt idx="54">
                  <c:v> 14:19:00</c:v>
                </c:pt>
                <c:pt idx="55">
                  <c:v> 14:20:00</c:v>
                </c:pt>
                <c:pt idx="56">
                  <c:v> 14:21:00</c:v>
                </c:pt>
                <c:pt idx="57">
                  <c:v> 14:22:00</c:v>
                </c:pt>
                <c:pt idx="58">
                  <c:v> 14:23:00</c:v>
                </c:pt>
                <c:pt idx="59">
                  <c:v> 14:24:00</c:v>
                </c:pt>
                <c:pt idx="60">
                  <c:v> 14:25:00</c:v>
                </c:pt>
                <c:pt idx="61">
                  <c:v> 14:26:00</c:v>
                </c:pt>
                <c:pt idx="62">
                  <c:v> 14:27:00</c:v>
                </c:pt>
                <c:pt idx="63">
                  <c:v> 14:28:00</c:v>
                </c:pt>
                <c:pt idx="64">
                  <c:v> 14:29:00</c:v>
                </c:pt>
                <c:pt idx="65">
                  <c:v> 14:30:00</c:v>
                </c:pt>
                <c:pt idx="66">
                  <c:v> 14:31:00</c:v>
                </c:pt>
                <c:pt idx="67">
                  <c:v> 14:32:00</c:v>
                </c:pt>
                <c:pt idx="68">
                  <c:v> 14:33:00</c:v>
                </c:pt>
                <c:pt idx="69">
                  <c:v> 14:34:00</c:v>
                </c:pt>
                <c:pt idx="70">
                  <c:v> 14:35:00</c:v>
                </c:pt>
                <c:pt idx="71">
                  <c:v> 14:36:00</c:v>
                </c:pt>
                <c:pt idx="72">
                  <c:v> 14:37:00</c:v>
                </c:pt>
                <c:pt idx="73">
                  <c:v> 14:38:00</c:v>
                </c:pt>
                <c:pt idx="74">
                  <c:v> 14:39:00</c:v>
                </c:pt>
                <c:pt idx="75">
                  <c:v> 14:40:00</c:v>
                </c:pt>
                <c:pt idx="76">
                  <c:v> 14:41:00</c:v>
                </c:pt>
                <c:pt idx="77">
                  <c:v> 14:42:00</c:v>
                </c:pt>
                <c:pt idx="78">
                  <c:v> 14:43:00</c:v>
                </c:pt>
                <c:pt idx="79">
                  <c:v> 14:44:00</c:v>
                </c:pt>
                <c:pt idx="80">
                  <c:v> 14:45:00</c:v>
                </c:pt>
                <c:pt idx="81">
                  <c:v> 14:46:00</c:v>
                </c:pt>
                <c:pt idx="82">
                  <c:v> 14:47:00</c:v>
                </c:pt>
                <c:pt idx="83">
                  <c:v> 14:48:00</c:v>
                </c:pt>
                <c:pt idx="84">
                  <c:v> 14:49:00</c:v>
                </c:pt>
                <c:pt idx="85">
                  <c:v> 14:50:00</c:v>
                </c:pt>
                <c:pt idx="86">
                  <c:v> 14:51:00</c:v>
                </c:pt>
                <c:pt idx="87">
                  <c:v> 14:52:00</c:v>
                </c:pt>
                <c:pt idx="88">
                  <c:v> 14:53:00</c:v>
                </c:pt>
                <c:pt idx="89">
                  <c:v> 14:54:00</c:v>
                </c:pt>
                <c:pt idx="90">
                  <c:v> 14:55:00</c:v>
                </c:pt>
                <c:pt idx="91">
                  <c:v> 14:56:00</c:v>
                </c:pt>
                <c:pt idx="92">
                  <c:v> 14:57:00</c:v>
                </c:pt>
                <c:pt idx="93">
                  <c:v> 14:58:00</c:v>
                </c:pt>
                <c:pt idx="94">
                  <c:v> 14:59:00</c:v>
                </c:pt>
                <c:pt idx="95">
                  <c:v> 15:00:00</c:v>
                </c:pt>
              </c:strCache>
            </c:strRef>
          </c:cat>
          <c:val>
            <c:numRef>
              <c:f>AggLoadSummary!$I$2:$I$97</c:f>
              <c:numCache>
                <c:formatCode>General</c:formatCode>
                <c:ptCount val="96"/>
                <c:pt idx="0">
                  <c:v>8</c:v>
                </c:pt>
                <c:pt idx="1">
                  <c:v>9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19</c:v>
                </c:pt>
                <c:pt idx="10">
                  <c:v>13</c:v>
                </c:pt>
                <c:pt idx="11">
                  <c:v>14</c:v>
                </c:pt>
                <c:pt idx="12">
                  <c:v>24</c:v>
                </c:pt>
                <c:pt idx="13">
                  <c:v>24</c:v>
                </c:pt>
                <c:pt idx="14">
                  <c:v>27</c:v>
                </c:pt>
                <c:pt idx="15">
                  <c:v>30</c:v>
                </c:pt>
                <c:pt idx="16">
                  <c:v>27</c:v>
                </c:pt>
                <c:pt idx="17">
                  <c:v>24</c:v>
                </c:pt>
                <c:pt idx="18">
                  <c:v>28</c:v>
                </c:pt>
                <c:pt idx="19">
                  <c:v>29</c:v>
                </c:pt>
                <c:pt idx="20">
                  <c:v>35</c:v>
                </c:pt>
                <c:pt idx="21">
                  <c:v>34</c:v>
                </c:pt>
                <c:pt idx="22">
                  <c:v>37</c:v>
                </c:pt>
                <c:pt idx="23">
                  <c:v>36</c:v>
                </c:pt>
                <c:pt idx="24">
                  <c:v>33</c:v>
                </c:pt>
                <c:pt idx="25">
                  <c:v>34</c:v>
                </c:pt>
                <c:pt idx="26">
                  <c:v>32</c:v>
                </c:pt>
                <c:pt idx="27">
                  <c:v>41</c:v>
                </c:pt>
                <c:pt idx="28">
                  <c:v>37</c:v>
                </c:pt>
                <c:pt idx="29">
                  <c:v>34</c:v>
                </c:pt>
                <c:pt idx="30">
                  <c:v>35</c:v>
                </c:pt>
                <c:pt idx="31">
                  <c:v>37</c:v>
                </c:pt>
                <c:pt idx="32">
                  <c:v>36</c:v>
                </c:pt>
                <c:pt idx="33">
                  <c:v>33</c:v>
                </c:pt>
                <c:pt idx="34">
                  <c:v>33</c:v>
                </c:pt>
                <c:pt idx="35">
                  <c:v>34</c:v>
                </c:pt>
                <c:pt idx="36">
                  <c:v>37</c:v>
                </c:pt>
                <c:pt idx="37">
                  <c:v>38</c:v>
                </c:pt>
                <c:pt idx="38">
                  <c:v>36</c:v>
                </c:pt>
                <c:pt idx="39">
                  <c:v>33</c:v>
                </c:pt>
                <c:pt idx="40">
                  <c:v>39</c:v>
                </c:pt>
                <c:pt idx="41">
                  <c:v>40</c:v>
                </c:pt>
                <c:pt idx="42">
                  <c:v>37</c:v>
                </c:pt>
                <c:pt idx="43">
                  <c:v>40</c:v>
                </c:pt>
                <c:pt idx="44">
                  <c:v>36</c:v>
                </c:pt>
                <c:pt idx="45">
                  <c:v>32</c:v>
                </c:pt>
                <c:pt idx="46">
                  <c:v>42</c:v>
                </c:pt>
                <c:pt idx="47">
                  <c:v>43</c:v>
                </c:pt>
                <c:pt idx="48">
                  <c:v>36</c:v>
                </c:pt>
                <c:pt idx="49">
                  <c:v>38</c:v>
                </c:pt>
                <c:pt idx="50">
                  <c:v>36</c:v>
                </c:pt>
                <c:pt idx="51">
                  <c:v>38</c:v>
                </c:pt>
                <c:pt idx="52">
                  <c:v>36</c:v>
                </c:pt>
                <c:pt idx="53">
                  <c:v>42</c:v>
                </c:pt>
                <c:pt idx="54">
                  <c:v>42</c:v>
                </c:pt>
                <c:pt idx="55">
                  <c:v>41</c:v>
                </c:pt>
                <c:pt idx="56">
                  <c:v>41</c:v>
                </c:pt>
                <c:pt idx="57">
                  <c:v>38</c:v>
                </c:pt>
                <c:pt idx="58">
                  <c:v>41</c:v>
                </c:pt>
                <c:pt idx="59">
                  <c:v>38</c:v>
                </c:pt>
                <c:pt idx="60">
                  <c:v>37</c:v>
                </c:pt>
                <c:pt idx="61">
                  <c:v>36</c:v>
                </c:pt>
                <c:pt idx="62">
                  <c:v>37</c:v>
                </c:pt>
                <c:pt idx="63">
                  <c:v>49</c:v>
                </c:pt>
                <c:pt idx="64">
                  <c:v>43</c:v>
                </c:pt>
                <c:pt idx="65">
                  <c:v>37</c:v>
                </c:pt>
                <c:pt idx="66">
                  <c:v>33</c:v>
                </c:pt>
                <c:pt idx="67">
                  <c:v>36</c:v>
                </c:pt>
                <c:pt idx="68">
                  <c:v>36</c:v>
                </c:pt>
                <c:pt idx="69">
                  <c:v>39</c:v>
                </c:pt>
                <c:pt idx="70">
                  <c:v>36</c:v>
                </c:pt>
                <c:pt idx="71">
                  <c:v>40</c:v>
                </c:pt>
                <c:pt idx="72">
                  <c:v>35</c:v>
                </c:pt>
                <c:pt idx="73">
                  <c:v>36</c:v>
                </c:pt>
                <c:pt idx="74">
                  <c:v>36</c:v>
                </c:pt>
                <c:pt idx="75">
                  <c:v>42</c:v>
                </c:pt>
                <c:pt idx="76">
                  <c:v>37</c:v>
                </c:pt>
                <c:pt idx="77">
                  <c:v>37</c:v>
                </c:pt>
                <c:pt idx="78">
                  <c:v>39</c:v>
                </c:pt>
                <c:pt idx="79">
                  <c:v>45</c:v>
                </c:pt>
                <c:pt idx="80">
                  <c:v>50</c:v>
                </c:pt>
                <c:pt idx="81">
                  <c:v>40</c:v>
                </c:pt>
                <c:pt idx="82">
                  <c:v>38</c:v>
                </c:pt>
                <c:pt idx="83">
                  <c:v>39</c:v>
                </c:pt>
                <c:pt idx="84">
                  <c:v>44</c:v>
                </c:pt>
                <c:pt idx="85">
                  <c:v>36</c:v>
                </c:pt>
                <c:pt idx="86">
                  <c:v>13</c:v>
                </c:pt>
                <c:pt idx="87">
                  <c:v>14</c:v>
                </c:pt>
                <c:pt idx="88">
                  <c:v>14</c:v>
                </c:pt>
                <c:pt idx="89">
                  <c:v>13</c:v>
                </c:pt>
                <c:pt idx="90">
                  <c:v>15</c:v>
                </c:pt>
                <c:pt idx="91">
                  <c:v>10</c:v>
                </c:pt>
                <c:pt idx="92">
                  <c:v>14</c:v>
                </c:pt>
                <c:pt idx="93">
                  <c:v>14</c:v>
                </c:pt>
                <c:pt idx="94">
                  <c:v>14</c:v>
                </c:pt>
                <c:pt idx="95">
                  <c:v>14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077312"/>
        <c:axId val="34068672"/>
      </c:lineChart>
      <c:catAx>
        <c:axId val="40077312"/>
        <c:scaling>
          <c:orientation val="minMax"/>
        </c:scaling>
        <c:delete val="0"/>
        <c:axPos val="b"/>
        <c:majorTickMark val="out"/>
        <c:minorTickMark val="none"/>
        <c:tickLblPos val="nextTo"/>
        <c:crossAx val="34068672"/>
        <c:crosses val="autoZero"/>
        <c:auto val="1"/>
        <c:lblAlgn val="ctr"/>
        <c:lblOffset val="100"/>
        <c:noMultiLvlLbl val="0"/>
      </c:catAx>
      <c:valAx>
        <c:axId val="3406867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40077312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5702417048615178"/>
          <c:y val="2.98428842228055E-2"/>
          <c:w val="0.22108528225016649"/>
          <c:h val="8.3717191601049873E-2"/>
        </c:manualLayout>
      </c:layout>
      <c:overlay val="0"/>
    </c:legend>
    <c:plotVisOnly val="1"/>
    <c:dispBlanksAs val="gap"/>
    <c:showDLblsOverMax val="0"/>
  </c:chart>
  <c:externalData r:id="rId2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layout>
        <c:manualLayout>
          <c:xMode val="edge"/>
          <c:yMode val="edge"/>
          <c:x val="4.0243000874890661E-2"/>
          <c:y val="2.7777777777777776E-2"/>
        </c:manualLayout>
      </c:layout>
      <c:overlay val="0"/>
      <c:txPr>
        <a:bodyPr/>
        <a:lstStyle/>
        <a:p>
          <a:pPr>
            <a:defRPr sz="1600"/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3790529308836397"/>
          <c:y val="0.19480351414406533"/>
          <c:w val="0.81428827646544177"/>
          <c:h val="0.56965624088655586"/>
        </c:manualLayout>
      </c:layout>
      <c:lineChart>
        <c:grouping val="standard"/>
        <c:varyColors val="0"/>
        <c:ser>
          <c:idx val="0"/>
          <c:order val="0"/>
          <c:tx>
            <c:strRef>
              <c:f>AggLoadSummary!$K$1</c:f>
              <c:strCache>
                <c:ptCount val="1"/>
                <c:pt idx="0">
                  <c:v>SQL time/Process</c:v>
                </c:pt>
              </c:strCache>
            </c:strRef>
          </c:tx>
          <c:cat>
            <c:strRef>
              <c:f>AggLoadSummary!$B$2:$B$100</c:f>
              <c:strCache>
                <c:ptCount val="99"/>
                <c:pt idx="0">
                  <c:v> 13:21:00</c:v>
                </c:pt>
                <c:pt idx="1">
                  <c:v> 13:22:00</c:v>
                </c:pt>
                <c:pt idx="2">
                  <c:v> 13:23:00</c:v>
                </c:pt>
                <c:pt idx="3">
                  <c:v> 13:24:00</c:v>
                </c:pt>
                <c:pt idx="4">
                  <c:v> 13:25:00</c:v>
                </c:pt>
                <c:pt idx="5">
                  <c:v> 13:26:00</c:v>
                </c:pt>
                <c:pt idx="6">
                  <c:v> 13:27:00</c:v>
                </c:pt>
                <c:pt idx="7">
                  <c:v> 13:28:00</c:v>
                </c:pt>
                <c:pt idx="8">
                  <c:v> 13:29:00</c:v>
                </c:pt>
                <c:pt idx="9">
                  <c:v> 13:30:00</c:v>
                </c:pt>
                <c:pt idx="10">
                  <c:v> 13:31:00</c:v>
                </c:pt>
                <c:pt idx="11">
                  <c:v> 13:32:00</c:v>
                </c:pt>
                <c:pt idx="12">
                  <c:v> 13:33:00</c:v>
                </c:pt>
                <c:pt idx="13">
                  <c:v> 13:34:00</c:v>
                </c:pt>
                <c:pt idx="14">
                  <c:v> 13:35:00</c:v>
                </c:pt>
                <c:pt idx="15">
                  <c:v> 13:36:00</c:v>
                </c:pt>
                <c:pt idx="16">
                  <c:v> 13:37:00</c:v>
                </c:pt>
                <c:pt idx="17">
                  <c:v> 13:38:00</c:v>
                </c:pt>
                <c:pt idx="18">
                  <c:v> 13:39:00</c:v>
                </c:pt>
                <c:pt idx="19">
                  <c:v> 13:40:00</c:v>
                </c:pt>
                <c:pt idx="20">
                  <c:v> 13:41:00</c:v>
                </c:pt>
                <c:pt idx="21">
                  <c:v> 13:42:00</c:v>
                </c:pt>
                <c:pt idx="22">
                  <c:v> 13:43:00</c:v>
                </c:pt>
                <c:pt idx="23">
                  <c:v> 13:44:00</c:v>
                </c:pt>
                <c:pt idx="24">
                  <c:v> 13:45:00</c:v>
                </c:pt>
                <c:pt idx="25">
                  <c:v> 13:46:00</c:v>
                </c:pt>
                <c:pt idx="26">
                  <c:v> 13:47:00</c:v>
                </c:pt>
                <c:pt idx="27">
                  <c:v> 13:48:00</c:v>
                </c:pt>
                <c:pt idx="28">
                  <c:v> 13:49:00</c:v>
                </c:pt>
                <c:pt idx="29">
                  <c:v> 13:50:00</c:v>
                </c:pt>
                <c:pt idx="30">
                  <c:v> 13:51:00</c:v>
                </c:pt>
                <c:pt idx="31">
                  <c:v> 13:52:00</c:v>
                </c:pt>
                <c:pt idx="32">
                  <c:v> 13:53:00</c:v>
                </c:pt>
                <c:pt idx="33">
                  <c:v> 13:54:00</c:v>
                </c:pt>
                <c:pt idx="34">
                  <c:v> 13:55:00</c:v>
                </c:pt>
                <c:pt idx="35">
                  <c:v> 13:56:00</c:v>
                </c:pt>
                <c:pt idx="36">
                  <c:v> 13:57:00</c:v>
                </c:pt>
                <c:pt idx="37">
                  <c:v> 13:58:00</c:v>
                </c:pt>
                <c:pt idx="38">
                  <c:v> 13:59:00</c:v>
                </c:pt>
                <c:pt idx="39">
                  <c:v> 14:00:00</c:v>
                </c:pt>
                <c:pt idx="40">
                  <c:v> 14:01:00</c:v>
                </c:pt>
                <c:pt idx="41">
                  <c:v> 14:02:00</c:v>
                </c:pt>
                <c:pt idx="42">
                  <c:v> 14:03:00</c:v>
                </c:pt>
                <c:pt idx="43">
                  <c:v> 14:04:00</c:v>
                </c:pt>
                <c:pt idx="44">
                  <c:v> 14:05:00</c:v>
                </c:pt>
                <c:pt idx="45">
                  <c:v> 14:06:00</c:v>
                </c:pt>
                <c:pt idx="46">
                  <c:v> 14:07:00</c:v>
                </c:pt>
                <c:pt idx="47">
                  <c:v> 14:08:00</c:v>
                </c:pt>
                <c:pt idx="48">
                  <c:v> 14:09:00</c:v>
                </c:pt>
                <c:pt idx="49">
                  <c:v> 14:10:00</c:v>
                </c:pt>
                <c:pt idx="50">
                  <c:v> 14:11:00</c:v>
                </c:pt>
                <c:pt idx="51">
                  <c:v> 14:12:00</c:v>
                </c:pt>
                <c:pt idx="52">
                  <c:v> 14:13:00</c:v>
                </c:pt>
                <c:pt idx="53">
                  <c:v> 14:14:00</c:v>
                </c:pt>
                <c:pt idx="54">
                  <c:v> 14:15:00</c:v>
                </c:pt>
                <c:pt idx="55">
                  <c:v> 14:16:00</c:v>
                </c:pt>
                <c:pt idx="56">
                  <c:v> 14:17:00</c:v>
                </c:pt>
                <c:pt idx="57">
                  <c:v> 14:18:00</c:v>
                </c:pt>
                <c:pt idx="58">
                  <c:v> 14:19:00</c:v>
                </c:pt>
                <c:pt idx="59">
                  <c:v> 14:20:00</c:v>
                </c:pt>
                <c:pt idx="60">
                  <c:v> 14:21:00</c:v>
                </c:pt>
                <c:pt idx="61">
                  <c:v> 14:22:00</c:v>
                </c:pt>
                <c:pt idx="62">
                  <c:v> 14:23:00</c:v>
                </c:pt>
                <c:pt idx="63">
                  <c:v> 14:24:00</c:v>
                </c:pt>
                <c:pt idx="64">
                  <c:v> 14:25:00</c:v>
                </c:pt>
                <c:pt idx="65">
                  <c:v> 14:26:00</c:v>
                </c:pt>
                <c:pt idx="66">
                  <c:v> 14:27:00</c:v>
                </c:pt>
                <c:pt idx="67">
                  <c:v> 14:28:00</c:v>
                </c:pt>
                <c:pt idx="68">
                  <c:v> 14:29:00</c:v>
                </c:pt>
                <c:pt idx="69">
                  <c:v> 14:30:00</c:v>
                </c:pt>
                <c:pt idx="70">
                  <c:v> 14:31:00</c:v>
                </c:pt>
                <c:pt idx="71">
                  <c:v> 14:32:00</c:v>
                </c:pt>
                <c:pt idx="72">
                  <c:v> 14:33:00</c:v>
                </c:pt>
                <c:pt idx="73">
                  <c:v> 14:34:00</c:v>
                </c:pt>
                <c:pt idx="74">
                  <c:v> 14:35:00</c:v>
                </c:pt>
                <c:pt idx="75">
                  <c:v> 14:36:00</c:v>
                </c:pt>
                <c:pt idx="76">
                  <c:v> 14:37:00</c:v>
                </c:pt>
                <c:pt idx="77">
                  <c:v> 14:38:00</c:v>
                </c:pt>
                <c:pt idx="78">
                  <c:v> 14:39:00</c:v>
                </c:pt>
                <c:pt idx="79">
                  <c:v> 14:40:00</c:v>
                </c:pt>
                <c:pt idx="80">
                  <c:v> 14:41:00</c:v>
                </c:pt>
                <c:pt idx="81">
                  <c:v> 14:42:00</c:v>
                </c:pt>
                <c:pt idx="82">
                  <c:v> 14:43:00</c:v>
                </c:pt>
                <c:pt idx="83">
                  <c:v> 14:44:00</c:v>
                </c:pt>
                <c:pt idx="84">
                  <c:v> 14:45:00</c:v>
                </c:pt>
                <c:pt idx="85">
                  <c:v> 14:46:00</c:v>
                </c:pt>
                <c:pt idx="86">
                  <c:v> 14:47:00</c:v>
                </c:pt>
                <c:pt idx="87">
                  <c:v> 14:48:00</c:v>
                </c:pt>
                <c:pt idx="88">
                  <c:v> 14:49:00</c:v>
                </c:pt>
                <c:pt idx="89">
                  <c:v> 14:50:00</c:v>
                </c:pt>
                <c:pt idx="90">
                  <c:v> 14:51:00</c:v>
                </c:pt>
                <c:pt idx="91">
                  <c:v> 14:52:00</c:v>
                </c:pt>
                <c:pt idx="92">
                  <c:v> 14:53:00</c:v>
                </c:pt>
                <c:pt idx="93">
                  <c:v> 14:54:00</c:v>
                </c:pt>
                <c:pt idx="94">
                  <c:v> 14:55:00</c:v>
                </c:pt>
                <c:pt idx="95">
                  <c:v> 14:56:00</c:v>
                </c:pt>
                <c:pt idx="96">
                  <c:v> 14:57:00</c:v>
                </c:pt>
                <c:pt idx="97">
                  <c:v> 14:58:00</c:v>
                </c:pt>
                <c:pt idx="98">
                  <c:v> 14:59:00</c:v>
                </c:pt>
              </c:strCache>
            </c:strRef>
          </c:cat>
          <c:val>
            <c:numRef>
              <c:f>AggLoadSummary!$K$2:$K$100</c:f>
              <c:numCache>
                <c:formatCode>General</c:formatCode>
                <c:ptCount val="99"/>
                <c:pt idx="0">
                  <c:v>0.22173684210526315</c:v>
                </c:pt>
                <c:pt idx="1">
                  <c:v>0.14899999999999999</c:v>
                </c:pt>
                <c:pt idx="2">
                  <c:v>5.4888888888888883E-2</c:v>
                </c:pt>
                <c:pt idx="3">
                  <c:v>8.5000000000000006E-3</c:v>
                </c:pt>
                <c:pt idx="4">
                  <c:v>4.3750000000000004E-3</c:v>
                </c:pt>
                <c:pt idx="5">
                  <c:v>6.4444444444444445E-3</c:v>
                </c:pt>
                <c:pt idx="6">
                  <c:v>7.1999999999999998E-3</c:v>
                </c:pt>
                <c:pt idx="7">
                  <c:v>5.7000000000000002E-3</c:v>
                </c:pt>
                <c:pt idx="8">
                  <c:v>5.1999999999999998E-3</c:v>
                </c:pt>
                <c:pt idx="9">
                  <c:v>6.6E-3</c:v>
                </c:pt>
                <c:pt idx="10">
                  <c:v>3.2499999999999999E-3</c:v>
                </c:pt>
                <c:pt idx="11">
                  <c:v>5.1111111111111105E-3</c:v>
                </c:pt>
                <c:pt idx="12">
                  <c:v>7.1999999999999998E-3</c:v>
                </c:pt>
                <c:pt idx="13">
                  <c:v>0.20947368421052634</c:v>
                </c:pt>
                <c:pt idx="14">
                  <c:v>4.2307692307692307E-3</c:v>
                </c:pt>
                <c:pt idx="15">
                  <c:v>5.7142857142857143E-3</c:v>
                </c:pt>
                <c:pt idx="16">
                  <c:v>0.56220833333333342</c:v>
                </c:pt>
                <c:pt idx="17">
                  <c:v>0.29841666666666666</c:v>
                </c:pt>
                <c:pt idx="18">
                  <c:v>0.68511111111111112</c:v>
                </c:pt>
                <c:pt idx="19">
                  <c:v>0.22493333333333335</c:v>
                </c:pt>
                <c:pt idx="20">
                  <c:v>0.31281481481481482</c:v>
                </c:pt>
                <c:pt idx="21">
                  <c:v>0.3667083333333333</c:v>
                </c:pt>
                <c:pt idx="22">
                  <c:v>0.41532142857142856</c:v>
                </c:pt>
                <c:pt idx="23">
                  <c:v>0.43662068965517242</c:v>
                </c:pt>
                <c:pt idx="24">
                  <c:v>0.4710571428571429</c:v>
                </c:pt>
                <c:pt idx="25">
                  <c:v>0.64223529411764713</c:v>
                </c:pt>
                <c:pt idx="26">
                  <c:v>0.68043243243243234</c:v>
                </c:pt>
                <c:pt idx="27">
                  <c:v>0.75122222222222212</c:v>
                </c:pt>
                <c:pt idx="28">
                  <c:v>0.8166969696969697</c:v>
                </c:pt>
                <c:pt idx="29">
                  <c:v>0.96385294117647058</c:v>
                </c:pt>
                <c:pt idx="30">
                  <c:v>1.1190625000000001</c:v>
                </c:pt>
                <c:pt idx="31">
                  <c:v>0.89017073170731709</c:v>
                </c:pt>
                <c:pt idx="32">
                  <c:v>0.98775675675675678</c:v>
                </c:pt>
                <c:pt idx="33">
                  <c:v>0.85244117647058826</c:v>
                </c:pt>
                <c:pt idx="34">
                  <c:v>1.0449999999999999</c:v>
                </c:pt>
                <c:pt idx="35">
                  <c:v>0.94713513513513514</c:v>
                </c:pt>
                <c:pt idx="36">
                  <c:v>0.97022222222222221</c:v>
                </c:pt>
                <c:pt idx="37">
                  <c:v>1.0678484848484848</c:v>
                </c:pt>
                <c:pt idx="38">
                  <c:v>0.93209090909090908</c:v>
                </c:pt>
                <c:pt idx="39">
                  <c:v>1.5412058823529413</c:v>
                </c:pt>
                <c:pt idx="40">
                  <c:v>1.0806756756756757</c:v>
                </c:pt>
                <c:pt idx="41">
                  <c:v>1.0835526315789472</c:v>
                </c:pt>
                <c:pt idx="42">
                  <c:v>1.2837777777777779</c:v>
                </c:pt>
                <c:pt idx="43">
                  <c:v>1.1501515151515151</c:v>
                </c:pt>
                <c:pt idx="44">
                  <c:v>0.94341025641025644</c:v>
                </c:pt>
                <c:pt idx="45">
                  <c:v>0.80295000000000005</c:v>
                </c:pt>
                <c:pt idx="46">
                  <c:v>0.81994594594594594</c:v>
                </c:pt>
                <c:pt idx="47">
                  <c:v>0.83884999999999998</c:v>
                </c:pt>
                <c:pt idx="48">
                  <c:v>0.75375000000000003</c:v>
                </c:pt>
                <c:pt idx="49">
                  <c:v>1.0763750000000001</c:v>
                </c:pt>
                <c:pt idx="50">
                  <c:v>0.91249999999999998</c:v>
                </c:pt>
                <c:pt idx="51">
                  <c:v>1.0313255813953488</c:v>
                </c:pt>
                <c:pt idx="52">
                  <c:v>1.0606111111111112</c:v>
                </c:pt>
                <c:pt idx="53">
                  <c:v>1.0216842105263158</c:v>
                </c:pt>
                <c:pt idx="54">
                  <c:v>1.0805277777777778</c:v>
                </c:pt>
                <c:pt idx="55">
                  <c:v>1</c:v>
                </c:pt>
                <c:pt idx="56">
                  <c:v>1.2200833333333332</c:v>
                </c:pt>
                <c:pt idx="57">
                  <c:v>0.99497619047619046</c:v>
                </c:pt>
                <c:pt idx="58">
                  <c:v>1.2441904761904761</c:v>
                </c:pt>
                <c:pt idx="59">
                  <c:v>1.1230487804878049</c:v>
                </c:pt>
                <c:pt idx="60">
                  <c:v>0.99719512195121951</c:v>
                </c:pt>
                <c:pt idx="61">
                  <c:v>1.0597105263157893</c:v>
                </c:pt>
                <c:pt idx="62">
                  <c:v>1.0789512195121951</c:v>
                </c:pt>
                <c:pt idx="63">
                  <c:v>1.1761842105263158</c:v>
                </c:pt>
                <c:pt idx="64">
                  <c:v>1.0414864864864866</c:v>
                </c:pt>
                <c:pt idx="65">
                  <c:v>0.9732777777777778</c:v>
                </c:pt>
                <c:pt idx="66">
                  <c:v>1.0312162162162162</c:v>
                </c:pt>
                <c:pt idx="67">
                  <c:v>0.90600000000000003</c:v>
                </c:pt>
                <c:pt idx="68">
                  <c:v>1.0696511627906977</c:v>
                </c:pt>
                <c:pt idx="69">
                  <c:v>1.0712162162162162</c:v>
                </c:pt>
                <c:pt idx="70">
                  <c:v>1.1955757575757575</c:v>
                </c:pt>
                <c:pt idx="71">
                  <c:v>1.18675</c:v>
                </c:pt>
                <c:pt idx="72">
                  <c:v>1.1475</c:v>
                </c:pt>
                <c:pt idx="73">
                  <c:v>1.1185641025641024</c:v>
                </c:pt>
                <c:pt idx="74">
                  <c:v>1.250361111111111</c:v>
                </c:pt>
                <c:pt idx="75">
                  <c:v>1.002575</c:v>
                </c:pt>
                <c:pt idx="76">
                  <c:v>1.1361142857142856</c:v>
                </c:pt>
                <c:pt idx="77">
                  <c:v>1.0698611111111112</c:v>
                </c:pt>
                <c:pt idx="78">
                  <c:v>1.1472777777777778</c:v>
                </c:pt>
                <c:pt idx="79">
                  <c:v>1.0869523809523809</c:v>
                </c:pt>
                <c:pt idx="80">
                  <c:v>1.0324324324324325</c:v>
                </c:pt>
                <c:pt idx="81">
                  <c:v>0.99672972972972973</c:v>
                </c:pt>
                <c:pt idx="82">
                  <c:v>1.0463589743589743</c:v>
                </c:pt>
                <c:pt idx="83">
                  <c:v>0.88588888888888895</c:v>
                </c:pt>
                <c:pt idx="84">
                  <c:v>0.76941999999999999</c:v>
                </c:pt>
                <c:pt idx="85">
                  <c:v>1.0276749999999999</c:v>
                </c:pt>
                <c:pt idx="86">
                  <c:v>1.0997894736842107</c:v>
                </c:pt>
                <c:pt idx="87">
                  <c:v>1.1228205128205129</c:v>
                </c:pt>
                <c:pt idx="88">
                  <c:v>0.92320454545454544</c:v>
                </c:pt>
                <c:pt idx="89">
                  <c:v>0.43602777777777779</c:v>
                </c:pt>
                <c:pt idx="90">
                  <c:v>3.3076923076923075E-3</c:v>
                </c:pt>
                <c:pt idx="91">
                  <c:v>3.5714285714285718E-3</c:v>
                </c:pt>
                <c:pt idx="92">
                  <c:v>3.5714285714285718E-3</c:v>
                </c:pt>
                <c:pt idx="93">
                  <c:v>3.0769230769230769E-3</c:v>
                </c:pt>
                <c:pt idx="94">
                  <c:v>2.8666666666666667E-3</c:v>
                </c:pt>
                <c:pt idx="95">
                  <c:v>3.5999999999999999E-3</c:v>
                </c:pt>
                <c:pt idx="96">
                  <c:v>3.0714285714285717E-3</c:v>
                </c:pt>
                <c:pt idx="97">
                  <c:v>2.3571428571428571E-3</c:v>
                </c:pt>
                <c:pt idx="98">
                  <c:v>4.0714285714285713E-3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5498496"/>
        <c:axId val="119831872"/>
      </c:lineChart>
      <c:catAx>
        <c:axId val="155498496"/>
        <c:scaling>
          <c:orientation val="minMax"/>
        </c:scaling>
        <c:delete val="0"/>
        <c:axPos val="b"/>
        <c:majorTickMark val="none"/>
        <c:minorTickMark val="none"/>
        <c:tickLblPos val="nextTo"/>
        <c:crossAx val="119831872"/>
        <c:crosses val="autoZero"/>
        <c:auto val="1"/>
        <c:lblAlgn val="ctr"/>
        <c:lblOffset val="100"/>
        <c:noMultiLvlLbl val="0"/>
      </c:catAx>
      <c:valAx>
        <c:axId val="11983187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200"/>
                </a:pPr>
                <a:r>
                  <a:rPr lang="en-US" sz="1200"/>
                  <a:t>Time</a:t>
                </a:r>
                <a:r>
                  <a:rPr lang="en-US" sz="1200" baseline="0"/>
                  <a:t> in Seconds</a:t>
                </a:r>
                <a:endParaRPr lang="en-US" sz="1200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155498496"/>
        <c:crosses val="autoZero"/>
        <c:crossBetween val="between"/>
      </c:valAx>
    </c:plotArea>
    <c:plotVisOnly val="1"/>
    <c:dispBlanksAs val="gap"/>
    <c:showDLblsOverMax val="0"/>
  </c:chart>
  <c:externalData r:id="rId2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SQL Transactions/Process</a:t>
            </a:r>
            <a:endParaRPr lang="en-US" dirty="0"/>
          </a:p>
        </c:rich>
      </c:tx>
      <c:layout>
        <c:manualLayout>
          <c:xMode val="edge"/>
          <c:yMode val="edge"/>
          <c:x val="7.734033245844267E-2"/>
          <c:y val="3.2407407407407406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14497462817147858"/>
          <c:y val="0.19480351414406533"/>
          <c:w val="0.8228576115485563"/>
          <c:h val="0.56965624088655586"/>
        </c:manualLayout>
      </c:layout>
      <c:lineChart>
        <c:grouping val="standard"/>
        <c:varyColors val="0"/>
        <c:ser>
          <c:idx val="0"/>
          <c:order val="0"/>
          <c:tx>
            <c:strRef>
              <c:f>AggLoadSummary!$L$1</c:f>
              <c:strCache>
                <c:ptCount val="1"/>
                <c:pt idx="0">
                  <c:v>Transactions/Process</c:v>
                </c:pt>
              </c:strCache>
            </c:strRef>
          </c:tx>
          <c:marker>
            <c:symbol val="triangle"/>
            <c:size val="7"/>
          </c:marker>
          <c:cat>
            <c:strRef>
              <c:f>AggLoadSummary!$B$2:$B$100</c:f>
              <c:strCache>
                <c:ptCount val="99"/>
                <c:pt idx="0">
                  <c:v> 13:21:00</c:v>
                </c:pt>
                <c:pt idx="1">
                  <c:v> 13:22:00</c:v>
                </c:pt>
                <c:pt idx="2">
                  <c:v> 13:23:00</c:v>
                </c:pt>
                <c:pt idx="3">
                  <c:v> 13:24:00</c:v>
                </c:pt>
                <c:pt idx="4">
                  <c:v> 13:25:00</c:v>
                </c:pt>
                <c:pt idx="5">
                  <c:v> 13:26:00</c:v>
                </c:pt>
                <c:pt idx="6">
                  <c:v> 13:27:00</c:v>
                </c:pt>
                <c:pt idx="7">
                  <c:v> 13:28:00</c:v>
                </c:pt>
                <c:pt idx="8">
                  <c:v> 13:29:00</c:v>
                </c:pt>
                <c:pt idx="9">
                  <c:v> 13:30:00</c:v>
                </c:pt>
                <c:pt idx="10">
                  <c:v> 13:31:00</c:v>
                </c:pt>
                <c:pt idx="11">
                  <c:v> 13:32:00</c:v>
                </c:pt>
                <c:pt idx="12">
                  <c:v> 13:33:00</c:v>
                </c:pt>
                <c:pt idx="13">
                  <c:v> 13:34:00</c:v>
                </c:pt>
                <c:pt idx="14">
                  <c:v> 13:35:00</c:v>
                </c:pt>
                <c:pt idx="15">
                  <c:v> 13:36:00</c:v>
                </c:pt>
                <c:pt idx="16">
                  <c:v> 13:37:00</c:v>
                </c:pt>
                <c:pt idx="17">
                  <c:v> 13:38:00</c:v>
                </c:pt>
                <c:pt idx="18">
                  <c:v> 13:39:00</c:v>
                </c:pt>
                <c:pt idx="19">
                  <c:v> 13:40:00</c:v>
                </c:pt>
                <c:pt idx="20">
                  <c:v> 13:41:00</c:v>
                </c:pt>
                <c:pt idx="21">
                  <c:v> 13:42:00</c:v>
                </c:pt>
                <c:pt idx="22">
                  <c:v> 13:43:00</c:v>
                </c:pt>
                <c:pt idx="23">
                  <c:v> 13:44:00</c:v>
                </c:pt>
                <c:pt idx="24">
                  <c:v> 13:45:00</c:v>
                </c:pt>
                <c:pt idx="25">
                  <c:v> 13:46:00</c:v>
                </c:pt>
                <c:pt idx="26">
                  <c:v> 13:47:00</c:v>
                </c:pt>
                <c:pt idx="27">
                  <c:v> 13:48:00</c:v>
                </c:pt>
                <c:pt idx="28">
                  <c:v> 13:49:00</c:v>
                </c:pt>
                <c:pt idx="29">
                  <c:v> 13:50:00</c:v>
                </c:pt>
                <c:pt idx="30">
                  <c:v> 13:51:00</c:v>
                </c:pt>
                <c:pt idx="31">
                  <c:v> 13:52:00</c:v>
                </c:pt>
                <c:pt idx="32">
                  <c:v> 13:53:00</c:v>
                </c:pt>
                <c:pt idx="33">
                  <c:v> 13:54:00</c:v>
                </c:pt>
                <c:pt idx="34">
                  <c:v> 13:55:00</c:v>
                </c:pt>
                <c:pt idx="35">
                  <c:v> 13:56:00</c:v>
                </c:pt>
                <c:pt idx="36">
                  <c:v> 13:57:00</c:v>
                </c:pt>
                <c:pt idx="37">
                  <c:v> 13:58:00</c:v>
                </c:pt>
                <c:pt idx="38">
                  <c:v> 13:59:00</c:v>
                </c:pt>
                <c:pt idx="39">
                  <c:v> 14:00:00</c:v>
                </c:pt>
                <c:pt idx="40">
                  <c:v> 14:01:00</c:v>
                </c:pt>
                <c:pt idx="41">
                  <c:v> 14:02:00</c:v>
                </c:pt>
                <c:pt idx="42">
                  <c:v> 14:03:00</c:v>
                </c:pt>
                <c:pt idx="43">
                  <c:v> 14:04:00</c:v>
                </c:pt>
                <c:pt idx="44">
                  <c:v> 14:05:00</c:v>
                </c:pt>
                <c:pt idx="45">
                  <c:v> 14:06:00</c:v>
                </c:pt>
                <c:pt idx="46">
                  <c:v> 14:07:00</c:v>
                </c:pt>
                <c:pt idx="47">
                  <c:v> 14:08:00</c:v>
                </c:pt>
                <c:pt idx="48">
                  <c:v> 14:09:00</c:v>
                </c:pt>
                <c:pt idx="49">
                  <c:v> 14:10:00</c:v>
                </c:pt>
                <c:pt idx="50">
                  <c:v> 14:11:00</c:v>
                </c:pt>
                <c:pt idx="51">
                  <c:v> 14:12:00</c:v>
                </c:pt>
                <c:pt idx="52">
                  <c:v> 14:13:00</c:v>
                </c:pt>
                <c:pt idx="53">
                  <c:v> 14:14:00</c:v>
                </c:pt>
                <c:pt idx="54">
                  <c:v> 14:15:00</c:v>
                </c:pt>
                <c:pt idx="55">
                  <c:v> 14:16:00</c:v>
                </c:pt>
                <c:pt idx="56">
                  <c:v> 14:17:00</c:v>
                </c:pt>
                <c:pt idx="57">
                  <c:v> 14:18:00</c:v>
                </c:pt>
                <c:pt idx="58">
                  <c:v> 14:19:00</c:v>
                </c:pt>
                <c:pt idx="59">
                  <c:v> 14:20:00</c:v>
                </c:pt>
                <c:pt idx="60">
                  <c:v> 14:21:00</c:v>
                </c:pt>
                <c:pt idx="61">
                  <c:v> 14:22:00</c:v>
                </c:pt>
                <c:pt idx="62">
                  <c:v> 14:23:00</c:v>
                </c:pt>
                <c:pt idx="63">
                  <c:v> 14:24:00</c:v>
                </c:pt>
                <c:pt idx="64">
                  <c:v> 14:25:00</c:v>
                </c:pt>
                <c:pt idx="65">
                  <c:v> 14:26:00</c:v>
                </c:pt>
                <c:pt idx="66">
                  <c:v> 14:27:00</c:v>
                </c:pt>
                <c:pt idx="67">
                  <c:v> 14:28:00</c:v>
                </c:pt>
                <c:pt idx="68">
                  <c:v> 14:29:00</c:v>
                </c:pt>
                <c:pt idx="69">
                  <c:v> 14:30:00</c:v>
                </c:pt>
                <c:pt idx="70">
                  <c:v> 14:31:00</c:v>
                </c:pt>
                <c:pt idx="71">
                  <c:v> 14:32:00</c:v>
                </c:pt>
                <c:pt idx="72">
                  <c:v> 14:33:00</c:v>
                </c:pt>
                <c:pt idx="73">
                  <c:v> 14:34:00</c:v>
                </c:pt>
                <c:pt idx="74">
                  <c:v> 14:35:00</c:v>
                </c:pt>
                <c:pt idx="75">
                  <c:v> 14:36:00</c:v>
                </c:pt>
                <c:pt idx="76">
                  <c:v> 14:37:00</c:v>
                </c:pt>
                <c:pt idx="77">
                  <c:v> 14:38:00</c:v>
                </c:pt>
                <c:pt idx="78">
                  <c:v> 14:39:00</c:v>
                </c:pt>
                <c:pt idx="79">
                  <c:v> 14:40:00</c:v>
                </c:pt>
                <c:pt idx="80">
                  <c:v> 14:41:00</c:v>
                </c:pt>
                <c:pt idx="81">
                  <c:v> 14:42:00</c:v>
                </c:pt>
                <c:pt idx="82">
                  <c:v> 14:43:00</c:v>
                </c:pt>
                <c:pt idx="83">
                  <c:v> 14:44:00</c:v>
                </c:pt>
                <c:pt idx="84">
                  <c:v> 14:45:00</c:v>
                </c:pt>
                <c:pt idx="85">
                  <c:v> 14:46:00</c:v>
                </c:pt>
                <c:pt idx="86">
                  <c:v> 14:47:00</c:v>
                </c:pt>
                <c:pt idx="87">
                  <c:v> 14:48:00</c:v>
                </c:pt>
                <c:pt idx="88">
                  <c:v> 14:49:00</c:v>
                </c:pt>
                <c:pt idx="89">
                  <c:v> 14:50:00</c:v>
                </c:pt>
                <c:pt idx="90">
                  <c:v> 14:51:00</c:v>
                </c:pt>
                <c:pt idx="91">
                  <c:v> 14:52:00</c:v>
                </c:pt>
                <c:pt idx="92">
                  <c:v> 14:53:00</c:v>
                </c:pt>
                <c:pt idx="93">
                  <c:v> 14:54:00</c:v>
                </c:pt>
                <c:pt idx="94">
                  <c:v> 14:55:00</c:v>
                </c:pt>
                <c:pt idx="95">
                  <c:v> 14:56:00</c:v>
                </c:pt>
                <c:pt idx="96">
                  <c:v> 14:57:00</c:v>
                </c:pt>
                <c:pt idx="97">
                  <c:v> 14:58:00</c:v>
                </c:pt>
                <c:pt idx="98">
                  <c:v> 14:59:00</c:v>
                </c:pt>
              </c:strCache>
            </c:strRef>
          </c:cat>
          <c:val>
            <c:numRef>
              <c:f>AggLoadSummary!$L$2:$L$100</c:f>
              <c:numCache>
                <c:formatCode>General</c:formatCode>
                <c:ptCount val="99"/>
                <c:pt idx="0">
                  <c:v>26.649122807017545</c:v>
                </c:pt>
                <c:pt idx="1">
                  <c:v>12.444444444444445</c:v>
                </c:pt>
                <c:pt idx="2">
                  <c:v>2.3333333333333335</c:v>
                </c:pt>
                <c:pt idx="3">
                  <c:v>3.5</c:v>
                </c:pt>
                <c:pt idx="4">
                  <c:v>1.875</c:v>
                </c:pt>
                <c:pt idx="5">
                  <c:v>2.3333333333333335</c:v>
                </c:pt>
                <c:pt idx="6">
                  <c:v>2.8</c:v>
                </c:pt>
                <c:pt idx="7">
                  <c:v>2</c:v>
                </c:pt>
                <c:pt idx="8">
                  <c:v>2</c:v>
                </c:pt>
                <c:pt idx="9">
                  <c:v>2.6</c:v>
                </c:pt>
                <c:pt idx="10">
                  <c:v>1.5</c:v>
                </c:pt>
                <c:pt idx="11">
                  <c:v>2.5555555555555554</c:v>
                </c:pt>
                <c:pt idx="12">
                  <c:v>3.3</c:v>
                </c:pt>
                <c:pt idx="13">
                  <c:v>32.157894736842103</c:v>
                </c:pt>
                <c:pt idx="14">
                  <c:v>2</c:v>
                </c:pt>
                <c:pt idx="15">
                  <c:v>2.2857142857142856</c:v>
                </c:pt>
                <c:pt idx="16">
                  <c:v>35.666666666666664</c:v>
                </c:pt>
                <c:pt idx="17">
                  <c:v>54.875</c:v>
                </c:pt>
                <c:pt idx="18">
                  <c:v>47.25925925925926</c:v>
                </c:pt>
                <c:pt idx="19">
                  <c:v>47.56666666666667</c:v>
                </c:pt>
                <c:pt idx="20">
                  <c:v>53.703703703703702</c:v>
                </c:pt>
                <c:pt idx="21">
                  <c:v>71.791666666666671</c:v>
                </c:pt>
                <c:pt idx="22">
                  <c:v>75.964285714285708</c:v>
                </c:pt>
                <c:pt idx="23">
                  <c:v>84.724137931034477</c:v>
                </c:pt>
                <c:pt idx="24">
                  <c:v>85.971428571428575</c:v>
                </c:pt>
                <c:pt idx="25">
                  <c:v>107.67647058823529</c:v>
                </c:pt>
                <c:pt idx="26">
                  <c:v>114.51351351351352</c:v>
                </c:pt>
                <c:pt idx="27">
                  <c:v>127.30555555555556</c:v>
                </c:pt>
                <c:pt idx="28">
                  <c:v>144.06060606060606</c:v>
                </c:pt>
                <c:pt idx="29">
                  <c:v>163.55882352941177</c:v>
                </c:pt>
                <c:pt idx="30">
                  <c:v>180.15625</c:v>
                </c:pt>
                <c:pt idx="31">
                  <c:v>154.53658536585365</c:v>
                </c:pt>
                <c:pt idx="32">
                  <c:v>180.75675675675674</c:v>
                </c:pt>
                <c:pt idx="33">
                  <c:v>169.26470588235293</c:v>
                </c:pt>
                <c:pt idx="34">
                  <c:v>182.97142857142856</c:v>
                </c:pt>
                <c:pt idx="35">
                  <c:v>172.43243243243242</c:v>
                </c:pt>
                <c:pt idx="36">
                  <c:v>181.41666666666666</c:v>
                </c:pt>
                <c:pt idx="37">
                  <c:v>188.45454545454547</c:v>
                </c:pt>
                <c:pt idx="38">
                  <c:v>175.12121212121212</c:v>
                </c:pt>
                <c:pt idx="39">
                  <c:v>207.58823529411765</c:v>
                </c:pt>
                <c:pt idx="40">
                  <c:v>195.81081081081081</c:v>
                </c:pt>
                <c:pt idx="41">
                  <c:v>207.86842105263159</c:v>
                </c:pt>
                <c:pt idx="42">
                  <c:v>210.13888888888889</c:v>
                </c:pt>
                <c:pt idx="43">
                  <c:v>208.27272727272728</c:v>
                </c:pt>
                <c:pt idx="44">
                  <c:v>166.38461538461539</c:v>
                </c:pt>
                <c:pt idx="45">
                  <c:v>148.85</c:v>
                </c:pt>
                <c:pt idx="46">
                  <c:v>171.02702702702703</c:v>
                </c:pt>
                <c:pt idx="47">
                  <c:v>155.17500000000001</c:v>
                </c:pt>
                <c:pt idx="48">
                  <c:v>158.19444444444446</c:v>
                </c:pt>
                <c:pt idx="49">
                  <c:v>222.5</c:v>
                </c:pt>
                <c:pt idx="50">
                  <c:v>161.73809523809524</c:v>
                </c:pt>
                <c:pt idx="51">
                  <c:v>170.74418604651163</c:v>
                </c:pt>
                <c:pt idx="52">
                  <c:v>186.77777777777777</c:v>
                </c:pt>
                <c:pt idx="53">
                  <c:v>185.55263157894737</c:v>
                </c:pt>
                <c:pt idx="54">
                  <c:v>201.61111111111111</c:v>
                </c:pt>
                <c:pt idx="55">
                  <c:v>170.10526315789474</c:v>
                </c:pt>
                <c:pt idx="56">
                  <c:v>197.19444444444446</c:v>
                </c:pt>
                <c:pt idx="57">
                  <c:v>183.6904761904762</c:v>
                </c:pt>
                <c:pt idx="58">
                  <c:v>184.78571428571428</c:v>
                </c:pt>
                <c:pt idx="59">
                  <c:v>174.73170731707316</c:v>
                </c:pt>
                <c:pt idx="60">
                  <c:v>167.02439024390245</c:v>
                </c:pt>
                <c:pt idx="61">
                  <c:v>181.23684210526315</c:v>
                </c:pt>
                <c:pt idx="62">
                  <c:v>185.92682926829269</c:v>
                </c:pt>
                <c:pt idx="63">
                  <c:v>189.78947368421052</c:v>
                </c:pt>
                <c:pt idx="64">
                  <c:v>193.75675675675674</c:v>
                </c:pt>
                <c:pt idx="65">
                  <c:v>183.58333333333334</c:v>
                </c:pt>
                <c:pt idx="66">
                  <c:v>187.91891891891891</c:v>
                </c:pt>
                <c:pt idx="67">
                  <c:v>148.85714285714286</c:v>
                </c:pt>
                <c:pt idx="68">
                  <c:v>170.06976744186048</c:v>
                </c:pt>
                <c:pt idx="69">
                  <c:v>192.32432432432432</c:v>
                </c:pt>
                <c:pt idx="70">
                  <c:v>213.57575757575756</c:v>
                </c:pt>
                <c:pt idx="71">
                  <c:v>209.52777777777777</c:v>
                </c:pt>
                <c:pt idx="72">
                  <c:v>199.91666666666666</c:v>
                </c:pt>
                <c:pt idx="73">
                  <c:v>184.7948717948718</c:v>
                </c:pt>
                <c:pt idx="74">
                  <c:v>206.05555555555554</c:v>
                </c:pt>
                <c:pt idx="75">
                  <c:v>184.07499999999999</c:v>
                </c:pt>
                <c:pt idx="76">
                  <c:v>202.82857142857142</c:v>
                </c:pt>
                <c:pt idx="77">
                  <c:v>197</c:v>
                </c:pt>
                <c:pt idx="78">
                  <c:v>204.16666666666666</c:v>
                </c:pt>
                <c:pt idx="79">
                  <c:v>174.1904761904762</c:v>
                </c:pt>
                <c:pt idx="80">
                  <c:v>196.97297297297297</c:v>
                </c:pt>
                <c:pt idx="81">
                  <c:v>182.16216216216216</c:v>
                </c:pt>
                <c:pt idx="82">
                  <c:v>174.38461538461539</c:v>
                </c:pt>
                <c:pt idx="83">
                  <c:v>152.88888888888889</c:v>
                </c:pt>
                <c:pt idx="84">
                  <c:v>135.41999999999999</c:v>
                </c:pt>
                <c:pt idx="85">
                  <c:v>192.15</c:v>
                </c:pt>
                <c:pt idx="86">
                  <c:v>199.26315789473685</c:v>
                </c:pt>
                <c:pt idx="87">
                  <c:v>187.82051282051282</c:v>
                </c:pt>
                <c:pt idx="88">
                  <c:v>167.36363636363637</c:v>
                </c:pt>
                <c:pt idx="89">
                  <c:v>82.972222222222229</c:v>
                </c:pt>
                <c:pt idx="90">
                  <c:v>1.4615384615384615</c:v>
                </c:pt>
                <c:pt idx="91">
                  <c:v>1.6428571428571428</c:v>
                </c:pt>
                <c:pt idx="92">
                  <c:v>1.6428571428571428</c:v>
                </c:pt>
                <c:pt idx="93">
                  <c:v>1.5384615384615385</c:v>
                </c:pt>
                <c:pt idx="94">
                  <c:v>1.4</c:v>
                </c:pt>
                <c:pt idx="95">
                  <c:v>1.7</c:v>
                </c:pt>
                <c:pt idx="96">
                  <c:v>1.4285714285714286</c:v>
                </c:pt>
                <c:pt idx="97">
                  <c:v>1.1428571428571428</c:v>
                </c:pt>
                <c:pt idx="98">
                  <c:v>1.7857142857142858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5499520"/>
        <c:axId val="119831296"/>
      </c:lineChart>
      <c:catAx>
        <c:axId val="155499520"/>
        <c:scaling>
          <c:orientation val="minMax"/>
        </c:scaling>
        <c:delete val="0"/>
        <c:axPos val="b"/>
        <c:majorTickMark val="none"/>
        <c:minorTickMark val="none"/>
        <c:tickLblPos val="nextTo"/>
        <c:crossAx val="119831296"/>
        <c:crosses val="autoZero"/>
        <c:auto val="1"/>
        <c:lblAlgn val="ctr"/>
        <c:lblOffset val="100"/>
        <c:noMultiLvlLbl val="0"/>
      </c:catAx>
      <c:valAx>
        <c:axId val="119831296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200" b="1"/>
                </a:pPr>
                <a:r>
                  <a:rPr lang="en-US" sz="1200" b="1"/>
                  <a:t>Volume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155499520"/>
        <c:crosses val="autoZero"/>
        <c:crossBetween val="between"/>
      </c:valAx>
    </c:plotArea>
    <c:plotVisOnly val="1"/>
    <c:dispBlanksAs val="gap"/>
    <c:showDLblsOverMax val="0"/>
  </c:chart>
  <c:externalData r:id="rId2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600"/>
            </a:pPr>
            <a:r>
              <a:rPr lang="en-US" sz="1600"/>
              <a:t>Total processes vis</a:t>
            </a:r>
            <a:r>
              <a:rPr lang="en-US" sz="1600" baseline="0"/>
              <a:t> a vis load</a:t>
            </a:r>
            <a:endParaRPr lang="en-US" sz="1600"/>
          </a:p>
        </c:rich>
      </c:tx>
      <c:layout>
        <c:manualLayout>
          <c:xMode val="edge"/>
          <c:yMode val="edge"/>
          <c:x val="5.430120148024975E-2"/>
          <c:y val="3.7037037037037035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5.3655956048972137E-2"/>
          <c:y val="0.16702573636628754"/>
          <c:w val="0.90767952918928607"/>
          <c:h val="0.71699438611840183"/>
        </c:manualLayout>
      </c:layout>
      <c:scatterChart>
        <c:scatterStyle val="lineMarker"/>
        <c:varyColors val="0"/>
        <c:ser>
          <c:idx val="0"/>
          <c:order val="0"/>
          <c:tx>
            <c:strRef>
              <c:f>AggLoadSummary!$I$1</c:f>
              <c:strCache>
                <c:ptCount val="1"/>
                <c:pt idx="0">
                  <c:v>Processes #</c:v>
                </c:pt>
              </c:strCache>
            </c:strRef>
          </c:tx>
          <c:spPr>
            <a:ln w="28575">
              <a:noFill/>
            </a:ln>
          </c:spPr>
          <c:marker>
            <c:spPr>
              <a:solidFill>
                <a:srgbClr val="00B050"/>
              </a:solidFill>
              <a:ln>
                <a:solidFill>
                  <a:srgbClr val="00B050"/>
                </a:solidFill>
              </a:ln>
            </c:spPr>
          </c:marker>
          <c:trendline>
            <c:trendlineType val="linear"/>
            <c:dispRSqr val="0"/>
            <c:dispEq val="0"/>
          </c:trendline>
          <c:xVal>
            <c:numRef>
              <c:f>AggLoadSummary!$D$2:$D$97</c:f>
              <c:numCache>
                <c:formatCode>General</c:formatCode>
                <c:ptCount val="96"/>
                <c:pt idx="0">
                  <c:v>15</c:v>
                </c:pt>
                <c:pt idx="1">
                  <c:v>21</c:v>
                </c:pt>
                <c:pt idx="2">
                  <c:v>28</c:v>
                </c:pt>
                <c:pt idx="3">
                  <c:v>20</c:v>
                </c:pt>
                <c:pt idx="4">
                  <c:v>20</c:v>
                </c:pt>
                <c:pt idx="5">
                  <c:v>26</c:v>
                </c:pt>
                <c:pt idx="6">
                  <c:v>12</c:v>
                </c:pt>
                <c:pt idx="7">
                  <c:v>23</c:v>
                </c:pt>
                <c:pt idx="8">
                  <c:v>33</c:v>
                </c:pt>
                <c:pt idx="9">
                  <c:v>611</c:v>
                </c:pt>
                <c:pt idx="10">
                  <c:v>26</c:v>
                </c:pt>
                <c:pt idx="11">
                  <c:v>32</c:v>
                </c:pt>
                <c:pt idx="12">
                  <c:v>856</c:v>
                </c:pt>
                <c:pt idx="13">
                  <c:v>1317</c:v>
                </c:pt>
                <c:pt idx="14">
                  <c:v>1276</c:v>
                </c:pt>
                <c:pt idx="15">
                  <c:v>1427</c:v>
                </c:pt>
                <c:pt idx="16">
                  <c:v>1450</c:v>
                </c:pt>
                <c:pt idx="17">
                  <c:v>1723</c:v>
                </c:pt>
                <c:pt idx="18">
                  <c:v>2127</c:v>
                </c:pt>
                <c:pt idx="19">
                  <c:v>2457</c:v>
                </c:pt>
                <c:pt idx="20">
                  <c:v>3009</c:v>
                </c:pt>
                <c:pt idx="21">
                  <c:v>3661</c:v>
                </c:pt>
                <c:pt idx="22">
                  <c:v>4237</c:v>
                </c:pt>
                <c:pt idx="23">
                  <c:v>4583</c:v>
                </c:pt>
                <c:pt idx="24">
                  <c:v>4754</c:v>
                </c:pt>
                <c:pt idx="25">
                  <c:v>5561</c:v>
                </c:pt>
                <c:pt idx="26">
                  <c:v>5765</c:v>
                </c:pt>
                <c:pt idx="27">
                  <c:v>6336</c:v>
                </c:pt>
                <c:pt idx="28">
                  <c:v>6688</c:v>
                </c:pt>
                <c:pt idx="29">
                  <c:v>5755</c:v>
                </c:pt>
                <c:pt idx="30">
                  <c:v>6404</c:v>
                </c:pt>
                <c:pt idx="31">
                  <c:v>6380</c:v>
                </c:pt>
                <c:pt idx="32">
                  <c:v>6531</c:v>
                </c:pt>
                <c:pt idx="33">
                  <c:v>6219</c:v>
                </c:pt>
                <c:pt idx="34">
                  <c:v>5779</c:v>
                </c:pt>
                <c:pt idx="35">
                  <c:v>7058</c:v>
                </c:pt>
                <c:pt idx="36">
                  <c:v>7245</c:v>
                </c:pt>
                <c:pt idx="37">
                  <c:v>7899</c:v>
                </c:pt>
                <c:pt idx="38">
                  <c:v>7565</c:v>
                </c:pt>
                <c:pt idx="39">
                  <c:v>6873</c:v>
                </c:pt>
                <c:pt idx="40">
                  <c:v>6489</c:v>
                </c:pt>
                <c:pt idx="41">
                  <c:v>5954</c:v>
                </c:pt>
                <c:pt idx="42">
                  <c:v>6328</c:v>
                </c:pt>
                <c:pt idx="43">
                  <c:v>6207</c:v>
                </c:pt>
                <c:pt idx="44">
                  <c:v>5695</c:v>
                </c:pt>
                <c:pt idx="45">
                  <c:v>7120</c:v>
                </c:pt>
                <c:pt idx="46">
                  <c:v>6793</c:v>
                </c:pt>
                <c:pt idx="47">
                  <c:v>7342</c:v>
                </c:pt>
                <c:pt idx="48">
                  <c:v>6724</c:v>
                </c:pt>
                <c:pt idx="49">
                  <c:v>7051</c:v>
                </c:pt>
                <c:pt idx="50">
                  <c:v>7258</c:v>
                </c:pt>
                <c:pt idx="51">
                  <c:v>6464</c:v>
                </c:pt>
                <c:pt idx="52">
                  <c:v>7099</c:v>
                </c:pt>
                <c:pt idx="53">
                  <c:v>7715</c:v>
                </c:pt>
                <c:pt idx="54">
                  <c:v>7761</c:v>
                </c:pt>
                <c:pt idx="55">
                  <c:v>7164</c:v>
                </c:pt>
                <c:pt idx="56">
                  <c:v>6848</c:v>
                </c:pt>
                <c:pt idx="57">
                  <c:v>6887</c:v>
                </c:pt>
                <c:pt idx="58">
                  <c:v>7623</c:v>
                </c:pt>
                <c:pt idx="59">
                  <c:v>7212</c:v>
                </c:pt>
                <c:pt idx="60">
                  <c:v>7169</c:v>
                </c:pt>
                <c:pt idx="61">
                  <c:v>6609</c:v>
                </c:pt>
                <c:pt idx="62">
                  <c:v>6953</c:v>
                </c:pt>
                <c:pt idx="63">
                  <c:v>7294</c:v>
                </c:pt>
                <c:pt idx="64">
                  <c:v>7313</c:v>
                </c:pt>
                <c:pt idx="65">
                  <c:v>7116</c:v>
                </c:pt>
                <c:pt idx="66">
                  <c:v>7048</c:v>
                </c:pt>
                <c:pt idx="67">
                  <c:v>7543</c:v>
                </c:pt>
                <c:pt idx="68">
                  <c:v>7197</c:v>
                </c:pt>
                <c:pt idx="69">
                  <c:v>7207</c:v>
                </c:pt>
                <c:pt idx="70">
                  <c:v>7418</c:v>
                </c:pt>
                <c:pt idx="71">
                  <c:v>7363</c:v>
                </c:pt>
                <c:pt idx="72">
                  <c:v>7099</c:v>
                </c:pt>
                <c:pt idx="73">
                  <c:v>7092</c:v>
                </c:pt>
                <c:pt idx="74">
                  <c:v>7350</c:v>
                </c:pt>
                <c:pt idx="75">
                  <c:v>7316</c:v>
                </c:pt>
                <c:pt idx="76">
                  <c:v>7288</c:v>
                </c:pt>
                <c:pt idx="77">
                  <c:v>6740</c:v>
                </c:pt>
                <c:pt idx="78">
                  <c:v>6801</c:v>
                </c:pt>
                <c:pt idx="79">
                  <c:v>6880</c:v>
                </c:pt>
                <c:pt idx="80">
                  <c:v>6771</c:v>
                </c:pt>
                <c:pt idx="81">
                  <c:v>7686</c:v>
                </c:pt>
                <c:pt idx="82">
                  <c:v>7572</c:v>
                </c:pt>
                <c:pt idx="83">
                  <c:v>7325</c:v>
                </c:pt>
                <c:pt idx="84">
                  <c:v>7364</c:v>
                </c:pt>
                <c:pt idx="85">
                  <c:v>2987</c:v>
                </c:pt>
                <c:pt idx="86">
                  <c:v>19</c:v>
                </c:pt>
                <c:pt idx="87">
                  <c:v>23</c:v>
                </c:pt>
                <c:pt idx="88">
                  <c:v>23</c:v>
                </c:pt>
                <c:pt idx="89">
                  <c:v>20</c:v>
                </c:pt>
                <c:pt idx="90">
                  <c:v>21</c:v>
                </c:pt>
                <c:pt idx="91">
                  <c:v>17</c:v>
                </c:pt>
                <c:pt idx="92">
                  <c:v>20</c:v>
                </c:pt>
                <c:pt idx="93">
                  <c:v>16</c:v>
                </c:pt>
                <c:pt idx="94">
                  <c:v>25</c:v>
                </c:pt>
                <c:pt idx="95">
                  <c:v>29</c:v>
                </c:pt>
              </c:numCache>
            </c:numRef>
          </c:xVal>
          <c:yVal>
            <c:numRef>
              <c:f>AggLoadSummary!$I$2:$I$97</c:f>
              <c:numCache>
                <c:formatCode>General</c:formatCode>
                <c:ptCount val="96"/>
                <c:pt idx="0">
                  <c:v>8</c:v>
                </c:pt>
                <c:pt idx="1">
                  <c:v>9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19</c:v>
                </c:pt>
                <c:pt idx="10">
                  <c:v>13</c:v>
                </c:pt>
                <c:pt idx="11">
                  <c:v>14</c:v>
                </c:pt>
                <c:pt idx="12">
                  <c:v>24</c:v>
                </c:pt>
                <c:pt idx="13">
                  <c:v>24</c:v>
                </c:pt>
                <c:pt idx="14">
                  <c:v>27</c:v>
                </c:pt>
                <c:pt idx="15">
                  <c:v>30</c:v>
                </c:pt>
                <c:pt idx="16">
                  <c:v>27</c:v>
                </c:pt>
                <c:pt idx="17">
                  <c:v>24</c:v>
                </c:pt>
                <c:pt idx="18">
                  <c:v>28</c:v>
                </c:pt>
                <c:pt idx="19">
                  <c:v>29</c:v>
                </c:pt>
                <c:pt idx="20">
                  <c:v>35</c:v>
                </c:pt>
                <c:pt idx="21">
                  <c:v>34</c:v>
                </c:pt>
                <c:pt idx="22">
                  <c:v>37</c:v>
                </c:pt>
                <c:pt idx="23">
                  <c:v>36</c:v>
                </c:pt>
                <c:pt idx="24">
                  <c:v>33</c:v>
                </c:pt>
                <c:pt idx="25">
                  <c:v>34</c:v>
                </c:pt>
                <c:pt idx="26">
                  <c:v>32</c:v>
                </c:pt>
                <c:pt idx="27">
                  <c:v>41</c:v>
                </c:pt>
                <c:pt idx="28">
                  <c:v>37</c:v>
                </c:pt>
                <c:pt idx="29">
                  <c:v>34</c:v>
                </c:pt>
                <c:pt idx="30">
                  <c:v>35</c:v>
                </c:pt>
                <c:pt idx="31">
                  <c:v>37</c:v>
                </c:pt>
                <c:pt idx="32">
                  <c:v>36</c:v>
                </c:pt>
                <c:pt idx="33">
                  <c:v>33</c:v>
                </c:pt>
                <c:pt idx="34">
                  <c:v>33</c:v>
                </c:pt>
                <c:pt idx="35">
                  <c:v>34</c:v>
                </c:pt>
                <c:pt idx="36">
                  <c:v>37</c:v>
                </c:pt>
                <c:pt idx="37">
                  <c:v>38</c:v>
                </c:pt>
                <c:pt idx="38">
                  <c:v>36</c:v>
                </c:pt>
                <c:pt idx="39">
                  <c:v>33</c:v>
                </c:pt>
                <c:pt idx="40">
                  <c:v>39</c:v>
                </c:pt>
                <c:pt idx="41">
                  <c:v>40</c:v>
                </c:pt>
                <c:pt idx="42">
                  <c:v>37</c:v>
                </c:pt>
                <c:pt idx="43">
                  <c:v>40</c:v>
                </c:pt>
                <c:pt idx="44">
                  <c:v>36</c:v>
                </c:pt>
                <c:pt idx="45">
                  <c:v>32</c:v>
                </c:pt>
                <c:pt idx="46">
                  <c:v>42</c:v>
                </c:pt>
                <c:pt idx="47">
                  <c:v>43</c:v>
                </c:pt>
                <c:pt idx="48">
                  <c:v>36</c:v>
                </c:pt>
                <c:pt idx="49">
                  <c:v>38</c:v>
                </c:pt>
                <c:pt idx="50">
                  <c:v>36</c:v>
                </c:pt>
                <c:pt idx="51">
                  <c:v>38</c:v>
                </c:pt>
                <c:pt idx="52">
                  <c:v>36</c:v>
                </c:pt>
                <c:pt idx="53">
                  <c:v>42</c:v>
                </c:pt>
                <c:pt idx="54">
                  <c:v>42</c:v>
                </c:pt>
                <c:pt idx="55">
                  <c:v>41</c:v>
                </c:pt>
                <c:pt idx="56">
                  <c:v>41</c:v>
                </c:pt>
                <c:pt idx="57">
                  <c:v>38</c:v>
                </c:pt>
                <c:pt idx="58">
                  <c:v>41</c:v>
                </c:pt>
                <c:pt idx="59">
                  <c:v>38</c:v>
                </c:pt>
                <c:pt idx="60">
                  <c:v>37</c:v>
                </c:pt>
                <c:pt idx="61">
                  <c:v>36</c:v>
                </c:pt>
                <c:pt idx="62">
                  <c:v>37</c:v>
                </c:pt>
                <c:pt idx="63">
                  <c:v>49</c:v>
                </c:pt>
                <c:pt idx="64">
                  <c:v>43</c:v>
                </c:pt>
                <c:pt idx="65">
                  <c:v>37</c:v>
                </c:pt>
                <c:pt idx="66">
                  <c:v>33</c:v>
                </c:pt>
                <c:pt idx="67">
                  <c:v>36</c:v>
                </c:pt>
                <c:pt idx="68">
                  <c:v>36</c:v>
                </c:pt>
                <c:pt idx="69">
                  <c:v>39</c:v>
                </c:pt>
                <c:pt idx="70">
                  <c:v>36</c:v>
                </c:pt>
                <c:pt idx="71">
                  <c:v>40</c:v>
                </c:pt>
                <c:pt idx="72">
                  <c:v>35</c:v>
                </c:pt>
                <c:pt idx="73">
                  <c:v>36</c:v>
                </c:pt>
                <c:pt idx="74">
                  <c:v>36</c:v>
                </c:pt>
                <c:pt idx="75">
                  <c:v>42</c:v>
                </c:pt>
                <c:pt idx="76">
                  <c:v>37</c:v>
                </c:pt>
                <c:pt idx="77">
                  <c:v>37</c:v>
                </c:pt>
                <c:pt idx="78">
                  <c:v>39</c:v>
                </c:pt>
                <c:pt idx="79">
                  <c:v>45</c:v>
                </c:pt>
                <c:pt idx="80">
                  <c:v>50</c:v>
                </c:pt>
                <c:pt idx="81">
                  <c:v>40</c:v>
                </c:pt>
                <c:pt idx="82">
                  <c:v>38</c:v>
                </c:pt>
                <c:pt idx="83">
                  <c:v>39</c:v>
                </c:pt>
                <c:pt idx="84">
                  <c:v>44</c:v>
                </c:pt>
                <c:pt idx="85">
                  <c:v>36</c:v>
                </c:pt>
                <c:pt idx="86">
                  <c:v>13</c:v>
                </c:pt>
                <c:pt idx="87">
                  <c:v>14</c:v>
                </c:pt>
                <c:pt idx="88">
                  <c:v>14</c:v>
                </c:pt>
                <c:pt idx="89">
                  <c:v>13</c:v>
                </c:pt>
                <c:pt idx="90">
                  <c:v>15</c:v>
                </c:pt>
                <c:pt idx="91">
                  <c:v>10</c:v>
                </c:pt>
                <c:pt idx="92">
                  <c:v>14</c:v>
                </c:pt>
                <c:pt idx="93">
                  <c:v>14</c:v>
                </c:pt>
                <c:pt idx="94">
                  <c:v>14</c:v>
                </c:pt>
                <c:pt idx="95">
                  <c:v>14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6241280"/>
        <c:axId val="156238400"/>
      </c:scatterChart>
      <c:valAx>
        <c:axId val="156241280"/>
        <c:scaling>
          <c:orientation val="minMax"/>
          <c:max val="8500"/>
          <c:min val="1000"/>
        </c:scaling>
        <c:delete val="0"/>
        <c:axPos val="b"/>
        <c:numFmt formatCode="General" sourceLinked="1"/>
        <c:majorTickMark val="out"/>
        <c:minorTickMark val="none"/>
        <c:tickLblPos val="nextTo"/>
        <c:crossAx val="156238400"/>
        <c:crosses val="autoZero"/>
        <c:crossBetween val="midCat"/>
      </c:valAx>
      <c:valAx>
        <c:axId val="15623840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56241280"/>
        <c:crosses val="autoZero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r>
              <a:rPr lang="en-US"/>
              <a:t>Impact of business usage on application</a:t>
            </a:r>
          </a:p>
        </c:rich>
      </c:tx>
      <c:layout>
        <c:manualLayout>
          <c:xMode val="edge"/>
          <c:yMode val="edge"/>
          <c:x val="0.32484445900503472"/>
          <c:y val="2.5123377260150171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1839022130841966"/>
          <c:y val="0.12357579751870224"/>
          <c:w val="0.81609778691580337"/>
          <c:h val="0.3231713436701469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'NF Foot rpint'!$A$2</c:f>
              <c:strCache>
                <c:ptCount val="1"/>
                <c:pt idx="0">
                  <c:v>SR Creation</c:v>
                </c:pt>
              </c:strCache>
            </c:strRef>
          </c:tx>
          <c:invertIfNegative val="0"/>
          <c:cat>
            <c:strRef>
              <c:f>'NF Foot rpint'!$B$1:$E$1</c:f>
              <c:strCache>
                <c:ptCount val="4"/>
                <c:pt idx="0">
                  <c:v>Customer Service Representative</c:v>
                </c:pt>
                <c:pt idx="1">
                  <c:v>Regional Service Center</c:v>
                </c:pt>
                <c:pt idx="2">
                  <c:v>Spare Parts</c:v>
                </c:pt>
                <c:pt idx="3">
                  <c:v>Global Operational Service Center</c:v>
                </c:pt>
              </c:strCache>
            </c:strRef>
          </c:cat>
          <c:val>
            <c:numRef>
              <c:f>'NF Foot rpint'!$B$2:$E$2</c:f>
              <c:numCache>
                <c:formatCode>General</c:formatCode>
                <c:ptCount val="4"/>
                <c:pt idx="0" formatCode="0">
                  <c:v>8.2014084507042249</c:v>
                </c:pt>
              </c:numCache>
            </c:numRef>
          </c:val>
        </c:ser>
        <c:ser>
          <c:idx val="1"/>
          <c:order val="1"/>
          <c:tx>
            <c:strRef>
              <c:f>'NF Foot rpint'!$A$3</c:f>
              <c:strCache>
                <c:ptCount val="1"/>
                <c:pt idx="0">
                  <c:v>Escalate</c:v>
                </c:pt>
              </c:strCache>
            </c:strRef>
          </c:tx>
          <c:invertIfNegative val="0"/>
          <c:cat>
            <c:strRef>
              <c:f>'NF Foot rpint'!$B$1:$E$1</c:f>
              <c:strCache>
                <c:ptCount val="4"/>
                <c:pt idx="0">
                  <c:v>Customer Service Representative</c:v>
                </c:pt>
                <c:pt idx="1">
                  <c:v>Regional Service Center</c:v>
                </c:pt>
                <c:pt idx="2">
                  <c:v>Spare Parts</c:v>
                </c:pt>
                <c:pt idx="3">
                  <c:v>Global Operational Service Center</c:v>
                </c:pt>
              </c:strCache>
            </c:strRef>
          </c:cat>
          <c:val>
            <c:numRef>
              <c:f>'NF Foot rpint'!$B$3:$E$3</c:f>
              <c:numCache>
                <c:formatCode>0</c:formatCode>
                <c:ptCount val="4"/>
                <c:pt idx="1">
                  <c:v>97.165323701028058</c:v>
                </c:pt>
                <c:pt idx="2">
                  <c:v>39.450704225352112</c:v>
                </c:pt>
              </c:numCache>
            </c:numRef>
          </c:val>
        </c:ser>
        <c:ser>
          <c:idx val="2"/>
          <c:order val="2"/>
          <c:tx>
            <c:strRef>
              <c:f>'NF Foot rpint'!$A$4</c:f>
              <c:strCache>
                <c:ptCount val="1"/>
                <c:pt idx="0">
                  <c:v>Resolve</c:v>
                </c:pt>
              </c:strCache>
            </c:strRef>
          </c:tx>
          <c:invertIfNegative val="0"/>
          <c:cat>
            <c:strRef>
              <c:f>'NF Foot rpint'!$B$1:$E$1</c:f>
              <c:strCache>
                <c:ptCount val="4"/>
                <c:pt idx="0">
                  <c:v>Customer Service Representative</c:v>
                </c:pt>
                <c:pt idx="1">
                  <c:v>Regional Service Center</c:v>
                </c:pt>
                <c:pt idx="2">
                  <c:v>Spare Parts</c:v>
                </c:pt>
                <c:pt idx="3">
                  <c:v>Global Operational Service Center</c:v>
                </c:pt>
              </c:strCache>
            </c:strRef>
          </c:cat>
          <c:val>
            <c:numRef>
              <c:f>'NF Foot rpint'!$B$4:$E$4</c:f>
              <c:numCache>
                <c:formatCode>0</c:formatCode>
                <c:ptCount val="4"/>
                <c:pt idx="1">
                  <c:v>167.12810734463278</c:v>
                </c:pt>
                <c:pt idx="2">
                  <c:v>38.515492957746481</c:v>
                </c:pt>
              </c:numCache>
            </c:numRef>
          </c:val>
        </c:ser>
        <c:ser>
          <c:idx val="3"/>
          <c:order val="3"/>
          <c:tx>
            <c:strRef>
              <c:f>'NF Foot rpint'!$A$5</c:f>
              <c:strCache>
                <c:ptCount val="1"/>
                <c:pt idx="0">
                  <c:v>Rework</c:v>
                </c:pt>
              </c:strCache>
            </c:strRef>
          </c:tx>
          <c:invertIfNegative val="0"/>
          <c:cat>
            <c:strRef>
              <c:f>'NF Foot rpint'!$B$1:$E$1</c:f>
              <c:strCache>
                <c:ptCount val="4"/>
                <c:pt idx="0">
                  <c:v>Customer Service Representative</c:v>
                </c:pt>
                <c:pt idx="1">
                  <c:v>Regional Service Center</c:v>
                </c:pt>
                <c:pt idx="2">
                  <c:v>Spare Parts</c:v>
                </c:pt>
                <c:pt idx="3">
                  <c:v>Global Operational Service Center</c:v>
                </c:pt>
              </c:strCache>
            </c:strRef>
          </c:cat>
          <c:val>
            <c:numRef>
              <c:f>'NF Foot rpint'!$B$5:$E$5</c:f>
              <c:numCache>
                <c:formatCode>0</c:formatCode>
                <c:ptCount val="4"/>
                <c:pt idx="1">
                  <c:v>81.027667282605904</c:v>
                </c:pt>
              </c:numCache>
            </c:numRef>
          </c:val>
        </c:ser>
        <c:ser>
          <c:idx val="4"/>
          <c:order val="4"/>
          <c:tx>
            <c:strRef>
              <c:f>'NF Foot rpint'!$A$6</c:f>
              <c:strCache>
                <c:ptCount val="1"/>
                <c:pt idx="0">
                  <c:v>Search</c:v>
                </c:pt>
              </c:strCache>
            </c:strRef>
          </c:tx>
          <c:invertIfNegative val="0"/>
          <c:cat>
            <c:strRef>
              <c:f>'NF Foot rpint'!$B$1:$E$1</c:f>
              <c:strCache>
                <c:ptCount val="4"/>
                <c:pt idx="0">
                  <c:v>Customer Service Representative</c:v>
                </c:pt>
                <c:pt idx="1">
                  <c:v>Regional Service Center</c:v>
                </c:pt>
                <c:pt idx="2">
                  <c:v>Spare Parts</c:v>
                </c:pt>
                <c:pt idx="3">
                  <c:v>Global Operational Service Center</c:v>
                </c:pt>
              </c:strCache>
            </c:strRef>
          </c:cat>
          <c:val>
            <c:numRef>
              <c:f>'NF Foot rpint'!$B$6:$E$6</c:f>
              <c:numCache>
                <c:formatCode>0</c:formatCode>
                <c:ptCount val="4"/>
                <c:pt idx="1">
                  <c:v>26.589892294946154</c:v>
                </c:pt>
                <c:pt idx="2">
                  <c:v>18.889671361502351</c:v>
                </c:pt>
              </c:numCache>
            </c:numRef>
          </c:val>
        </c:ser>
        <c:ser>
          <c:idx val="5"/>
          <c:order val="5"/>
          <c:tx>
            <c:strRef>
              <c:f>'NF Foot rpint'!$A$7</c:f>
              <c:strCache>
                <c:ptCount val="1"/>
                <c:pt idx="0">
                  <c:v>Incident Creation</c:v>
                </c:pt>
              </c:strCache>
            </c:strRef>
          </c:tx>
          <c:invertIfNegative val="0"/>
          <c:cat>
            <c:strRef>
              <c:f>'NF Foot rpint'!$B$1:$E$1</c:f>
              <c:strCache>
                <c:ptCount val="4"/>
                <c:pt idx="0">
                  <c:v>Customer Service Representative</c:v>
                </c:pt>
                <c:pt idx="1">
                  <c:v>Regional Service Center</c:v>
                </c:pt>
                <c:pt idx="2">
                  <c:v>Spare Parts</c:v>
                </c:pt>
                <c:pt idx="3">
                  <c:v>Global Operational Service Center</c:v>
                </c:pt>
              </c:strCache>
            </c:strRef>
          </c:cat>
          <c:val>
            <c:numRef>
              <c:f>'NF Foot rpint'!$B$7:$E$7</c:f>
              <c:numCache>
                <c:formatCode>General</c:formatCode>
                <c:ptCount val="4"/>
                <c:pt idx="3" formatCode="0">
                  <c:v>128.96338028169015</c:v>
                </c:pt>
              </c:numCache>
            </c:numRef>
          </c:val>
        </c:ser>
        <c:ser>
          <c:idx val="6"/>
          <c:order val="6"/>
          <c:tx>
            <c:strRef>
              <c:f>'NF Foot rpint'!$A$8</c:f>
              <c:strCache>
                <c:ptCount val="1"/>
                <c:pt idx="0">
                  <c:v>Task Creation</c:v>
                </c:pt>
              </c:strCache>
            </c:strRef>
          </c:tx>
          <c:invertIfNegative val="0"/>
          <c:cat>
            <c:strRef>
              <c:f>'NF Foot rpint'!$B$1:$E$1</c:f>
              <c:strCache>
                <c:ptCount val="4"/>
                <c:pt idx="0">
                  <c:v>Customer Service Representative</c:v>
                </c:pt>
                <c:pt idx="1">
                  <c:v>Regional Service Center</c:v>
                </c:pt>
                <c:pt idx="2">
                  <c:v>Spare Parts</c:v>
                </c:pt>
                <c:pt idx="3">
                  <c:v>Global Operational Service Center</c:v>
                </c:pt>
              </c:strCache>
            </c:strRef>
          </c:cat>
          <c:val>
            <c:numRef>
              <c:f>'NF Foot rpint'!$B$8:$E$8</c:f>
              <c:numCache>
                <c:formatCode>General</c:formatCode>
                <c:ptCount val="4"/>
                <c:pt idx="3" formatCode="0">
                  <c:v>80.464788732394354</c:v>
                </c:pt>
              </c:numCache>
            </c:numRef>
          </c:val>
        </c:ser>
        <c:ser>
          <c:idx val="7"/>
          <c:order val="7"/>
          <c:tx>
            <c:strRef>
              <c:f>'NF Foot rpint'!$A$9</c:f>
              <c:strCache>
                <c:ptCount val="1"/>
                <c:pt idx="0">
                  <c:v>Task Update</c:v>
                </c:pt>
              </c:strCache>
            </c:strRef>
          </c:tx>
          <c:invertIfNegative val="0"/>
          <c:cat>
            <c:strRef>
              <c:f>'NF Foot rpint'!$B$1:$E$1</c:f>
              <c:strCache>
                <c:ptCount val="4"/>
                <c:pt idx="0">
                  <c:v>Customer Service Representative</c:v>
                </c:pt>
                <c:pt idx="1">
                  <c:v>Regional Service Center</c:v>
                </c:pt>
                <c:pt idx="2">
                  <c:v>Spare Parts</c:v>
                </c:pt>
                <c:pt idx="3">
                  <c:v>Global Operational Service Center</c:v>
                </c:pt>
              </c:strCache>
            </c:strRef>
          </c:cat>
          <c:val>
            <c:numRef>
              <c:f>'NF Foot rpint'!$B$9:$E$9</c:f>
              <c:numCache>
                <c:formatCode>General</c:formatCode>
                <c:ptCount val="4"/>
                <c:pt idx="3" formatCode="0">
                  <c:v>64.59498746867169</c:v>
                </c:pt>
              </c:numCache>
            </c:numRef>
          </c:val>
        </c:ser>
        <c:ser>
          <c:idx val="8"/>
          <c:order val="8"/>
          <c:tx>
            <c:strRef>
              <c:f>'NF Foot rpint'!$A$10</c:f>
              <c:strCache>
                <c:ptCount val="1"/>
                <c:pt idx="0">
                  <c:v>Update SR</c:v>
                </c:pt>
              </c:strCache>
            </c:strRef>
          </c:tx>
          <c:invertIfNegative val="0"/>
          <c:cat>
            <c:strRef>
              <c:f>'NF Foot rpint'!$B$1:$E$1</c:f>
              <c:strCache>
                <c:ptCount val="4"/>
                <c:pt idx="0">
                  <c:v>Customer Service Representative</c:v>
                </c:pt>
                <c:pt idx="1">
                  <c:v>Regional Service Center</c:v>
                </c:pt>
                <c:pt idx="2">
                  <c:v>Spare Parts</c:v>
                </c:pt>
                <c:pt idx="3">
                  <c:v>Global Operational Service Center</c:v>
                </c:pt>
              </c:strCache>
            </c:strRef>
          </c:cat>
          <c:val>
            <c:numRef>
              <c:f>'NF Foot rpint'!$B$10:$E$10</c:f>
              <c:numCache>
                <c:formatCode>General</c:formatCode>
                <c:ptCount val="4"/>
                <c:pt idx="2" formatCode="0">
                  <c:v>32.70422535211268</c:v>
                </c:pt>
              </c:numCache>
            </c:numRef>
          </c:val>
        </c:ser>
        <c:ser>
          <c:idx val="9"/>
          <c:order val="9"/>
          <c:tx>
            <c:strRef>
              <c:f>'NF Foot rpint'!$A$11</c:f>
              <c:strCache>
                <c:ptCount val="1"/>
                <c:pt idx="0">
                  <c:v>Close SR</c:v>
                </c:pt>
              </c:strCache>
            </c:strRef>
          </c:tx>
          <c:invertIfNegative val="0"/>
          <c:cat>
            <c:strRef>
              <c:f>'NF Foot rpint'!$B$1:$E$1</c:f>
              <c:strCache>
                <c:ptCount val="4"/>
                <c:pt idx="0">
                  <c:v>Customer Service Representative</c:v>
                </c:pt>
                <c:pt idx="1">
                  <c:v>Regional Service Center</c:v>
                </c:pt>
                <c:pt idx="2">
                  <c:v>Spare Parts</c:v>
                </c:pt>
                <c:pt idx="3">
                  <c:v>Global Operational Service Center</c:v>
                </c:pt>
              </c:strCache>
            </c:strRef>
          </c:cat>
          <c:val>
            <c:numRef>
              <c:f>'NF Foot rpint'!$B$11:$E$11</c:f>
              <c:numCache>
                <c:formatCode>0</c:formatCode>
                <c:ptCount val="4"/>
                <c:pt idx="1">
                  <c:v>112.35690536979504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0420352"/>
        <c:axId val="156148288"/>
      </c:barChart>
      <c:catAx>
        <c:axId val="40420352"/>
        <c:scaling>
          <c:orientation val="minMax"/>
        </c:scaling>
        <c:delete val="0"/>
        <c:axPos val="b"/>
        <c:majorTickMark val="none"/>
        <c:minorTickMark val="none"/>
        <c:tickLblPos val="nextTo"/>
        <c:crossAx val="156148288"/>
        <c:crosses val="autoZero"/>
        <c:auto val="1"/>
        <c:lblAlgn val="ctr"/>
        <c:lblOffset val="100"/>
        <c:noMultiLvlLbl val="0"/>
      </c:catAx>
      <c:valAx>
        <c:axId val="156148288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rPr lang="en-US" sz="1100" dirty="0"/>
                  <a:t>App level hits </a:t>
                </a:r>
                <a:endParaRPr lang="en-US" sz="1100" dirty="0" smtClean="0"/>
              </a:p>
              <a:p>
                <a:pPr>
                  <a:defRPr sz="1100"/>
                </a:pPr>
                <a:r>
                  <a:rPr lang="en-US" sz="1100" dirty="0" smtClean="0"/>
                  <a:t>per </a:t>
                </a:r>
                <a:r>
                  <a:rPr lang="en-US" sz="1100" dirty="0"/>
                  <a:t>user per min</a:t>
                </a:r>
              </a:p>
            </c:rich>
          </c:tx>
          <c:layout>
            <c:manualLayout>
              <c:xMode val="edge"/>
              <c:yMode val="edge"/>
              <c:x val="6.886657101865136E-2"/>
              <c:y val="0.17607547955184016"/>
            </c:manualLayout>
          </c:layout>
          <c:overlay val="0"/>
        </c:title>
        <c:numFmt formatCode="0" sourceLinked="1"/>
        <c:majorTickMark val="none"/>
        <c:minorTickMark val="none"/>
        <c:tickLblPos val="nextTo"/>
        <c:crossAx val="40420352"/>
        <c:crosses val="autoZero"/>
        <c:crossBetween val="between"/>
      </c:valAx>
      <c:dTable>
        <c:showHorzBorder val="1"/>
        <c:showVertBorder val="1"/>
        <c:showOutline val="1"/>
        <c:showKeys val="1"/>
      </c:dTable>
    </c:plotArea>
    <c:plotVisOnly val="1"/>
    <c:dispBlanksAs val="gap"/>
    <c:showDLblsOverMax val="0"/>
  </c:chart>
  <c:externalData r:id="rId2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58A402-E630-46ED-87D1-A51FF2D77B8A}" type="datetimeFigureOut">
              <a:rPr lang="en-US" smtClean="0"/>
              <a:pPr/>
              <a:t>25-Sep-14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36F43C-4BC5-4140-89F5-C89E66D4E19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5280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A5A60B-6956-964B-91B0-61DE2403173E}" type="datetimeFigureOut">
              <a:rPr lang="en-US" smtClean="0"/>
              <a:pPr/>
              <a:t>25-Sep-14</a:t>
            </a:fld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04AA71-C613-6B42-8773-688627DE33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906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Section breaker slide:</a:t>
            </a:r>
          </a:p>
          <a:p>
            <a:endParaRPr lang="en-US" dirty="0" smtClean="0"/>
          </a:p>
          <a:p>
            <a:r>
              <a:rPr lang="en-US" dirty="0" smtClean="0"/>
              <a:t>Used</a:t>
            </a:r>
            <a:r>
              <a:rPr lang="en-US" baseline="0" dirty="0" smtClean="0"/>
              <a:t> for a section heading. You may add a sub heading not exceeding one line also here</a:t>
            </a:r>
          </a:p>
          <a:p>
            <a:endParaRPr lang="en-US" dirty="0" smtClean="0"/>
          </a:p>
          <a:p>
            <a:r>
              <a:rPr lang="en-US" dirty="0" smtClean="0"/>
              <a:t>Section heading – Arial, bold, 34</a:t>
            </a:r>
            <a:r>
              <a:rPr lang="en-US" baseline="0" dirty="0" smtClean="0"/>
              <a:t> font size, should not exceed beyond 1 line</a:t>
            </a:r>
          </a:p>
          <a:p>
            <a:endParaRPr lang="en-US" baseline="0" dirty="0" smtClean="0"/>
          </a:p>
          <a:p>
            <a:r>
              <a:rPr lang="en-US" baseline="0" dirty="0" smtClean="0"/>
              <a:t>Sub Head – Arial, normal, 20 font size, should not exceed beyond 1 line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Section breaker slide:</a:t>
            </a:r>
          </a:p>
          <a:p>
            <a:endParaRPr lang="en-US" dirty="0" smtClean="0"/>
          </a:p>
          <a:p>
            <a:r>
              <a:rPr lang="en-US" dirty="0" smtClean="0"/>
              <a:t>Used</a:t>
            </a:r>
            <a:r>
              <a:rPr lang="en-US" baseline="0" dirty="0" smtClean="0"/>
              <a:t> for a section heading. You may add a sub heading not exceeding one line also here</a:t>
            </a:r>
          </a:p>
          <a:p>
            <a:endParaRPr lang="en-US" dirty="0" smtClean="0"/>
          </a:p>
          <a:p>
            <a:r>
              <a:rPr lang="en-US" dirty="0" smtClean="0"/>
              <a:t>Section heading – Arial, bold, 34</a:t>
            </a:r>
            <a:r>
              <a:rPr lang="en-US" baseline="0" dirty="0" smtClean="0"/>
              <a:t> font size, should not exceed beyond 1 line</a:t>
            </a:r>
          </a:p>
          <a:p>
            <a:endParaRPr lang="en-US" baseline="0" dirty="0" smtClean="0"/>
          </a:p>
          <a:p>
            <a:r>
              <a:rPr lang="en-US" baseline="0" dirty="0" smtClean="0"/>
              <a:t>Sub Head – Arial, normal, 20 font size, should not exceed beyond 1 line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smtClean="0"/>
              <a:t>Thank you slide with the customer logo: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 smtClean="0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 smtClean="0"/>
              <a:t>Should have only the details shown here. Logo placement cannot be changed. Wipro logo to appear on the left as per our corporate guidelines. </a:t>
            </a:r>
            <a:endParaRPr lang="en-US" dirty="0" smtClean="0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  <a:p>
            <a:r>
              <a:rPr lang="en-US" dirty="0" smtClean="0"/>
              <a:t>Thank you</a:t>
            </a:r>
            <a:r>
              <a:rPr lang="en-US" baseline="0" dirty="0" smtClean="0"/>
              <a:t>– font size 30, Arial Bold</a:t>
            </a:r>
          </a:p>
          <a:p>
            <a:r>
              <a:rPr lang="en-US" baseline="0" dirty="0" smtClean="0"/>
              <a:t>Name &amp; Designation – font size 18, Arial normal, not to exceed beyond 2 lines</a:t>
            </a:r>
          </a:p>
          <a:p>
            <a:r>
              <a:rPr lang="en-US" baseline="0" dirty="0" smtClean="0"/>
              <a:t>Your/contact email id – font size 18, Arial normal</a:t>
            </a:r>
            <a:endParaRPr lang="en-US" dirty="0" smtClean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IPRO PPT Design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21" y="4471039"/>
            <a:ext cx="9133758" cy="21710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47710" y="1480457"/>
            <a:ext cx="4142266" cy="1547161"/>
          </a:xfrm>
          <a:noFill/>
        </p:spPr>
        <p:txBody>
          <a:bodyPr wrap="square" rtlCol="0" anchor="ctr">
            <a:normAutofit/>
          </a:bodyPr>
          <a:lstStyle>
            <a:lvl1pPr marL="0" algn="l">
              <a:defRPr lang="en-US" sz="3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1pPr>
          </a:lstStyle>
          <a:p>
            <a:pPr marL="0" lvl="0" algn="l"/>
            <a:r>
              <a:rPr lang="en-US" dirty="0" smtClean="0"/>
              <a:t>Insert Title</a:t>
            </a:r>
            <a:br>
              <a:rPr lang="en-US" dirty="0" smtClean="0"/>
            </a:br>
            <a:r>
              <a:rPr lang="en-US" dirty="0" smtClean="0"/>
              <a:t>Here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47710" y="3318659"/>
            <a:ext cx="4142266" cy="338554"/>
          </a:xfrm>
          <a:noFill/>
        </p:spPr>
        <p:txBody>
          <a:bodyPr wrap="square"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 smtClean="0"/>
              <a:t>Your Name</a:t>
            </a:r>
          </a:p>
        </p:txBody>
      </p:sp>
      <p:pic>
        <p:nvPicPr>
          <p:cNvPr id="7" name="Picture 6" descr="Slides Master - 51.jp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57402" y="1664833"/>
            <a:ext cx="1872342" cy="2084305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 rot="5400000">
            <a:off x="2814000" y="2781258"/>
            <a:ext cx="2754000" cy="1588"/>
          </a:xfrm>
          <a:prstGeom prst="line">
            <a:avLst/>
          </a:prstGeom>
          <a:ln w="19050">
            <a:solidFill>
              <a:srgbClr val="B6B6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 userDrawn="1"/>
        </p:nvSpPr>
        <p:spPr>
          <a:xfrm>
            <a:off x="0" y="647700"/>
            <a:ext cx="9144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 hasCustomPrompt="1"/>
          </p:nvPr>
        </p:nvSpPr>
        <p:spPr>
          <a:xfrm>
            <a:off x="4549775" y="3766911"/>
            <a:ext cx="4148138" cy="347889"/>
          </a:xfrm>
        </p:spPr>
        <p:txBody>
          <a:bodyPr>
            <a:normAutofit/>
          </a:bodyPr>
          <a:lstStyle>
            <a:lvl1pPr>
              <a:buNone/>
              <a:def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 smtClean="0"/>
              <a:t>Designation</a:t>
            </a:r>
          </a:p>
        </p:txBody>
      </p:sp>
    </p:spTree>
    <p:extLst>
      <p:ext uri="{BB962C8B-B14F-4D97-AF65-F5344CB8AC3E}">
        <p14:creationId xmlns:p14="http://schemas.microsoft.com/office/powerpoint/2010/main" val="10468823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ctrTitle" hasCustomPrompt="1"/>
          </p:nvPr>
        </p:nvSpPr>
        <p:spPr>
          <a:xfrm>
            <a:off x="460375" y="145522"/>
            <a:ext cx="8189776" cy="5544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Agenda</a:t>
            </a:r>
            <a:endParaRPr lang="en-IN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0" hasCustomPrompt="1"/>
          </p:nvPr>
        </p:nvSpPr>
        <p:spPr>
          <a:xfrm>
            <a:off x="1005339" y="1350509"/>
            <a:ext cx="7557748" cy="652462"/>
          </a:xfr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rgbClr val="595959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Insert text here</a:t>
            </a:r>
          </a:p>
        </p:txBody>
      </p:sp>
      <p:sp>
        <p:nvSpPr>
          <p:cNvPr id="18" name="Text Placeholder 38"/>
          <p:cNvSpPr>
            <a:spLocks noGrp="1"/>
          </p:cNvSpPr>
          <p:nvPr>
            <p:ph type="body" sz="quarter" idx="11" hasCustomPrompt="1"/>
          </p:nvPr>
        </p:nvSpPr>
        <p:spPr>
          <a:xfrm>
            <a:off x="1005339" y="2380789"/>
            <a:ext cx="7557748" cy="652462"/>
          </a:xfrm>
        </p:spPr>
        <p:txBody>
          <a:bodyPr>
            <a:normAutofit/>
          </a:bodyPr>
          <a:lstStyle>
            <a:lvl1pPr marL="0" indent="0">
              <a:buNone/>
              <a:tabLst/>
              <a:defRPr sz="2800" b="1">
                <a:solidFill>
                  <a:srgbClr val="595959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Insert text here</a:t>
            </a:r>
          </a:p>
        </p:txBody>
      </p:sp>
      <p:sp>
        <p:nvSpPr>
          <p:cNvPr id="24" name="Text Placeholder 38"/>
          <p:cNvSpPr>
            <a:spLocks noGrp="1"/>
          </p:cNvSpPr>
          <p:nvPr>
            <p:ph type="body" sz="quarter" idx="12" hasCustomPrompt="1"/>
          </p:nvPr>
        </p:nvSpPr>
        <p:spPr>
          <a:xfrm>
            <a:off x="1005339" y="3403153"/>
            <a:ext cx="7557748" cy="652462"/>
          </a:xfr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rgbClr val="595959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Insert text here</a:t>
            </a:r>
          </a:p>
        </p:txBody>
      </p:sp>
      <p:sp>
        <p:nvSpPr>
          <p:cNvPr id="25" name="Text Placeholder 38"/>
          <p:cNvSpPr>
            <a:spLocks noGrp="1"/>
          </p:cNvSpPr>
          <p:nvPr>
            <p:ph type="body" sz="quarter" idx="13" hasCustomPrompt="1"/>
          </p:nvPr>
        </p:nvSpPr>
        <p:spPr>
          <a:xfrm>
            <a:off x="1005339" y="4462030"/>
            <a:ext cx="7557748" cy="652462"/>
          </a:xfr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rgbClr val="595959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Insert text here</a:t>
            </a:r>
          </a:p>
        </p:txBody>
      </p:sp>
      <p:sp>
        <p:nvSpPr>
          <p:cNvPr id="27" name="Text Placeholder 38"/>
          <p:cNvSpPr>
            <a:spLocks noGrp="1"/>
          </p:cNvSpPr>
          <p:nvPr>
            <p:ph type="body" sz="quarter" idx="14" hasCustomPrompt="1"/>
          </p:nvPr>
        </p:nvSpPr>
        <p:spPr>
          <a:xfrm>
            <a:off x="1005339" y="5504120"/>
            <a:ext cx="7557748" cy="652462"/>
          </a:xfr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rgbClr val="595959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Insert text here</a:t>
            </a:r>
          </a:p>
        </p:txBody>
      </p:sp>
      <p:sp>
        <p:nvSpPr>
          <p:cNvPr id="28" name="Text Placeholder 38"/>
          <p:cNvSpPr>
            <a:spLocks noGrp="1"/>
          </p:cNvSpPr>
          <p:nvPr>
            <p:ph type="body" sz="quarter" idx="15" hasCustomPrompt="1"/>
          </p:nvPr>
        </p:nvSpPr>
        <p:spPr>
          <a:xfrm>
            <a:off x="460375" y="1345746"/>
            <a:ext cx="352425" cy="668792"/>
          </a:xfr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6200000" scaled="1"/>
            <a:tileRect/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1</a:t>
            </a:r>
          </a:p>
        </p:txBody>
      </p:sp>
      <p:sp>
        <p:nvSpPr>
          <p:cNvPr id="29" name="Text Placeholder 38"/>
          <p:cNvSpPr>
            <a:spLocks noGrp="1"/>
          </p:cNvSpPr>
          <p:nvPr>
            <p:ph type="body" sz="quarter" idx="16" hasCustomPrompt="1"/>
          </p:nvPr>
        </p:nvSpPr>
        <p:spPr>
          <a:xfrm>
            <a:off x="460375" y="2384085"/>
            <a:ext cx="352425" cy="668792"/>
          </a:xfr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6200000" scaled="1"/>
            <a:tileRect/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2</a:t>
            </a:r>
          </a:p>
        </p:txBody>
      </p:sp>
      <p:sp>
        <p:nvSpPr>
          <p:cNvPr id="30" name="Text Placeholder 38"/>
          <p:cNvSpPr>
            <a:spLocks noGrp="1"/>
          </p:cNvSpPr>
          <p:nvPr>
            <p:ph type="body" sz="quarter" idx="17" hasCustomPrompt="1"/>
          </p:nvPr>
        </p:nvSpPr>
        <p:spPr>
          <a:xfrm>
            <a:off x="460375" y="3422424"/>
            <a:ext cx="352425" cy="668792"/>
          </a:xfr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6200000" scaled="1"/>
            <a:tileRect/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3</a:t>
            </a:r>
          </a:p>
        </p:txBody>
      </p:sp>
      <p:sp>
        <p:nvSpPr>
          <p:cNvPr id="32" name="Text Placeholder 38"/>
          <p:cNvSpPr>
            <a:spLocks noGrp="1"/>
          </p:cNvSpPr>
          <p:nvPr>
            <p:ph type="body" sz="quarter" idx="18" hasCustomPrompt="1"/>
          </p:nvPr>
        </p:nvSpPr>
        <p:spPr>
          <a:xfrm>
            <a:off x="460375" y="4460763"/>
            <a:ext cx="352425" cy="668792"/>
          </a:xfr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6200000" scaled="1"/>
            <a:tileRect/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4</a:t>
            </a:r>
          </a:p>
        </p:txBody>
      </p:sp>
      <p:sp>
        <p:nvSpPr>
          <p:cNvPr id="33" name="Text Placeholder 38"/>
          <p:cNvSpPr>
            <a:spLocks noGrp="1"/>
          </p:cNvSpPr>
          <p:nvPr>
            <p:ph type="body" sz="quarter" idx="19" hasCustomPrompt="1"/>
          </p:nvPr>
        </p:nvSpPr>
        <p:spPr>
          <a:xfrm>
            <a:off x="460375" y="5499100"/>
            <a:ext cx="352425" cy="668792"/>
          </a:xfr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6200000" scaled="1"/>
            <a:tileRect/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5925382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er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647700"/>
            <a:ext cx="9144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469901" y="2612799"/>
            <a:ext cx="8220074" cy="623887"/>
          </a:xfrm>
        </p:spPr>
        <p:txBody>
          <a:bodyPr>
            <a:normAutofit/>
          </a:bodyPr>
          <a:lstStyle>
            <a:lvl1pPr algn="ctr">
              <a:buNone/>
              <a:defRPr kumimoji="0" lang="en-US" sz="3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lt"/>
                <a:ea typeface="+mn-ea"/>
                <a:cs typeface="Arial"/>
              </a:defRPr>
            </a:lvl1pPr>
          </a:lstStyle>
          <a:p>
            <a:pPr lvl="0"/>
            <a:r>
              <a:rPr lang="en-US" dirty="0" smtClean="0"/>
              <a:t>Section Name Here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69901" y="3290677"/>
            <a:ext cx="8220074" cy="439496"/>
          </a:xfrm>
        </p:spPr>
        <p:txBody>
          <a:bodyPr>
            <a:normAutofit/>
          </a:bodyPr>
          <a:lstStyle>
            <a:lvl1pPr algn="ctr">
              <a:buNone/>
              <a:def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lt"/>
                <a:ea typeface="+mn-ea"/>
                <a:cs typeface="Arial"/>
              </a:defRPr>
            </a:lvl1pPr>
          </a:lstStyle>
          <a:p>
            <a:pPr lvl="0"/>
            <a:r>
              <a:rPr lang="en-US" dirty="0" smtClean="0"/>
              <a:t>Who what when where</a:t>
            </a:r>
          </a:p>
        </p:txBody>
      </p:sp>
      <p:pic>
        <p:nvPicPr>
          <p:cNvPr id="7" name="Picture 6" descr="WIPRO PPT Design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21" y="4471039"/>
            <a:ext cx="9133758" cy="2171061"/>
          </a:xfrm>
          <a:prstGeom prst="rect">
            <a:avLst/>
          </a:prstGeom>
        </p:spPr>
      </p:pic>
      <p:pic>
        <p:nvPicPr>
          <p:cNvPr id="10" name="Picture 9" descr="Slides Master - 51.jp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81685" y="105908"/>
            <a:ext cx="1044840" cy="11631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4"/>
          <p:cNvSpPr>
            <a:spLocks noGrp="1"/>
          </p:cNvSpPr>
          <p:nvPr>
            <p:ph type="body" sz="quarter" idx="11" hasCustomPrompt="1"/>
          </p:nvPr>
        </p:nvSpPr>
        <p:spPr>
          <a:xfrm>
            <a:off x="460376" y="145140"/>
            <a:ext cx="8229600" cy="55399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3000" b="1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Arial"/>
              </a:defRPr>
            </a:lvl1pPr>
          </a:lstStyle>
          <a:p>
            <a:pPr lvl="0"/>
            <a:r>
              <a:rPr lang="en-US" dirty="0" smtClean="0"/>
              <a:t>Insert Title Here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1360488"/>
            <a:ext cx="8240713" cy="4473575"/>
          </a:xfrm>
        </p:spPr>
        <p:txBody>
          <a:bodyPr/>
          <a:lstStyle>
            <a:lvl1pPr>
              <a:buClr>
                <a:srgbClr val="0070C0"/>
              </a:buClr>
              <a:defRPr sz="2200">
                <a:solidFill>
                  <a:srgbClr val="595959"/>
                </a:solidFill>
              </a:defRPr>
            </a:lvl1pPr>
            <a:lvl2pPr>
              <a:buClr>
                <a:srgbClr val="0070C0"/>
              </a:buClr>
              <a:buFont typeface="Arial" pitchFamily="34" charset="0"/>
              <a:buChar char="•"/>
              <a:defRPr>
                <a:solidFill>
                  <a:srgbClr val="595959"/>
                </a:solidFill>
              </a:defRPr>
            </a:lvl2pPr>
            <a:lvl3pPr>
              <a:buClr>
                <a:srgbClr val="0070C0"/>
              </a:buClr>
              <a:buFont typeface="Arial" pitchFamily="34" charset="0"/>
              <a:buChar char="•"/>
              <a:defRPr>
                <a:solidFill>
                  <a:srgbClr val="595959"/>
                </a:solidFill>
              </a:defRPr>
            </a:lvl3pPr>
            <a:lvl4pPr>
              <a:buClr>
                <a:srgbClr val="0070C0"/>
              </a:buClr>
              <a:buFont typeface="Arial" pitchFamily="34" charset="0"/>
              <a:buChar char="•"/>
              <a:defRPr>
                <a:solidFill>
                  <a:srgbClr val="595959"/>
                </a:solidFill>
              </a:defRPr>
            </a:lvl4pPr>
            <a:lvl5pPr>
              <a:buClr>
                <a:srgbClr val="0070C0"/>
              </a:buClr>
              <a:buFont typeface="Arial" pitchFamily="34" charset="0"/>
              <a:buChar char="•"/>
              <a:defRPr>
                <a:solidFill>
                  <a:srgbClr val="595959"/>
                </a:solidFill>
              </a:defRPr>
            </a:lvl5pPr>
          </a:lstStyle>
          <a:p>
            <a:pPr lvl="0"/>
            <a:r>
              <a:rPr lang="en-IN" dirty="0" smtClean="0"/>
              <a:t>Please use bullet points on this slide when the content is heavy break it up into highlights, don’t use paragraphs of text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7"/>
          <p:cNvSpPr>
            <a:spLocks noGrp="1"/>
          </p:cNvSpPr>
          <p:nvPr>
            <p:ph type="body" sz="quarter" idx="21" hasCustomPrompt="1"/>
          </p:nvPr>
        </p:nvSpPr>
        <p:spPr>
          <a:xfrm>
            <a:off x="751339" y="3178402"/>
            <a:ext cx="3635375" cy="2344093"/>
          </a:xfrm>
          <a:ln w="12700">
            <a:solidFill>
              <a:srgbClr val="D2D2D2"/>
            </a:solidFill>
          </a:ln>
        </p:spPr>
        <p:txBody>
          <a:bodyPr>
            <a:normAutofit/>
          </a:bodyPr>
          <a:lstStyle>
            <a:lvl1pPr marL="231775" marR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 pitchFamily="34" charset="0"/>
              <a:buChar char="•"/>
              <a:tabLst/>
              <a:def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Insert Text</a:t>
            </a:r>
          </a:p>
          <a:p>
            <a:pPr lvl="0"/>
            <a:r>
              <a:rPr lang="en-US" dirty="0" smtClean="0"/>
              <a:t>Insert Text</a:t>
            </a:r>
          </a:p>
          <a:p>
            <a:pPr lvl="0"/>
            <a:r>
              <a:rPr lang="en-US" dirty="0" smtClean="0"/>
              <a:t>Insert Text</a:t>
            </a:r>
          </a:p>
          <a:p>
            <a:pPr lvl="0"/>
            <a:r>
              <a:rPr lang="en-US" dirty="0" smtClean="0"/>
              <a:t>Insert Text</a:t>
            </a: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 pitchFamily="34" charset="0"/>
              <a:buChar char="•"/>
              <a:tabLst/>
              <a:defRPr/>
            </a:pPr>
            <a:r>
              <a:rPr lang="en-US" dirty="0" smtClean="0"/>
              <a:t>Insert Text</a:t>
            </a: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 pitchFamily="34" charset="0"/>
              <a:buChar char="•"/>
              <a:tabLst/>
              <a:defRPr/>
            </a:pPr>
            <a:r>
              <a:rPr lang="en-US" dirty="0" smtClean="0"/>
              <a:t>Insert Text</a:t>
            </a:r>
          </a:p>
          <a:p>
            <a:pPr lvl="0"/>
            <a:endParaRPr lang="en-US" dirty="0" smtClean="0"/>
          </a:p>
        </p:txBody>
      </p:sp>
      <p:sp>
        <p:nvSpPr>
          <p:cNvPr id="21" name="Text Placeholder 15"/>
          <p:cNvSpPr>
            <a:spLocks noGrp="1"/>
          </p:cNvSpPr>
          <p:nvPr>
            <p:ph type="body" sz="quarter" idx="22" hasCustomPrompt="1"/>
          </p:nvPr>
        </p:nvSpPr>
        <p:spPr>
          <a:xfrm>
            <a:off x="729340" y="2384652"/>
            <a:ext cx="3679372" cy="663575"/>
          </a:xfrm>
          <a:solidFill>
            <a:srgbClr val="0070C0"/>
          </a:solidFill>
        </p:spPr>
        <p:txBody>
          <a:bodyPr anchor="ctr">
            <a:normAutofit/>
          </a:bodyPr>
          <a:lstStyle>
            <a:lvl1pPr>
              <a:buNone/>
              <a:defRPr kumimoji="0" lang="en-US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>
              <a:def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2pPr>
            <a:lvl3pPr>
              <a:def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3pPr>
            <a:lvl4pPr>
              <a:def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4pPr>
          </a:lstStyle>
          <a:p>
            <a:pPr lvl="0"/>
            <a:r>
              <a:rPr lang="en-US" dirty="0" smtClean="0"/>
              <a:t>Column 1</a:t>
            </a:r>
            <a:endParaRPr lang="en-IN" dirty="0"/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4751616" y="3178402"/>
            <a:ext cx="3635375" cy="2344093"/>
          </a:xfrm>
          <a:ln w="12700">
            <a:solidFill>
              <a:srgbClr val="D2D2D2"/>
            </a:solidFill>
          </a:ln>
        </p:spPr>
        <p:txBody>
          <a:bodyPr>
            <a:normAutofit/>
          </a:bodyPr>
          <a:lstStyle>
            <a:lvl1pPr marL="231775" marR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 pitchFamily="34" charset="0"/>
              <a:buChar char="•"/>
              <a:tabLst/>
              <a:def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Insert Text</a:t>
            </a:r>
          </a:p>
          <a:p>
            <a:pPr lvl="0"/>
            <a:r>
              <a:rPr lang="en-US" dirty="0" smtClean="0"/>
              <a:t>Insert Text</a:t>
            </a:r>
          </a:p>
          <a:p>
            <a:pPr lvl="0"/>
            <a:r>
              <a:rPr lang="en-US" dirty="0" smtClean="0"/>
              <a:t>Insert Text</a:t>
            </a:r>
          </a:p>
          <a:p>
            <a:pPr lvl="0"/>
            <a:r>
              <a:rPr lang="en-US" dirty="0" smtClean="0"/>
              <a:t>Insert Text</a:t>
            </a: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 pitchFamily="34" charset="0"/>
              <a:buChar char="•"/>
              <a:tabLst/>
              <a:defRPr/>
            </a:pPr>
            <a:r>
              <a:rPr lang="en-US" dirty="0" smtClean="0"/>
              <a:t>Insert Text</a:t>
            </a: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 pitchFamily="34" charset="0"/>
              <a:buChar char="•"/>
              <a:tabLst/>
              <a:defRPr/>
            </a:pPr>
            <a:r>
              <a:rPr lang="en-US" dirty="0" smtClean="0"/>
              <a:t>Insert Text</a:t>
            </a:r>
          </a:p>
          <a:p>
            <a:pPr lvl="0"/>
            <a:endParaRPr lang="en-US" dirty="0" smtClean="0"/>
          </a:p>
        </p:txBody>
      </p:sp>
      <p:sp>
        <p:nvSpPr>
          <p:cNvPr id="27" name="Text Placeholder 15"/>
          <p:cNvSpPr>
            <a:spLocks noGrp="1"/>
          </p:cNvSpPr>
          <p:nvPr>
            <p:ph type="body" sz="quarter" idx="24" hasCustomPrompt="1"/>
          </p:nvPr>
        </p:nvSpPr>
        <p:spPr>
          <a:xfrm>
            <a:off x="4729617" y="2384652"/>
            <a:ext cx="3679372" cy="663575"/>
          </a:xfrm>
          <a:solidFill>
            <a:srgbClr val="0070C0"/>
          </a:solidFill>
        </p:spPr>
        <p:txBody>
          <a:bodyPr anchor="ctr">
            <a:normAutofit/>
          </a:bodyPr>
          <a:lstStyle>
            <a:lvl1pPr>
              <a:buNone/>
              <a:defRPr kumimoji="0" lang="en-US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>
              <a:def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2pPr>
            <a:lvl3pPr>
              <a:def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3pPr>
            <a:lvl4pPr>
              <a:def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4pPr>
          </a:lstStyle>
          <a:p>
            <a:pPr lvl="0"/>
            <a:r>
              <a:rPr lang="en-US" dirty="0" smtClean="0"/>
              <a:t>Column 2</a:t>
            </a:r>
            <a:endParaRPr lang="en-IN" dirty="0"/>
          </a:p>
        </p:txBody>
      </p:sp>
      <p:sp>
        <p:nvSpPr>
          <p:cNvPr id="10" name="Text Placeholder 14"/>
          <p:cNvSpPr>
            <a:spLocks noGrp="1"/>
          </p:cNvSpPr>
          <p:nvPr>
            <p:ph type="body" sz="quarter" idx="11" hasCustomPrompt="1"/>
          </p:nvPr>
        </p:nvSpPr>
        <p:spPr>
          <a:xfrm>
            <a:off x="460376" y="145140"/>
            <a:ext cx="8229600" cy="55399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3000" b="1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Arial"/>
              </a:defRPr>
            </a:lvl1pPr>
          </a:lstStyle>
          <a:p>
            <a:pPr lvl="0"/>
            <a:r>
              <a:rPr lang="en-US" dirty="0" smtClean="0"/>
              <a:t>Slide with two columns and a title</a:t>
            </a:r>
          </a:p>
        </p:txBody>
      </p:sp>
      <p:sp>
        <p:nvSpPr>
          <p:cNvPr id="7" name="Text Placeholder 18"/>
          <p:cNvSpPr>
            <a:spLocks noGrp="1"/>
          </p:cNvSpPr>
          <p:nvPr>
            <p:ph type="body" sz="quarter" idx="14" hasCustomPrompt="1"/>
          </p:nvPr>
        </p:nvSpPr>
        <p:spPr>
          <a:xfrm>
            <a:off x="451301" y="1465489"/>
            <a:ext cx="8238674" cy="360000"/>
          </a:xfrm>
        </p:spPr>
        <p:txBody>
          <a:bodyPr>
            <a:noAutofit/>
          </a:bodyPr>
          <a:lstStyle>
            <a:lvl1pPr marL="231775" indent="-231775" algn="ctr" defTabSz="457200" rtl="0" eaLnBrk="1" latinLnBrk="0" hangingPunct="1">
              <a:spcBef>
                <a:spcPct val="20000"/>
              </a:spcBef>
              <a:buFont typeface="Arial"/>
              <a:buNone/>
              <a:defRPr kumimoji="0" lang="en-IN" sz="2200" b="1" i="0" u="none" strike="noStrike" kern="1200" cap="none" spc="8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n-US" dirty="0" smtClean="0"/>
              <a:t>INSERT COLUMN HEADING HERE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or freefor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53211"/>
            <a:ext cx="8229600" cy="553998"/>
          </a:xfrm>
        </p:spPr>
        <p:txBody>
          <a:bodyPr/>
          <a:lstStyle>
            <a:lvl1pPr marL="0" marR="0" indent="0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 baseline="0"/>
            </a:lvl1pPr>
          </a:lstStyle>
          <a:p>
            <a:pPr lvl="0"/>
            <a:r>
              <a:rPr lang="en-US" dirty="0" smtClean="0"/>
              <a:t>Insert Title Here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957943"/>
            <a:ext cx="9144000" cy="5442858"/>
          </a:xfrm>
        </p:spPr>
        <p:txBody>
          <a:bodyPr anchor="ctr">
            <a:normAutofit/>
          </a:bodyPr>
          <a:lstStyle>
            <a:lvl1pPr algn="ctr">
              <a:buNone/>
              <a:defRPr sz="5400" baseline="0"/>
            </a:lvl1pPr>
          </a:lstStyle>
          <a:p>
            <a:r>
              <a:rPr lang="en-US" dirty="0" smtClean="0"/>
              <a:t>Click Icon to Add Picture</a:t>
            </a:r>
            <a:endParaRPr lang="en-IN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4517571"/>
            <a:ext cx="9144000" cy="1110343"/>
          </a:xfrm>
          <a:solidFill>
            <a:schemeClr val="accent5">
              <a:lumMod val="20000"/>
              <a:lumOff val="8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anchor="ctr">
            <a:normAutofit/>
          </a:bodyPr>
          <a:lstStyle>
            <a:lvl1pPr algn="ctr">
              <a:buNone/>
              <a:defRPr lang="en-US" sz="20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Insert Text Here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image with paragraph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48140" y="140511"/>
            <a:ext cx="8229600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Vertical image with paragraph text</a:t>
            </a:r>
            <a:endParaRPr lang="en-IN" dirty="0"/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448140" y="1208314"/>
            <a:ext cx="4417774" cy="5046436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 lang="en-IN" dirty="0"/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5159829" y="2331357"/>
            <a:ext cx="3530146" cy="2800350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1pPr>
            <a:lvl2pPr>
              <a:buNone/>
              <a:defRPr lang="en-US" sz="2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2pPr>
            <a:lvl3pPr>
              <a:buNone/>
              <a:defRPr lang="en-US" sz="2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3pPr>
            <a:lvl4pPr>
              <a:buNone/>
              <a:defRPr lang="en-US" sz="2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4pPr>
            <a:lvl5pPr>
              <a:buNone/>
              <a:defRPr lang="en-IN" sz="2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5pPr>
          </a:lstStyle>
          <a:p>
            <a:pPr marL="0" indent="0">
              <a:buNone/>
            </a:pP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This vertical image should be aligned left and centered vertically on the slide. Paragraph text should be centered vertically to 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Arial"/>
              </a:rPr>
              <a:t>the image. Insert Text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cs typeface="Arial"/>
              </a:rPr>
              <a:t>Here.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Arial"/>
              </a:rPr>
              <a:t> Keep text as minimal as possible.</a:t>
            </a:r>
            <a:endParaRPr lang="en-US" dirty="0" smtClean="0">
              <a:solidFill>
                <a:schemeClr val="tx1">
                  <a:lumMod val="65000"/>
                  <a:lumOff val="35000"/>
                </a:schemeClr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image with bullet poin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173663" y="2204017"/>
            <a:ext cx="3516312" cy="3055030"/>
          </a:xfrm>
        </p:spPr>
        <p:txBody>
          <a:bodyPr/>
          <a:lstStyle>
            <a:lvl1pPr>
              <a:buClr>
                <a:srgbClr val="0070C0"/>
              </a:buClr>
              <a:buFont typeface="Arial" pitchFamily="34" charset="0"/>
              <a:buChar char="•"/>
              <a:defRPr/>
            </a:lvl1pPr>
          </a:lstStyle>
          <a:p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Arial"/>
              </a:rPr>
              <a:t>This vertical image should be aligned left and centered vertically on the slide. </a:t>
            </a:r>
            <a:b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Arial"/>
              </a:rPr>
            </a:b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Arial"/>
              </a:rPr>
              <a:t/>
            </a:r>
            <a:b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Arial"/>
              </a:rPr>
            </a:b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Arial"/>
              </a:rPr>
              <a:t>This vertical image should be aligned left and centered vertically on the slide. </a:t>
            </a:r>
          </a:p>
        </p:txBody>
      </p:sp>
      <p:sp>
        <p:nvSpPr>
          <p:cNvPr id="5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448140" y="1208314"/>
            <a:ext cx="4417774" cy="5046436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 lang="en-IN" dirty="0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48140" y="140511"/>
            <a:ext cx="8229600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Vertical image with bullet points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image with paragraph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40511"/>
            <a:ext cx="8229600" cy="553998"/>
          </a:xfrm>
        </p:spPr>
        <p:txBody>
          <a:bodyPr/>
          <a:lstStyle>
            <a:lvl1pPr marL="0" marR="0" indent="0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 baseline="0"/>
            </a:lvl1pPr>
          </a:lstStyle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/>
            </a:pPr>
            <a:r>
              <a:rPr kumimoji="0" lang="en-US" sz="3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Horizontal image with paragraph text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j-lt"/>
              <a:ea typeface="+mn-ea"/>
              <a:cs typeface="Arial"/>
            </a:endParaRPr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460376" y="1103313"/>
            <a:ext cx="8229600" cy="314960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 lang="en-IN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146289" y="4498975"/>
            <a:ext cx="6851423" cy="1495425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lang="en-US" sz="2000" kern="1200" dirty="0" smtClean="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IN" dirty="0" smtClean="0"/>
              <a:t>Paragraph text should be left aligned. Adjust the height of this text box when needed. Make sure this box is </a:t>
            </a:r>
            <a:r>
              <a:rPr lang="en-IN" dirty="0" err="1" smtClean="0"/>
              <a:t>centered</a:t>
            </a:r>
            <a:r>
              <a:rPr lang="en-IN" dirty="0" smtClean="0"/>
              <a:t> horizontally on the page and to the image. 20 </a:t>
            </a:r>
            <a:r>
              <a:rPr lang="en-IN" dirty="0" err="1" smtClean="0"/>
              <a:t>pt</a:t>
            </a:r>
            <a:r>
              <a:rPr lang="en-IN" dirty="0" smtClean="0"/>
              <a:t> text should be used. Keep text as minimal as possible.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image with bullet poin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60374" y="140511"/>
            <a:ext cx="8229601" cy="553998"/>
          </a:xfrm>
        </p:spPr>
        <p:txBody>
          <a:bodyPr/>
          <a:lstStyle>
            <a:lvl1pPr marL="0" marR="0" indent="0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 baseline="0"/>
            </a:lvl1pPr>
          </a:lstStyle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/>
            </a:pPr>
            <a:r>
              <a:rPr kumimoji="0" lang="en-US" sz="3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Horizontal image with bullet points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j-lt"/>
              <a:ea typeface="+mn-ea"/>
              <a:cs typeface="Arial"/>
            </a:endParaRPr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460376" y="1103313"/>
            <a:ext cx="8229600" cy="269943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 lang="en-IN" dirty="0"/>
          </a:p>
        </p:txBody>
      </p:sp>
      <p:sp>
        <p:nvSpPr>
          <p:cNvPr id="16" name="Text Placeholder 14"/>
          <p:cNvSpPr>
            <a:spLocks noGrp="1"/>
          </p:cNvSpPr>
          <p:nvPr>
            <p:ph type="body" sz="quarter" idx="14" hasCustomPrompt="1"/>
          </p:nvPr>
        </p:nvSpPr>
        <p:spPr>
          <a:xfrm>
            <a:off x="1130300" y="4508500"/>
            <a:ext cx="6883400" cy="1498600"/>
          </a:xfrm>
        </p:spPr>
        <p:txBody>
          <a:bodyPr>
            <a:normAutofit/>
          </a:bodyPr>
          <a:lstStyle>
            <a:lvl1pPr>
              <a:buClr>
                <a:srgbClr val="0070C0"/>
              </a:buClr>
              <a:buFont typeface="Arial" pitchFamily="34" charset="0"/>
              <a:buChar char="•"/>
              <a:defRPr sz="2000" baseline="0"/>
            </a:lvl1pPr>
          </a:lstStyle>
          <a:p>
            <a:pPr lvl="0"/>
            <a:r>
              <a:rPr lang="en-US" dirty="0" smtClean="0"/>
              <a:t>The horizontal image should be center aligned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s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647700"/>
            <a:ext cx="9144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"/>
          <p:cNvSpPr>
            <a:spLocks noChangeArrowheads="1"/>
          </p:cNvSpPr>
          <p:nvPr userDrawn="1"/>
        </p:nvSpPr>
        <p:spPr bwMode="auto">
          <a:xfrm>
            <a:off x="-4825" y="5486400"/>
            <a:ext cx="8542400" cy="685800"/>
          </a:xfrm>
          <a:prstGeom prst="rect">
            <a:avLst/>
          </a:prstGeom>
          <a:gradFill rotWithShape="1">
            <a:gsLst>
              <a:gs pos="0">
                <a:srgbClr val="77787D"/>
              </a:gs>
              <a:gs pos="50000">
                <a:srgbClr val="ADAEB5"/>
              </a:gs>
              <a:gs pos="100000">
                <a:srgbClr val="CED0D8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2"/>
          <p:cNvSpPr>
            <a:spLocks noChangeArrowheads="1"/>
          </p:cNvSpPr>
          <p:nvPr userDrawn="1"/>
        </p:nvSpPr>
        <p:spPr bwMode="auto">
          <a:xfrm>
            <a:off x="-4825" y="5611813"/>
            <a:ext cx="8542400" cy="407987"/>
          </a:xfrm>
          <a:prstGeom prst="rect">
            <a:avLst/>
          </a:prstGeom>
          <a:gradFill rotWithShape="1">
            <a:gsLst>
              <a:gs pos="0">
                <a:srgbClr val="494A58"/>
              </a:gs>
              <a:gs pos="50000">
                <a:srgbClr val="6C6E81"/>
              </a:gs>
              <a:gs pos="100000">
                <a:srgbClr val="81849B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1164317"/>
            <a:ext cx="4038376" cy="479424"/>
          </a:xfrm>
        </p:spPr>
        <p:txBody>
          <a:bodyPr>
            <a:noAutofit/>
          </a:bodyPr>
          <a:lstStyle>
            <a:lvl1pPr marL="231775" marR="0" indent="-231775" algn="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800" b="1" kern="1200" baseline="0" dirty="0" smtClean="0">
                <a:solidFill>
                  <a:srgbClr val="3C3D48"/>
                </a:solidFill>
                <a:latin typeface="+mj-lt"/>
                <a:ea typeface="+mj-ea"/>
                <a:cs typeface="+mj-cs"/>
              </a:defRPr>
            </a:lvl1pPr>
            <a:lvl2pPr>
              <a:defRPr lang="en-US" sz="2800" b="1" kern="1200" dirty="0" smtClean="0">
                <a:solidFill>
                  <a:srgbClr val="3C3D48"/>
                </a:solidFill>
                <a:latin typeface="Gill Sans MT" pitchFamily="34" charset="0"/>
                <a:ea typeface="+mj-ea"/>
                <a:cs typeface="+mj-cs"/>
              </a:defRPr>
            </a:lvl2pPr>
            <a:lvl3pPr>
              <a:defRPr lang="en-US" sz="2800" b="1" kern="1200" dirty="0" smtClean="0">
                <a:solidFill>
                  <a:srgbClr val="3C3D48"/>
                </a:solidFill>
                <a:latin typeface="Gill Sans MT" pitchFamily="34" charset="0"/>
                <a:ea typeface="+mj-ea"/>
                <a:cs typeface="+mj-cs"/>
              </a:defRPr>
            </a:lvl3pPr>
            <a:lvl4pPr>
              <a:defRPr lang="en-US" sz="2800" b="1" kern="1200" dirty="0" smtClean="0">
                <a:solidFill>
                  <a:srgbClr val="3C3D48"/>
                </a:solidFill>
                <a:latin typeface="Gill Sans MT" pitchFamily="34" charset="0"/>
                <a:ea typeface="+mj-ea"/>
                <a:cs typeface="+mj-cs"/>
              </a:defRPr>
            </a:lvl4pPr>
            <a:lvl5pPr>
              <a:defRPr lang="en-IN" sz="2800" b="1" kern="1200" dirty="0">
                <a:solidFill>
                  <a:srgbClr val="3C3D48"/>
                </a:solidFill>
                <a:latin typeface="Gill Sans MT" pitchFamily="34" charset="0"/>
                <a:ea typeface="+mj-ea"/>
                <a:cs typeface="+mj-cs"/>
              </a:defRPr>
            </a:lvl5pPr>
          </a:lstStyle>
          <a:p>
            <a:pPr marL="231775" marR="0" lvl="0" indent="-231775" algn="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 smtClean="0"/>
              <a:t>Click to Add Title</a:t>
            </a:r>
          </a:p>
        </p:txBody>
      </p:sp>
      <p:sp>
        <p:nvSpPr>
          <p:cNvPr id="24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0" y="758593"/>
            <a:ext cx="4038376" cy="286438"/>
          </a:xfrm>
        </p:spPr>
        <p:txBody>
          <a:bodyPr>
            <a:noAutofit/>
          </a:bodyPr>
          <a:lstStyle>
            <a:lvl1pPr marL="231775" marR="0" indent="-231775" algn="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1600" b="1" kern="1200" dirty="0" smtClean="0">
                <a:solidFill>
                  <a:srgbClr val="A1A2B1"/>
                </a:solidFill>
                <a:latin typeface="+mj-lt"/>
                <a:ea typeface="+mj-ea"/>
                <a:cs typeface="+mj-cs"/>
              </a:defRPr>
            </a:lvl1pPr>
            <a:lvl2pPr>
              <a:defRPr lang="en-US" sz="2800" b="1" kern="1200" dirty="0" smtClean="0">
                <a:solidFill>
                  <a:srgbClr val="3C3D48"/>
                </a:solidFill>
                <a:latin typeface="Gill Sans MT" pitchFamily="34" charset="0"/>
                <a:ea typeface="+mj-ea"/>
                <a:cs typeface="+mj-cs"/>
              </a:defRPr>
            </a:lvl2pPr>
            <a:lvl3pPr>
              <a:defRPr lang="en-US" sz="2800" b="1" kern="1200" dirty="0" smtClean="0">
                <a:solidFill>
                  <a:srgbClr val="3C3D48"/>
                </a:solidFill>
                <a:latin typeface="Gill Sans MT" pitchFamily="34" charset="0"/>
                <a:ea typeface="+mj-ea"/>
                <a:cs typeface="+mj-cs"/>
              </a:defRPr>
            </a:lvl3pPr>
            <a:lvl4pPr>
              <a:defRPr lang="en-US" sz="2800" b="1" kern="1200" dirty="0" smtClean="0">
                <a:solidFill>
                  <a:srgbClr val="3C3D48"/>
                </a:solidFill>
                <a:latin typeface="Gill Sans MT" pitchFamily="34" charset="0"/>
                <a:ea typeface="+mj-ea"/>
                <a:cs typeface="+mj-cs"/>
              </a:defRPr>
            </a:lvl4pPr>
            <a:lvl5pPr>
              <a:defRPr lang="en-IN" sz="2800" b="1" kern="1200" dirty="0">
                <a:solidFill>
                  <a:srgbClr val="3C3D48"/>
                </a:solidFill>
                <a:latin typeface="Gill Sans MT" pitchFamily="34" charset="0"/>
                <a:ea typeface="+mj-ea"/>
                <a:cs typeface="+mj-cs"/>
              </a:defRPr>
            </a:lvl5pPr>
          </a:lstStyle>
          <a:p>
            <a:pPr marL="231775" marR="0" lvl="0" indent="-231775" algn="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 smtClean="0"/>
              <a:t>HIGHLIGHTS</a:t>
            </a:r>
          </a:p>
        </p:txBody>
      </p:sp>
      <p:sp>
        <p:nvSpPr>
          <p:cNvPr id="27" name="Text Placehold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903515" y="2104328"/>
            <a:ext cx="4049262" cy="1596815"/>
          </a:xfrm>
        </p:spPr>
        <p:txBody>
          <a:bodyPr>
            <a:normAutofit/>
          </a:bodyPr>
          <a:lstStyle>
            <a:lvl1pPr marL="231775" marR="0" indent="-231775" algn="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IN" sz="1600" kern="1200" baseline="0">
                <a:solidFill>
                  <a:schemeClr val="accent4">
                    <a:lumMod val="75000"/>
                  </a:schemeClr>
                </a:solidFill>
                <a:latin typeface="+mj-lt"/>
                <a:ea typeface="+mn-ea"/>
                <a:cs typeface="+mn-cs"/>
              </a:defRPr>
            </a:lvl1pPr>
            <a:lvl2pPr>
              <a:defRPr lang="en-US" sz="2800" b="1" kern="1200" dirty="0" smtClean="0">
                <a:solidFill>
                  <a:srgbClr val="3C3D48"/>
                </a:solidFill>
                <a:latin typeface="Gill Sans MT" pitchFamily="34" charset="0"/>
                <a:ea typeface="+mj-ea"/>
                <a:cs typeface="+mj-cs"/>
              </a:defRPr>
            </a:lvl2pPr>
            <a:lvl3pPr>
              <a:defRPr lang="en-US" sz="2800" b="1" kern="1200" dirty="0" smtClean="0">
                <a:solidFill>
                  <a:srgbClr val="3C3D48"/>
                </a:solidFill>
                <a:latin typeface="Gill Sans MT" pitchFamily="34" charset="0"/>
                <a:ea typeface="+mj-ea"/>
                <a:cs typeface="+mj-cs"/>
              </a:defRPr>
            </a:lvl3pPr>
            <a:lvl4pPr>
              <a:defRPr lang="en-US" sz="2800" b="1" kern="1200" dirty="0" smtClean="0">
                <a:solidFill>
                  <a:srgbClr val="3C3D48"/>
                </a:solidFill>
                <a:latin typeface="Gill Sans MT" pitchFamily="34" charset="0"/>
                <a:ea typeface="+mj-ea"/>
                <a:cs typeface="+mj-cs"/>
              </a:defRPr>
            </a:lvl4pPr>
            <a:lvl5pPr>
              <a:defRPr lang="en-IN" sz="2800" b="1" kern="1200" dirty="0">
                <a:solidFill>
                  <a:srgbClr val="3C3D48"/>
                </a:solidFill>
                <a:latin typeface="Gill Sans MT" pitchFamily="34" charset="0"/>
                <a:ea typeface="+mj-ea"/>
                <a:cs typeface="+mj-cs"/>
              </a:defRPr>
            </a:lvl5pPr>
          </a:lstStyle>
          <a:p>
            <a:pPr marL="231775" marR="0" lvl="0" indent="-231775" algn="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IN" dirty="0" smtClean="0"/>
              <a:t>Add a small brief of the case study / point of view / Define a concept / theme / topic. You may add up to 6 lines of text. Beyond 6 lines will not be readable.</a:t>
            </a:r>
          </a:p>
        </p:txBody>
      </p:sp>
      <p:sp>
        <p:nvSpPr>
          <p:cNvPr id="40" name="Picture Placeholder 38"/>
          <p:cNvSpPr>
            <a:spLocks noGrp="1"/>
          </p:cNvSpPr>
          <p:nvPr>
            <p:ph type="pic" sz="quarter" idx="14"/>
          </p:nvPr>
        </p:nvSpPr>
        <p:spPr>
          <a:xfrm>
            <a:off x="5690960" y="490538"/>
            <a:ext cx="2874963" cy="5692775"/>
          </a:xfrm>
          <a:ln>
            <a:noFill/>
          </a:ln>
          <a:effectLst/>
        </p:spPr>
        <p:txBody>
          <a:bodyPr>
            <a:flatTx/>
          </a:bodyPr>
          <a:lstStyle>
            <a:lvl1pPr>
              <a:buNone/>
              <a:defRPr>
                <a:effectLst/>
              </a:defRPr>
            </a:lvl1pPr>
          </a:lstStyle>
          <a:p>
            <a:r>
              <a:rPr lang="en-US" smtClean="0"/>
              <a:t>Click icon to add picture</a:t>
            </a:r>
            <a:endParaRPr lang="en-IN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903515" y="3864429"/>
            <a:ext cx="4049262" cy="1545771"/>
          </a:xfrm>
        </p:spPr>
        <p:txBody>
          <a:bodyPr>
            <a:normAutofit/>
          </a:bodyPr>
          <a:lstStyle>
            <a:lvl1pPr marL="231775" marR="0" indent="-231775" algn="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IN" sz="1400" kern="1200" baseline="0">
                <a:solidFill>
                  <a:srgbClr val="0070C0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800" b="1" kern="1200" dirty="0" smtClean="0">
                <a:solidFill>
                  <a:srgbClr val="3C3D48"/>
                </a:solidFill>
                <a:latin typeface="Gill Sans MT" pitchFamily="34" charset="0"/>
                <a:ea typeface="+mj-ea"/>
                <a:cs typeface="+mj-cs"/>
              </a:defRPr>
            </a:lvl2pPr>
            <a:lvl3pPr>
              <a:defRPr lang="en-US" sz="2800" b="1" kern="1200" dirty="0" smtClean="0">
                <a:solidFill>
                  <a:srgbClr val="3C3D48"/>
                </a:solidFill>
                <a:latin typeface="Gill Sans MT" pitchFamily="34" charset="0"/>
                <a:ea typeface="+mj-ea"/>
                <a:cs typeface="+mj-cs"/>
              </a:defRPr>
            </a:lvl3pPr>
            <a:lvl4pPr>
              <a:defRPr lang="en-US" sz="2800" b="1" kern="1200" dirty="0" smtClean="0">
                <a:solidFill>
                  <a:srgbClr val="3C3D48"/>
                </a:solidFill>
                <a:latin typeface="Gill Sans MT" pitchFamily="34" charset="0"/>
                <a:ea typeface="+mj-ea"/>
                <a:cs typeface="+mj-cs"/>
              </a:defRPr>
            </a:lvl4pPr>
            <a:lvl5pPr>
              <a:defRPr lang="en-IN" sz="2800" b="1" kern="1200" dirty="0">
                <a:solidFill>
                  <a:srgbClr val="3C3D48"/>
                </a:solidFill>
                <a:latin typeface="Gill Sans MT" pitchFamily="34" charset="0"/>
                <a:ea typeface="+mj-ea"/>
                <a:cs typeface="+mj-cs"/>
              </a:defRPr>
            </a:lvl5pPr>
          </a:lstStyle>
          <a:p>
            <a:pPr marL="231775" marR="0" lvl="0" indent="-231775" algn="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 smtClean="0"/>
              <a:t>Add Highlights of the topic and only </a:t>
            </a:r>
            <a:br>
              <a:rPr lang="en-US" dirty="0" smtClean="0"/>
            </a:br>
            <a:r>
              <a:rPr lang="en-US" dirty="0" smtClean="0"/>
              <a:t>5 lines of text is allowed, beyond </a:t>
            </a:r>
            <a:br>
              <a:rPr lang="en-US" dirty="0" smtClean="0"/>
            </a:br>
            <a:r>
              <a:rPr lang="en-US" dirty="0" smtClean="0"/>
              <a:t>that it will not be readable.</a:t>
            </a:r>
            <a:endParaRPr lang="en-IN" dirty="0" smtClean="0"/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8" hasCustomPrompt="1"/>
          </p:nvPr>
        </p:nvSpPr>
        <p:spPr>
          <a:xfrm rot="5400000" flipH="1">
            <a:off x="4956460" y="852837"/>
            <a:ext cx="310896" cy="155448"/>
          </a:xfrm>
          <a:prstGeom prst="flowChartExtract">
            <a:avLst/>
          </a:prstGeom>
          <a:solidFill>
            <a:srgbClr val="03A3DF"/>
          </a:solidFill>
          <a:ln w="3175"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25"/>
          <p:cNvSpPr>
            <a:spLocks noGrp="1"/>
          </p:cNvSpPr>
          <p:nvPr>
            <p:ph type="pic" sz="quarter" idx="10"/>
          </p:nvPr>
        </p:nvSpPr>
        <p:spPr>
          <a:xfrm>
            <a:off x="451756" y="1668732"/>
            <a:ext cx="2590800" cy="3873500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en-IN"/>
          </a:p>
        </p:txBody>
      </p:sp>
      <p:sp>
        <p:nvSpPr>
          <p:cNvPr id="37" name="Text Placeholder 34"/>
          <p:cNvSpPr>
            <a:spLocks noGrp="1"/>
          </p:cNvSpPr>
          <p:nvPr>
            <p:ph type="body" sz="quarter" idx="12" hasCustomPrompt="1"/>
          </p:nvPr>
        </p:nvSpPr>
        <p:spPr>
          <a:xfrm>
            <a:off x="3990974" y="1565729"/>
            <a:ext cx="4686301" cy="1152071"/>
          </a:xfrm>
        </p:spPr>
        <p:txBody>
          <a:bodyPr>
            <a:normAutofit/>
          </a:bodyPr>
          <a:lstStyle>
            <a:lvl1pPr marL="0" indent="0">
              <a:buClr>
                <a:srgbClr val="0070C0"/>
              </a:buClr>
              <a:buFont typeface="Webdings" pitchFamily="18" charset="2"/>
              <a:buNone/>
              <a:tabLst/>
              <a:defRPr lang="en-US" sz="1200" kern="1200" baseline="0" dirty="0" smtClean="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buNone/>
              <a:defRPr lang="en-US" sz="1600" kern="1200" dirty="0" smtClean="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>
              <a:buNone/>
              <a:defRPr lang="en-US" sz="1600" kern="1200" dirty="0" smtClean="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>
              <a:buNone/>
              <a:defRPr lang="en-US" sz="1600" kern="1200" dirty="0" smtClean="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>
              <a:buNone/>
              <a:defRPr lang="en-IN" sz="1600" kern="1200" dirty="0" smtClean="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 smtClean="0"/>
              <a:t>Up to 5 lines of text is allowed beyond which it will not be readable.</a:t>
            </a:r>
          </a:p>
        </p:txBody>
      </p:sp>
      <p:sp>
        <p:nvSpPr>
          <p:cNvPr id="15" name="Text Placeholder 31"/>
          <p:cNvSpPr>
            <a:spLocks noGrp="1"/>
          </p:cNvSpPr>
          <p:nvPr>
            <p:ph type="body" sz="quarter" idx="14" hasCustomPrompt="1"/>
          </p:nvPr>
        </p:nvSpPr>
        <p:spPr>
          <a:xfrm>
            <a:off x="3990974" y="1162957"/>
            <a:ext cx="4673600" cy="261258"/>
          </a:xfrm>
        </p:spPr>
        <p:txBody>
          <a:bodyPr anchor="ctr">
            <a:noAutofit/>
          </a:bodyPr>
          <a:lstStyle>
            <a:lvl1pPr>
              <a:buNone/>
              <a:defRPr lang="en-US" sz="1400" b="1" kern="1200" dirty="0" smtClean="0">
                <a:solidFill>
                  <a:srgbClr val="3C3D48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 smtClean="0"/>
              <a:t>Opportunity</a:t>
            </a:r>
          </a:p>
        </p:txBody>
      </p:sp>
      <p:sp>
        <p:nvSpPr>
          <p:cNvPr id="19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40511"/>
            <a:ext cx="8229600" cy="532589"/>
          </a:xfrm>
        </p:spPr>
        <p:txBody>
          <a:bodyPr/>
          <a:lstStyle>
            <a:lvl1pPr marL="0" marR="0" indent="0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 baseline="0"/>
            </a:lvl1pPr>
          </a:lstStyle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/>
            </a:pPr>
            <a:r>
              <a:rPr lang="en-US" dirty="0" smtClean="0"/>
              <a:t>Case Study Heading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j-lt"/>
              <a:ea typeface="+mn-ea"/>
              <a:cs typeface="Arial"/>
            </a:endParaRPr>
          </a:p>
        </p:txBody>
      </p:sp>
      <p:sp>
        <p:nvSpPr>
          <p:cNvPr id="32" name="Text Placeholder 34"/>
          <p:cNvSpPr>
            <a:spLocks noGrp="1"/>
          </p:cNvSpPr>
          <p:nvPr>
            <p:ph type="body" sz="quarter" idx="19" hasCustomPrompt="1"/>
          </p:nvPr>
        </p:nvSpPr>
        <p:spPr>
          <a:xfrm>
            <a:off x="3990974" y="3246435"/>
            <a:ext cx="4686301" cy="1152071"/>
          </a:xfrm>
        </p:spPr>
        <p:txBody>
          <a:bodyPr>
            <a:normAutofit/>
          </a:bodyPr>
          <a:lstStyle>
            <a:lvl1pPr marL="0" indent="0">
              <a:buClr>
                <a:srgbClr val="0070C0"/>
              </a:buClr>
              <a:buFont typeface="Webdings" pitchFamily="18" charset="2"/>
              <a:buNone/>
              <a:tabLst/>
              <a:defRPr lang="en-US" sz="1200" kern="1200" baseline="0" dirty="0" smtClean="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buNone/>
              <a:defRPr lang="en-US" sz="1600" kern="1200" dirty="0" smtClean="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>
              <a:buNone/>
              <a:defRPr lang="en-US" sz="1600" kern="1200" dirty="0" smtClean="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>
              <a:buNone/>
              <a:defRPr lang="en-US" sz="1600" kern="1200" dirty="0" smtClean="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>
              <a:buNone/>
              <a:defRPr lang="en-IN" sz="1600" kern="1200" dirty="0" smtClean="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 smtClean="0"/>
              <a:t>Up to 5 lines of text is allowed beyond which it will not be readable.</a:t>
            </a:r>
          </a:p>
        </p:txBody>
      </p:sp>
      <p:sp>
        <p:nvSpPr>
          <p:cNvPr id="33" name="Text Placeholder 31"/>
          <p:cNvSpPr>
            <a:spLocks noGrp="1"/>
          </p:cNvSpPr>
          <p:nvPr>
            <p:ph type="body" sz="quarter" idx="20" hasCustomPrompt="1"/>
          </p:nvPr>
        </p:nvSpPr>
        <p:spPr>
          <a:xfrm>
            <a:off x="3990974" y="2843663"/>
            <a:ext cx="4673600" cy="261258"/>
          </a:xfrm>
        </p:spPr>
        <p:txBody>
          <a:bodyPr anchor="ctr">
            <a:noAutofit/>
          </a:bodyPr>
          <a:lstStyle>
            <a:lvl1pPr>
              <a:buNone/>
              <a:defRPr lang="en-US" sz="1400" b="1" kern="1200" baseline="0" dirty="0" smtClean="0">
                <a:solidFill>
                  <a:srgbClr val="3C3D48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 smtClean="0"/>
              <a:t>Challenges </a:t>
            </a:r>
          </a:p>
        </p:txBody>
      </p:sp>
      <p:sp>
        <p:nvSpPr>
          <p:cNvPr id="35" name="Text Placeholder 34"/>
          <p:cNvSpPr>
            <a:spLocks noGrp="1"/>
          </p:cNvSpPr>
          <p:nvPr>
            <p:ph type="body" sz="quarter" idx="21" hasCustomPrompt="1"/>
          </p:nvPr>
        </p:nvSpPr>
        <p:spPr>
          <a:xfrm>
            <a:off x="3990974" y="4962546"/>
            <a:ext cx="4686301" cy="1152071"/>
          </a:xfrm>
        </p:spPr>
        <p:txBody>
          <a:bodyPr>
            <a:normAutofit/>
          </a:bodyPr>
          <a:lstStyle>
            <a:lvl1pPr marL="0" indent="0">
              <a:buClr>
                <a:srgbClr val="0070C0"/>
              </a:buClr>
              <a:buFont typeface="Webdings" pitchFamily="18" charset="2"/>
              <a:buNone/>
              <a:tabLst/>
              <a:defRPr lang="en-US" sz="1200" kern="1200" baseline="0" dirty="0" smtClean="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buNone/>
              <a:defRPr lang="en-US" sz="1600" kern="1200" dirty="0" smtClean="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>
              <a:buNone/>
              <a:defRPr lang="en-US" sz="1600" kern="1200" dirty="0" smtClean="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>
              <a:buNone/>
              <a:defRPr lang="en-US" sz="1600" kern="1200" dirty="0" smtClean="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>
              <a:buNone/>
              <a:defRPr lang="en-IN" sz="1600" kern="1200" dirty="0" smtClean="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 smtClean="0"/>
              <a:t>Up to 5 lines of text is allowed beyond which it will not be readable.</a:t>
            </a:r>
          </a:p>
        </p:txBody>
      </p:sp>
      <p:sp>
        <p:nvSpPr>
          <p:cNvPr id="36" name="Text Placeholder 31"/>
          <p:cNvSpPr>
            <a:spLocks noGrp="1"/>
          </p:cNvSpPr>
          <p:nvPr>
            <p:ph type="body" sz="quarter" idx="22" hasCustomPrompt="1"/>
          </p:nvPr>
        </p:nvSpPr>
        <p:spPr>
          <a:xfrm>
            <a:off x="3990974" y="4559774"/>
            <a:ext cx="4673600" cy="261258"/>
          </a:xfrm>
        </p:spPr>
        <p:txBody>
          <a:bodyPr anchor="ctr">
            <a:noAutofit/>
          </a:bodyPr>
          <a:lstStyle>
            <a:lvl1pPr>
              <a:buNone/>
              <a:defRPr lang="en-US" sz="1400" b="1" kern="1200" dirty="0" smtClean="0">
                <a:solidFill>
                  <a:srgbClr val="3C3D48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 smtClean="0"/>
              <a:t>Impact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8" hasCustomPrompt="1"/>
          </p:nvPr>
        </p:nvSpPr>
        <p:spPr>
          <a:xfrm rot="16200000">
            <a:off x="3644028" y="1218597"/>
            <a:ext cx="310896" cy="155448"/>
          </a:xfrm>
          <a:prstGeom prst="flowChartExtract">
            <a:avLst/>
          </a:prstGeom>
          <a:solidFill>
            <a:srgbClr val="03A3DF"/>
          </a:solidFill>
          <a:ln w="3175"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23" hasCustomPrompt="1"/>
          </p:nvPr>
        </p:nvSpPr>
        <p:spPr>
          <a:xfrm rot="16200000">
            <a:off x="3644028" y="2906649"/>
            <a:ext cx="310896" cy="155448"/>
          </a:xfrm>
          <a:prstGeom prst="flowChartExtract">
            <a:avLst/>
          </a:prstGeom>
          <a:solidFill>
            <a:srgbClr val="03A3DF"/>
          </a:solidFill>
          <a:ln w="3175"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24" hasCustomPrompt="1"/>
          </p:nvPr>
        </p:nvSpPr>
        <p:spPr>
          <a:xfrm rot="16200000">
            <a:off x="3644028" y="4624562"/>
            <a:ext cx="310896" cy="155448"/>
          </a:xfrm>
          <a:prstGeom prst="flowChartExtract">
            <a:avLst/>
          </a:prstGeom>
          <a:solidFill>
            <a:srgbClr val="03A3DF"/>
          </a:solidFill>
          <a:ln w="3175"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- Column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53211"/>
            <a:ext cx="8229600" cy="553998"/>
          </a:xfrm>
        </p:spPr>
        <p:txBody>
          <a:bodyPr/>
          <a:lstStyle>
            <a:lvl1pPr marL="0" marR="0" indent="0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 baseline="0"/>
            </a:lvl1pPr>
          </a:lstStyle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/>
            </a:pPr>
            <a:r>
              <a:rPr lang="en-US" dirty="0" smtClean="0"/>
              <a:t>Title of Column Graph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j-lt"/>
              <a:ea typeface="+mn-ea"/>
              <a:cs typeface="Arial"/>
            </a:endParaRPr>
          </a:p>
        </p:txBody>
      </p:sp>
      <p:sp>
        <p:nvSpPr>
          <p:cNvPr id="4" name="Chart Placeholder 13"/>
          <p:cNvSpPr>
            <a:spLocks noGrp="1"/>
          </p:cNvSpPr>
          <p:nvPr>
            <p:ph type="chart" sz="quarter" idx="10"/>
          </p:nvPr>
        </p:nvSpPr>
        <p:spPr>
          <a:xfrm>
            <a:off x="460375" y="1348349"/>
            <a:ext cx="8229600" cy="4716462"/>
          </a:xfrm>
        </p:spPr>
        <p:txBody>
          <a:bodyPr/>
          <a:lstStyle/>
          <a:p>
            <a:r>
              <a:rPr lang="en-US" smtClean="0"/>
              <a:t>Click icon to add chart</a:t>
            </a:r>
            <a:endParaRPr lang="en-IN"/>
          </a:p>
        </p:txBody>
      </p:sp>
      <p:sp>
        <p:nvSpPr>
          <p:cNvPr id="5" name="Oval 6"/>
          <p:cNvSpPr>
            <a:spLocks noChangeArrowheads="1"/>
          </p:cNvSpPr>
          <p:nvPr userDrawn="1"/>
        </p:nvSpPr>
        <p:spPr bwMode="gray">
          <a:xfrm>
            <a:off x="355600" y="6121101"/>
            <a:ext cx="8432800" cy="287853"/>
          </a:xfrm>
          <a:prstGeom prst="ellipse">
            <a:avLst/>
          </a:prstGeom>
          <a:gradFill rotWithShape="1">
            <a:gsLst>
              <a:gs pos="0">
                <a:srgbClr val="080808">
                  <a:alpha val="15000"/>
                </a:srgbClr>
              </a:gs>
              <a:gs pos="100000">
                <a:srgbClr val="0040A8">
                  <a:alpha val="0"/>
                </a:srgbClr>
              </a:gs>
            </a:gsLst>
            <a:path path="shape">
              <a:fillToRect l="50000" t="50000" r="50000" b="50000"/>
            </a:path>
          </a:gradFill>
          <a:ln w="9525" algn="ctr">
            <a:noFill/>
            <a:miter lim="800000"/>
            <a:headEnd/>
            <a:tailEnd/>
          </a:ln>
          <a:effectLst/>
        </p:spPr>
        <p:txBody>
          <a:bodyPr wrap="square"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kern="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- Bar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53211"/>
            <a:ext cx="8229600" cy="553998"/>
          </a:xfrm>
        </p:spPr>
        <p:txBody>
          <a:bodyPr/>
          <a:lstStyle>
            <a:lvl1pPr marL="0" marR="0" indent="0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 baseline="0"/>
            </a:lvl1pPr>
          </a:lstStyle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/>
            </a:pPr>
            <a:r>
              <a:rPr lang="en-US" dirty="0" smtClean="0"/>
              <a:t>Title of Bar Graph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j-lt"/>
              <a:ea typeface="+mn-ea"/>
              <a:cs typeface="Arial"/>
            </a:endParaRPr>
          </a:p>
        </p:txBody>
      </p:sp>
      <p:sp>
        <p:nvSpPr>
          <p:cNvPr id="4" name="Chart Placeholder 13"/>
          <p:cNvSpPr>
            <a:spLocks noGrp="1"/>
          </p:cNvSpPr>
          <p:nvPr>
            <p:ph type="chart" sz="quarter" idx="10"/>
          </p:nvPr>
        </p:nvSpPr>
        <p:spPr>
          <a:xfrm>
            <a:off x="460375" y="1348349"/>
            <a:ext cx="8229600" cy="4716462"/>
          </a:xfrm>
        </p:spPr>
        <p:txBody>
          <a:bodyPr/>
          <a:lstStyle/>
          <a:p>
            <a:r>
              <a:rPr lang="en-US" smtClean="0"/>
              <a:t>Click icon to add chart</a:t>
            </a:r>
            <a:endParaRPr lang="en-IN"/>
          </a:p>
        </p:txBody>
      </p:sp>
      <p:sp>
        <p:nvSpPr>
          <p:cNvPr id="5" name="Oval 6"/>
          <p:cNvSpPr>
            <a:spLocks noChangeArrowheads="1"/>
          </p:cNvSpPr>
          <p:nvPr userDrawn="1"/>
        </p:nvSpPr>
        <p:spPr bwMode="gray">
          <a:xfrm>
            <a:off x="355600" y="6121101"/>
            <a:ext cx="8432800" cy="287853"/>
          </a:xfrm>
          <a:prstGeom prst="ellipse">
            <a:avLst/>
          </a:prstGeom>
          <a:gradFill rotWithShape="1">
            <a:gsLst>
              <a:gs pos="0">
                <a:srgbClr val="080808">
                  <a:alpha val="15000"/>
                </a:srgbClr>
              </a:gs>
              <a:gs pos="100000">
                <a:srgbClr val="0040A8">
                  <a:alpha val="0"/>
                </a:srgbClr>
              </a:gs>
            </a:gsLst>
            <a:path path="shape">
              <a:fillToRect l="50000" t="50000" r="50000" b="50000"/>
            </a:path>
          </a:gradFill>
          <a:ln w="9525" algn="ctr">
            <a:noFill/>
            <a:miter lim="800000"/>
            <a:headEnd/>
            <a:tailEnd/>
          </a:ln>
          <a:effectLst/>
        </p:spPr>
        <p:txBody>
          <a:bodyPr wrap="square"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kern="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e 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53211"/>
            <a:ext cx="8229600" cy="553998"/>
          </a:xfrm>
        </p:spPr>
        <p:txBody>
          <a:bodyPr/>
          <a:lstStyle>
            <a:lvl1pPr marL="0" marR="0" indent="0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 baseline="0"/>
            </a:lvl1pPr>
          </a:lstStyle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/>
            </a:pPr>
            <a:r>
              <a:rPr lang="en-US" dirty="0" smtClean="0"/>
              <a:t>Title of Pie Chart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j-lt"/>
              <a:ea typeface="+mn-ea"/>
              <a:cs typeface="Arial"/>
            </a:endParaRPr>
          </a:p>
        </p:txBody>
      </p:sp>
      <p:sp>
        <p:nvSpPr>
          <p:cNvPr id="11" name="Chart Placeholder 13"/>
          <p:cNvSpPr>
            <a:spLocks noGrp="1"/>
          </p:cNvSpPr>
          <p:nvPr>
            <p:ph type="chart" sz="quarter" idx="10"/>
          </p:nvPr>
        </p:nvSpPr>
        <p:spPr>
          <a:xfrm>
            <a:off x="460375" y="1348349"/>
            <a:ext cx="8229600" cy="4716462"/>
          </a:xfrm>
        </p:spPr>
        <p:txBody>
          <a:bodyPr/>
          <a:lstStyle/>
          <a:p>
            <a:r>
              <a:rPr lang="en-US" smtClean="0"/>
              <a:t>Click icon to add chart</a:t>
            </a:r>
            <a:endParaRPr lang="en-IN"/>
          </a:p>
        </p:txBody>
      </p:sp>
      <p:sp>
        <p:nvSpPr>
          <p:cNvPr id="12" name="Oval 6"/>
          <p:cNvSpPr>
            <a:spLocks noChangeArrowheads="1"/>
          </p:cNvSpPr>
          <p:nvPr userDrawn="1"/>
        </p:nvSpPr>
        <p:spPr bwMode="gray">
          <a:xfrm>
            <a:off x="355600" y="6121101"/>
            <a:ext cx="8432800" cy="287853"/>
          </a:xfrm>
          <a:prstGeom prst="ellipse">
            <a:avLst/>
          </a:prstGeom>
          <a:gradFill rotWithShape="1">
            <a:gsLst>
              <a:gs pos="0">
                <a:srgbClr val="080808">
                  <a:alpha val="15000"/>
                </a:srgbClr>
              </a:gs>
              <a:gs pos="100000">
                <a:srgbClr val="0040A8">
                  <a:alpha val="0"/>
                </a:srgbClr>
              </a:gs>
            </a:gsLst>
            <a:path path="shape">
              <a:fillToRect l="50000" t="50000" r="50000" b="50000"/>
            </a:path>
          </a:gradFill>
          <a:ln w="9525" algn="ctr">
            <a:noFill/>
            <a:miter lim="800000"/>
            <a:headEnd/>
            <a:tailEnd/>
          </a:ln>
          <a:effectLst/>
        </p:spPr>
        <p:txBody>
          <a:bodyPr wrap="square"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kern="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e Chart slide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53211"/>
            <a:ext cx="8229600" cy="553998"/>
          </a:xfrm>
        </p:spPr>
        <p:txBody>
          <a:bodyPr/>
          <a:lstStyle>
            <a:lvl1pPr marL="0" marR="0" indent="0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 baseline="0"/>
            </a:lvl1pPr>
          </a:lstStyle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/>
            </a:pPr>
            <a:r>
              <a:rPr lang="en-US" dirty="0" smtClean="0"/>
              <a:t>Title of Pie Chart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j-lt"/>
              <a:ea typeface="+mn-ea"/>
              <a:cs typeface="Arial"/>
            </a:endParaRPr>
          </a:p>
        </p:txBody>
      </p:sp>
      <p:sp>
        <p:nvSpPr>
          <p:cNvPr id="5" name="Chart Placeholder 13"/>
          <p:cNvSpPr>
            <a:spLocks noGrp="1"/>
          </p:cNvSpPr>
          <p:nvPr>
            <p:ph type="chart" sz="quarter" idx="10"/>
          </p:nvPr>
        </p:nvSpPr>
        <p:spPr>
          <a:xfrm>
            <a:off x="460375" y="1348349"/>
            <a:ext cx="8229600" cy="4716462"/>
          </a:xfrm>
        </p:spPr>
        <p:txBody>
          <a:bodyPr/>
          <a:lstStyle/>
          <a:p>
            <a:r>
              <a:rPr lang="en-US" smtClean="0"/>
              <a:t>Click icon to add chart</a:t>
            </a:r>
            <a:endParaRPr lang="en-IN"/>
          </a:p>
        </p:txBody>
      </p:sp>
      <p:sp>
        <p:nvSpPr>
          <p:cNvPr id="7" name="Oval 6"/>
          <p:cNvSpPr>
            <a:spLocks noChangeArrowheads="1"/>
          </p:cNvSpPr>
          <p:nvPr userDrawn="1"/>
        </p:nvSpPr>
        <p:spPr bwMode="gray">
          <a:xfrm>
            <a:off x="355600" y="6121101"/>
            <a:ext cx="8432800" cy="287853"/>
          </a:xfrm>
          <a:prstGeom prst="ellipse">
            <a:avLst/>
          </a:prstGeom>
          <a:gradFill rotWithShape="1">
            <a:gsLst>
              <a:gs pos="0">
                <a:srgbClr val="080808">
                  <a:alpha val="15000"/>
                </a:srgbClr>
              </a:gs>
              <a:gs pos="100000">
                <a:srgbClr val="0040A8">
                  <a:alpha val="0"/>
                </a:srgbClr>
              </a:gs>
            </a:gsLst>
            <a:path path="shape">
              <a:fillToRect l="50000" t="50000" r="50000" b="50000"/>
            </a:path>
          </a:gradFill>
          <a:ln w="9525" algn="ctr">
            <a:noFill/>
            <a:miter lim="800000"/>
            <a:headEnd/>
            <a:tailEnd/>
          </a:ln>
          <a:effectLst/>
        </p:spPr>
        <p:txBody>
          <a:bodyPr wrap="square"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kern="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Oval 6"/>
          <p:cNvSpPr>
            <a:spLocks noChangeArrowheads="1"/>
          </p:cNvSpPr>
          <p:nvPr userDrawn="1"/>
        </p:nvSpPr>
        <p:spPr bwMode="gray">
          <a:xfrm>
            <a:off x="355600" y="5858423"/>
            <a:ext cx="8432800" cy="550531"/>
          </a:xfrm>
          <a:prstGeom prst="ellipse">
            <a:avLst/>
          </a:prstGeom>
          <a:gradFill rotWithShape="1">
            <a:gsLst>
              <a:gs pos="0">
                <a:srgbClr val="080808">
                  <a:alpha val="20000"/>
                </a:srgbClr>
              </a:gs>
              <a:gs pos="100000">
                <a:srgbClr val="0040A8">
                  <a:alpha val="0"/>
                </a:srgbClr>
              </a:gs>
            </a:gsLst>
            <a:path path="shape">
              <a:fillToRect l="50000" t="50000" r="50000" b="50000"/>
            </a:path>
          </a:gradFill>
          <a:ln w="9525" algn="ctr">
            <a:noFill/>
            <a:miter lim="800000"/>
            <a:headEnd/>
            <a:tailEnd/>
          </a:ln>
          <a:effectLst/>
        </p:spPr>
        <p:txBody>
          <a:bodyPr wrap="square"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kern="0" dirty="0">
              <a:solidFill>
                <a:srgbClr val="000000"/>
              </a:solidFill>
            </a:endParaRPr>
          </a:p>
        </p:txBody>
      </p:sp>
      <p:sp>
        <p:nvSpPr>
          <p:cNvPr id="57" name="Text Placeholder 56"/>
          <p:cNvSpPr>
            <a:spLocks noGrp="1"/>
          </p:cNvSpPr>
          <p:nvPr>
            <p:ph type="body" sz="quarter" idx="10" hasCustomPrompt="1"/>
          </p:nvPr>
        </p:nvSpPr>
        <p:spPr>
          <a:xfrm>
            <a:off x="780166" y="4223431"/>
            <a:ext cx="1452108" cy="566737"/>
          </a:xfrm>
        </p:spPr>
        <p:txBody>
          <a:bodyPr>
            <a:normAutofit/>
          </a:bodyPr>
          <a:lstStyle>
            <a:lvl1pPr algn="ctr">
              <a:buNone/>
              <a:defRPr lang="en-IN" sz="1800" kern="1200" dirty="0" smtClean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Text 1</a:t>
            </a:r>
            <a:endParaRPr lang="en-IN" dirty="0"/>
          </a:p>
        </p:txBody>
      </p:sp>
      <p:sp>
        <p:nvSpPr>
          <p:cNvPr id="12" name="Title 4"/>
          <p:cNvSpPr>
            <a:spLocks noGrp="1"/>
          </p:cNvSpPr>
          <p:nvPr>
            <p:ph type="title" hasCustomPrompt="1"/>
          </p:nvPr>
        </p:nvSpPr>
        <p:spPr>
          <a:xfrm>
            <a:off x="460375" y="140024"/>
            <a:ext cx="8229600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Add Title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774700" y="2679700"/>
            <a:ext cx="1463040" cy="1463040"/>
          </a:xfrm>
          <a:prstGeom prst="ellipse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3" name="Text Placeholder 56"/>
          <p:cNvSpPr>
            <a:spLocks noGrp="1"/>
          </p:cNvSpPr>
          <p:nvPr>
            <p:ph type="body" sz="quarter" idx="19" hasCustomPrompt="1"/>
          </p:nvPr>
        </p:nvSpPr>
        <p:spPr>
          <a:xfrm>
            <a:off x="2807316" y="4223431"/>
            <a:ext cx="1452108" cy="566737"/>
          </a:xfrm>
        </p:spPr>
        <p:txBody>
          <a:bodyPr>
            <a:normAutofit/>
          </a:bodyPr>
          <a:lstStyle>
            <a:lvl1pPr algn="ctr">
              <a:buNone/>
              <a:defRPr lang="en-IN" sz="1800" kern="1200" dirty="0" smtClean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Text 2</a:t>
            </a:r>
            <a:endParaRPr lang="en-IN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2801850" y="2679700"/>
            <a:ext cx="1463040" cy="1463040"/>
          </a:xfrm>
          <a:prstGeom prst="ellipse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5" name="Text Placeholder 56"/>
          <p:cNvSpPr>
            <a:spLocks noGrp="1"/>
          </p:cNvSpPr>
          <p:nvPr>
            <p:ph type="body" sz="quarter" idx="21" hasCustomPrompt="1"/>
          </p:nvPr>
        </p:nvSpPr>
        <p:spPr>
          <a:xfrm>
            <a:off x="4811800" y="4223431"/>
            <a:ext cx="1452108" cy="566737"/>
          </a:xfrm>
        </p:spPr>
        <p:txBody>
          <a:bodyPr>
            <a:normAutofit/>
          </a:bodyPr>
          <a:lstStyle>
            <a:lvl1pPr algn="ctr">
              <a:buNone/>
              <a:defRPr lang="en-IN" sz="1800" kern="1200" dirty="0" smtClean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Text 3</a:t>
            </a:r>
            <a:endParaRPr lang="en-IN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4806334" y="2679700"/>
            <a:ext cx="1463040" cy="1463040"/>
          </a:xfrm>
          <a:prstGeom prst="ellipse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7" name="Text Placeholder 56"/>
          <p:cNvSpPr>
            <a:spLocks noGrp="1"/>
          </p:cNvSpPr>
          <p:nvPr>
            <p:ph type="body" sz="quarter" idx="23" hasCustomPrompt="1"/>
          </p:nvPr>
        </p:nvSpPr>
        <p:spPr>
          <a:xfrm>
            <a:off x="6787266" y="4223431"/>
            <a:ext cx="1452108" cy="566737"/>
          </a:xfrm>
        </p:spPr>
        <p:txBody>
          <a:bodyPr>
            <a:normAutofit/>
          </a:bodyPr>
          <a:lstStyle>
            <a:lvl1pPr algn="ctr">
              <a:buNone/>
              <a:defRPr lang="en-IN" sz="1800" kern="1200" dirty="0" smtClean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Text 4</a:t>
            </a:r>
            <a:endParaRPr lang="en-IN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24" hasCustomPrompt="1"/>
          </p:nvPr>
        </p:nvSpPr>
        <p:spPr>
          <a:xfrm>
            <a:off x="6781800" y="2679700"/>
            <a:ext cx="1463040" cy="1463040"/>
          </a:xfrm>
          <a:prstGeom prst="ellipse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connecto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2642616" y="1727200"/>
            <a:ext cx="3858768" cy="3858768"/>
          </a:xfrm>
          <a:prstGeom prst="ellipse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38" name="Title 4"/>
          <p:cNvSpPr>
            <a:spLocks noGrp="1"/>
          </p:cNvSpPr>
          <p:nvPr userDrawn="1">
            <p:ph type="title" hasCustomPrompt="1"/>
          </p:nvPr>
        </p:nvSpPr>
        <p:spPr>
          <a:xfrm>
            <a:off x="460375" y="140024"/>
            <a:ext cx="8229600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Add Title</a:t>
            </a:r>
            <a:endParaRPr lang="en-US" dirty="0"/>
          </a:p>
        </p:txBody>
      </p:sp>
      <p:sp>
        <p:nvSpPr>
          <p:cNvPr id="30" name="Text Placeholder 56"/>
          <p:cNvSpPr>
            <a:spLocks noGrp="1"/>
          </p:cNvSpPr>
          <p:nvPr>
            <p:ph type="body" sz="quarter" idx="14" hasCustomPrompt="1"/>
          </p:nvPr>
        </p:nvSpPr>
        <p:spPr>
          <a:xfrm>
            <a:off x="3474131" y="3152631"/>
            <a:ext cx="2231528" cy="693655"/>
          </a:xfrm>
        </p:spPr>
        <p:txBody>
          <a:bodyPr>
            <a:noAutofit/>
          </a:bodyPr>
          <a:lstStyle>
            <a:lvl1pPr marL="0" indent="0" algn="ctr">
              <a:buNone/>
              <a:defRPr lang="en-IN" sz="2000" kern="1200" baseline="0" dirty="0" smtClean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INSERT TEXT Subject Matter</a:t>
            </a:r>
            <a:endParaRPr lang="en-IN" dirty="0"/>
          </a:p>
        </p:txBody>
      </p:sp>
      <p:sp>
        <p:nvSpPr>
          <p:cNvPr id="34" name="Text Placeholder 56"/>
          <p:cNvSpPr>
            <a:spLocks noGrp="1"/>
          </p:cNvSpPr>
          <p:nvPr>
            <p:ph type="body" sz="quarter" idx="13" hasCustomPrompt="1"/>
          </p:nvPr>
        </p:nvSpPr>
        <p:spPr>
          <a:xfrm>
            <a:off x="3863878" y="953610"/>
            <a:ext cx="1416244" cy="329811"/>
          </a:xfrm>
        </p:spPr>
        <p:txBody>
          <a:bodyPr>
            <a:normAutofit/>
          </a:bodyPr>
          <a:lstStyle>
            <a:lvl1pPr algn="ctr">
              <a:buNone/>
              <a:defRPr lang="en-IN" sz="1400" kern="1200" dirty="0" smtClean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Text Here</a:t>
            </a:r>
            <a:endParaRPr lang="en-IN" dirty="0"/>
          </a:p>
        </p:txBody>
      </p:sp>
      <p:sp>
        <p:nvSpPr>
          <p:cNvPr id="37" name="Text Placeholder 56"/>
          <p:cNvSpPr>
            <a:spLocks noGrp="1"/>
          </p:cNvSpPr>
          <p:nvPr>
            <p:ph type="body" sz="quarter" idx="15" hasCustomPrompt="1"/>
          </p:nvPr>
        </p:nvSpPr>
        <p:spPr>
          <a:xfrm>
            <a:off x="3863878" y="6124845"/>
            <a:ext cx="1416244" cy="329811"/>
          </a:xfrm>
        </p:spPr>
        <p:txBody>
          <a:bodyPr>
            <a:normAutofit/>
          </a:bodyPr>
          <a:lstStyle>
            <a:lvl1pPr algn="ctr">
              <a:buNone/>
              <a:defRPr lang="en-IN" sz="1400" kern="1200" dirty="0" smtClean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Text Here</a:t>
            </a:r>
            <a:endParaRPr lang="en-IN" dirty="0"/>
          </a:p>
        </p:txBody>
      </p:sp>
      <p:sp>
        <p:nvSpPr>
          <p:cNvPr id="39" name="Text Placeholder 56"/>
          <p:cNvSpPr>
            <a:spLocks noGrp="1"/>
          </p:cNvSpPr>
          <p:nvPr>
            <p:ph type="body" sz="quarter" idx="16" hasCustomPrompt="1"/>
          </p:nvPr>
        </p:nvSpPr>
        <p:spPr>
          <a:xfrm>
            <a:off x="6998963" y="3232353"/>
            <a:ext cx="1416244" cy="329811"/>
          </a:xfrm>
        </p:spPr>
        <p:txBody>
          <a:bodyPr>
            <a:normAutofit/>
          </a:bodyPr>
          <a:lstStyle>
            <a:lvl1pPr algn="ctr">
              <a:buNone/>
              <a:defRPr lang="en-IN" sz="1400" kern="1200" dirty="0" smtClean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Text Here</a:t>
            </a:r>
            <a:endParaRPr lang="en-IN" dirty="0"/>
          </a:p>
        </p:txBody>
      </p:sp>
      <p:sp>
        <p:nvSpPr>
          <p:cNvPr id="40" name="Text Placeholder 56"/>
          <p:cNvSpPr>
            <a:spLocks noGrp="1"/>
          </p:cNvSpPr>
          <p:nvPr>
            <p:ph type="body" sz="quarter" idx="17" hasCustomPrompt="1"/>
          </p:nvPr>
        </p:nvSpPr>
        <p:spPr>
          <a:xfrm>
            <a:off x="701622" y="3232353"/>
            <a:ext cx="1416244" cy="329811"/>
          </a:xfrm>
        </p:spPr>
        <p:txBody>
          <a:bodyPr>
            <a:normAutofit/>
          </a:bodyPr>
          <a:lstStyle>
            <a:lvl1pPr algn="ctr">
              <a:buNone/>
              <a:defRPr lang="en-IN" sz="1400" kern="1200" dirty="0" smtClean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Text Here</a:t>
            </a:r>
            <a:endParaRPr lang="en-IN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4076700" y="1320800"/>
            <a:ext cx="960120" cy="960120"/>
          </a:xfrm>
          <a:prstGeom prst="ellipse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9" hasCustomPrompt="1"/>
          </p:nvPr>
        </p:nvSpPr>
        <p:spPr>
          <a:xfrm>
            <a:off x="4076700" y="5105400"/>
            <a:ext cx="960120" cy="960120"/>
          </a:xfrm>
          <a:prstGeom prst="ellipse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21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2146300" y="2921000"/>
            <a:ext cx="960120" cy="960120"/>
          </a:xfrm>
          <a:prstGeom prst="ellipse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24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5943600" y="2908300"/>
            <a:ext cx="960120" cy="960120"/>
          </a:xfrm>
          <a:prstGeom prst="ellipse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/>
          <p:cNvSpPr>
            <a:spLocks noGrp="1"/>
          </p:cNvSpPr>
          <p:nvPr userDrawn="1">
            <p:ph type="ctrTitle" hasCustomPrompt="1"/>
          </p:nvPr>
        </p:nvSpPr>
        <p:spPr>
          <a:xfrm>
            <a:off x="4547710" y="1767649"/>
            <a:ext cx="4203553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10" name="Text Placeholder 56"/>
          <p:cNvSpPr>
            <a:spLocks noGrp="1"/>
          </p:cNvSpPr>
          <p:nvPr>
            <p:ph type="body" sz="quarter" idx="19" hasCustomPrompt="1"/>
          </p:nvPr>
        </p:nvSpPr>
        <p:spPr>
          <a:xfrm>
            <a:off x="4547710" y="2552751"/>
            <a:ext cx="4158442" cy="355042"/>
          </a:xfrm>
        </p:spPr>
        <p:txBody>
          <a:bodyPr>
            <a:noAutofit/>
          </a:bodyPr>
          <a:lstStyle>
            <a:lvl1pPr marL="0" indent="0" algn="l">
              <a:buNone/>
              <a:defRPr kumimoji="0" lang="en-I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n-US" dirty="0" smtClean="0"/>
              <a:t>Your Name</a:t>
            </a:r>
            <a:endParaRPr lang="en-IN" dirty="0"/>
          </a:p>
        </p:txBody>
      </p:sp>
      <p:sp>
        <p:nvSpPr>
          <p:cNvPr id="11" name="Text Placeholder 56"/>
          <p:cNvSpPr>
            <a:spLocks noGrp="1"/>
          </p:cNvSpPr>
          <p:nvPr>
            <p:ph type="body" sz="quarter" idx="20" hasCustomPrompt="1"/>
          </p:nvPr>
        </p:nvSpPr>
        <p:spPr>
          <a:xfrm>
            <a:off x="4547710" y="3537676"/>
            <a:ext cx="4158442" cy="314777"/>
          </a:xfrm>
        </p:spPr>
        <p:txBody>
          <a:bodyPr>
            <a:noAutofit/>
          </a:bodyPr>
          <a:lstStyle>
            <a:lvl1pPr algn="l">
              <a:buNone/>
              <a:defRPr kumimoji="0" lang="en-I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n-US" dirty="0" smtClean="0"/>
              <a:t>Email ID</a:t>
            </a:r>
            <a:endParaRPr lang="en-IN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647700"/>
            <a:ext cx="9144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 descr="WIPRO PPT Design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21" y="4471039"/>
            <a:ext cx="9133758" cy="2171061"/>
          </a:xfrm>
          <a:prstGeom prst="rect">
            <a:avLst/>
          </a:prstGeom>
        </p:spPr>
      </p:pic>
      <p:pic>
        <p:nvPicPr>
          <p:cNvPr id="13" name="Picture 12" descr="Slides Master - 51.jp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57402" y="1664833"/>
            <a:ext cx="1872342" cy="2084305"/>
          </a:xfrm>
          <a:prstGeom prst="rect">
            <a:avLst/>
          </a:prstGeom>
        </p:spPr>
      </p:pic>
      <p:cxnSp>
        <p:nvCxnSpPr>
          <p:cNvPr id="12" name="Straight Connector 11"/>
          <p:cNvCxnSpPr/>
          <p:nvPr userDrawn="1"/>
        </p:nvCxnSpPr>
        <p:spPr>
          <a:xfrm rot="5400000">
            <a:off x="2814000" y="2781258"/>
            <a:ext cx="2754000" cy="1588"/>
          </a:xfrm>
          <a:prstGeom prst="line">
            <a:avLst/>
          </a:prstGeom>
          <a:ln w="19050">
            <a:solidFill>
              <a:srgbClr val="B6B6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56"/>
          <p:cNvSpPr>
            <a:spLocks noGrp="1"/>
          </p:cNvSpPr>
          <p:nvPr>
            <p:ph type="body" sz="quarter" idx="21" hasCustomPrompt="1"/>
          </p:nvPr>
        </p:nvSpPr>
        <p:spPr>
          <a:xfrm>
            <a:off x="4547710" y="3034335"/>
            <a:ext cx="4158442" cy="355042"/>
          </a:xfrm>
        </p:spPr>
        <p:txBody>
          <a:bodyPr>
            <a:noAutofit/>
          </a:bodyPr>
          <a:lstStyle>
            <a:lvl1pPr marL="0" indent="0" algn="l">
              <a:buNone/>
              <a:defRPr kumimoji="0" lang="en-I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n-US" dirty="0" smtClean="0"/>
              <a:t>Designation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customer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2612799" y="1970769"/>
            <a:ext cx="1447572" cy="1643288"/>
          </a:xfrm>
        </p:spPr>
        <p:txBody>
          <a:bodyPr>
            <a:noAutofit/>
          </a:bodyPr>
          <a:lstStyle>
            <a:lvl1pPr marL="0" indent="0" algn="ctr">
              <a:buNone/>
              <a:defRPr sz="1100" baseline="0"/>
            </a:lvl1pPr>
          </a:lstStyle>
          <a:p>
            <a:r>
              <a:rPr lang="en-US" dirty="0" smtClean="0"/>
              <a:t>Click here to add Customer / Partner Logo</a:t>
            </a:r>
            <a:endParaRPr lang="en-IN" dirty="0"/>
          </a:p>
        </p:txBody>
      </p:sp>
      <p:pic>
        <p:nvPicPr>
          <p:cNvPr id="9" name="Picture 8" descr="Slides Master - 51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2" y="1664833"/>
            <a:ext cx="1872342" cy="2084305"/>
          </a:xfrm>
          <a:prstGeom prst="rect">
            <a:avLst/>
          </a:prstGeom>
        </p:spPr>
      </p:pic>
      <p:sp>
        <p:nvSpPr>
          <p:cNvPr id="14" name="Rectangle 13"/>
          <p:cNvSpPr/>
          <p:nvPr userDrawn="1"/>
        </p:nvSpPr>
        <p:spPr>
          <a:xfrm>
            <a:off x="0" y="647700"/>
            <a:ext cx="9144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5" name="Picture 14" descr="WIPRO PPT Design.jp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21" y="4471039"/>
            <a:ext cx="9133758" cy="2171061"/>
          </a:xfrm>
          <a:prstGeom prst="rect">
            <a:avLst/>
          </a:prstGeom>
        </p:spPr>
      </p:pic>
      <p:sp>
        <p:nvSpPr>
          <p:cNvPr id="11" name="Text Placeholder 56"/>
          <p:cNvSpPr>
            <a:spLocks noGrp="1"/>
          </p:cNvSpPr>
          <p:nvPr>
            <p:ph type="body" sz="quarter" idx="20" hasCustomPrompt="1"/>
          </p:nvPr>
        </p:nvSpPr>
        <p:spPr>
          <a:xfrm>
            <a:off x="4559968" y="3114100"/>
            <a:ext cx="4158442" cy="387090"/>
          </a:xfrm>
        </p:spPr>
        <p:txBody>
          <a:bodyPr>
            <a:noAutofit/>
          </a:bodyPr>
          <a:lstStyle>
            <a:lvl1pPr marL="0" indent="0" algn="l">
              <a:buNone/>
              <a:defRPr kumimoji="0" lang="en-I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n-US" dirty="0" smtClean="0"/>
              <a:t>Your Name</a:t>
            </a:r>
            <a:endParaRPr lang="en-IN" dirty="0"/>
          </a:p>
        </p:txBody>
      </p:sp>
      <p:sp>
        <p:nvSpPr>
          <p:cNvPr id="13" name="Title 1"/>
          <p:cNvSpPr>
            <a:spLocks noGrp="1"/>
          </p:cNvSpPr>
          <p:nvPr>
            <p:ph type="ctrTitle" hasCustomPrompt="1"/>
          </p:nvPr>
        </p:nvSpPr>
        <p:spPr>
          <a:xfrm>
            <a:off x="4559742" y="1480457"/>
            <a:ext cx="4142266" cy="1547161"/>
          </a:xfrm>
          <a:noFill/>
        </p:spPr>
        <p:txBody>
          <a:bodyPr wrap="square" rtlCol="0" anchor="ctr">
            <a:normAutofit/>
          </a:bodyPr>
          <a:lstStyle>
            <a:lvl1pPr marL="0" algn="l">
              <a:defRPr lang="en-US" sz="3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1pPr>
          </a:lstStyle>
          <a:p>
            <a:pPr marL="0" lvl="0" algn="l"/>
            <a:r>
              <a:rPr lang="en-US" dirty="0" smtClean="0"/>
              <a:t>Insert Title</a:t>
            </a:r>
            <a:br>
              <a:rPr lang="en-US" dirty="0" smtClean="0"/>
            </a:br>
            <a:r>
              <a:rPr lang="en-US" dirty="0" smtClean="0"/>
              <a:t>Here</a:t>
            </a:r>
            <a:endParaRPr lang="en-US" dirty="0"/>
          </a:p>
        </p:txBody>
      </p:sp>
      <p:sp>
        <p:nvSpPr>
          <p:cNvPr id="25" name="Text Placeholder 56"/>
          <p:cNvSpPr>
            <a:spLocks noGrp="1"/>
          </p:cNvSpPr>
          <p:nvPr>
            <p:ph type="body" sz="quarter" idx="21" hasCustomPrompt="1"/>
          </p:nvPr>
        </p:nvSpPr>
        <p:spPr>
          <a:xfrm>
            <a:off x="4572000" y="3599045"/>
            <a:ext cx="4158442" cy="409914"/>
          </a:xfrm>
        </p:spPr>
        <p:txBody>
          <a:bodyPr>
            <a:noAutofit/>
          </a:bodyPr>
          <a:lstStyle>
            <a:lvl1pPr marL="0" indent="0" algn="l">
              <a:buNone/>
              <a:defRPr kumimoji="0" lang="en-I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n-US" dirty="0" smtClean="0"/>
              <a:t>Designation</a:t>
            </a:r>
            <a:endParaRPr lang="en-IN" dirty="0"/>
          </a:p>
        </p:txBody>
      </p:sp>
      <p:cxnSp>
        <p:nvCxnSpPr>
          <p:cNvPr id="12" name="Straight Connector 11"/>
          <p:cNvCxnSpPr/>
          <p:nvPr userDrawn="1"/>
        </p:nvCxnSpPr>
        <p:spPr>
          <a:xfrm rot="5400000">
            <a:off x="2932334" y="2781258"/>
            <a:ext cx="2754000" cy="1588"/>
          </a:xfrm>
          <a:prstGeom prst="line">
            <a:avLst/>
          </a:prstGeom>
          <a:ln w="19050">
            <a:solidFill>
              <a:srgbClr val="B6B6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94686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er slide with customer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0" y="647700"/>
            <a:ext cx="9144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7" name="Picture 16" descr="WIPRO PPT Design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21" y="4471039"/>
            <a:ext cx="9133758" cy="2171061"/>
          </a:xfrm>
          <a:prstGeom prst="rect">
            <a:avLst/>
          </a:prstGeom>
        </p:spPr>
      </p:pic>
      <p:sp>
        <p:nvSpPr>
          <p:cNvPr id="11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4914" y="2667681"/>
            <a:ext cx="7794172" cy="663575"/>
          </a:xfrm>
        </p:spPr>
        <p:txBody>
          <a:bodyPr>
            <a:normAutofit/>
          </a:bodyPr>
          <a:lstStyle>
            <a:lvl1pPr algn="ctr">
              <a:buNone/>
              <a:defRPr lang="en-US" sz="3400" b="1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Arial"/>
              </a:defRPr>
            </a:lvl1pPr>
          </a:lstStyle>
          <a:p>
            <a:pPr lvl="0"/>
            <a:r>
              <a:rPr lang="en-US" dirty="0" smtClean="0"/>
              <a:t>Section Name Here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674914" y="3355504"/>
            <a:ext cx="7794172" cy="389182"/>
          </a:xfrm>
        </p:spPr>
        <p:txBody>
          <a:bodyPr>
            <a:normAutofit/>
          </a:bodyPr>
          <a:lstStyle>
            <a:lvl1pPr algn="ctr">
              <a:buNone/>
              <a:defRPr lang="en-US" sz="2000" b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Arial"/>
              </a:defRPr>
            </a:lvl1pPr>
          </a:lstStyle>
          <a:p>
            <a:pPr lvl="0"/>
            <a:r>
              <a:rPr lang="en-US" dirty="0" smtClean="0"/>
              <a:t>Who what when where</a:t>
            </a:r>
          </a:p>
        </p:txBody>
      </p:sp>
      <p:sp>
        <p:nvSpPr>
          <p:cNvPr id="18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8012113" y="316140"/>
            <a:ext cx="903287" cy="848631"/>
          </a:xfrm>
        </p:spPr>
        <p:txBody>
          <a:bodyPr>
            <a:noAutofit/>
          </a:bodyPr>
          <a:lstStyle>
            <a:lvl1pPr marL="0" indent="0" algn="ctr">
              <a:buNone/>
              <a:defRPr sz="1100" baseline="0"/>
            </a:lvl1pPr>
          </a:lstStyle>
          <a:p>
            <a:r>
              <a:rPr lang="en-US" dirty="0" smtClean="0"/>
              <a:t>Click here to add Customer / Partner Logo</a:t>
            </a:r>
            <a:endParaRPr lang="en-IN" dirty="0"/>
          </a:p>
        </p:txBody>
      </p:sp>
      <p:pic>
        <p:nvPicPr>
          <p:cNvPr id="20" name="Picture 19" descr="Slides Master - 51.jp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87416" y="182880"/>
            <a:ext cx="1014684" cy="1129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469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 with customer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2612799" y="1970769"/>
            <a:ext cx="1447572" cy="1643288"/>
          </a:xfrm>
        </p:spPr>
        <p:txBody>
          <a:bodyPr>
            <a:noAutofit/>
          </a:bodyPr>
          <a:lstStyle>
            <a:lvl1pPr marL="0" indent="0" algn="ctr">
              <a:buNone/>
              <a:defRPr sz="1100" baseline="0"/>
            </a:lvl1pPr>
          </a:lstStyle>
          <a:p>
            <a:r>
              <a:rPr lang="en-US" dirty="0" smtClean="0"/>
              <a:t>Click here to add Customer / Partner Logo</a:t>
            </a:r>
            <a:endParaRPr lang="en-IN" dirty="0"/>
          </a:p>
        </p:txBody>
      </p:sp>
      <p:pic>
        <p:nvPicPr>
          <p:cNvPr id="14" name="Picture 13" descr="Slides Master - 51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2" y="1664833"/>
            <a:ext cx="1872342" cy="2084305"/>
          </a:xfrm>
          <a:prstGeom prst="rect">
            <a:avLst/>
          </a:prstGeom>
        </p:spPr>
      </p:pic>
      <p:sp>
        <p:nvSpPr>
          <p:cNvPr id="16" name="Rectangle 15"/>
          <p:cNvSpPr/>
          <p:nvPr userDrawn="1"/>
        </p:nvSpPr>
        <p:spPr>
          <a:xfrm>
            <a:off x="0" y="647700"/>
            <a:ext cx="9144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7" name="Picture 16" descr="WIPRO PPT Design.jp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21" y="4471039"/>
            <a:ext cx="9133758" cy="2171061"/>
          </a:xfrm>
          <a:prstGeom prst="rect">
            <a:avLst/>
          </a:prstGeom>
        </p:spPr>
      </p:pic>
      <p:sp>
        <p:nvSpPr>
          <p:cNvPr id="23" name="Text Placeholder 56"/>
          <p:cNvSpPr>
            <a:spLocks noGrp="1"/>
          </p:cNvSpPr>
          <p:nvPr>
            <p:ph type="body" sz="quarter" idx="20" hasCustomPrompt="1"/>
          </p:nvPr>
        </p:nvSpPr>
        <p:spPr>
          <a:xfrm>
            <a:off x="4700110" y="2589327"/>
            <a:ext cx="4158442" cy="373330"/>
          </a:xfrm>
        </p:spPr>
        <p:txBody>
          <a:bodyPr>
            <a:noAutofit/>
          </a:bodyPr>
          <a:lstStyle>
            <a:lvl1pPr marL="0" indent="0" algn="l">
              <a:buNone/>
              <a:defRPr kumimoji="0" lang="en-I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n-US" dirty="0" smtClean="0"/>
              <a:t>Your Name</a:t>
            </a:r>
            <a:endParaRPr lang="en-IN" dirty="0"/>
          </a:p>
        </p:txBody>
      </p:sp>
      <p:sp>
        <p:nvSpPr>
          <p:cNvPr id="24" name="Text Placeholder 56"/>
          <p:cNvSpPr>
            <a:spLocks noGrp="1"/>
          </p:cNvSpPr>
          <p:nvPr>
            <p:ph type="body" sz="quarter" idx="21" hasCustomPrompt="1"/>
          </p:nvPr>
        </p:nvSpPr>
        <p:spPr>
          <a:xfrm>
            <a:off x="4700110" y="3519388"/>
            <a:ext cx="4158442" cy="314777"/>
          </a:xfrm>
        </p:spPr>
        <p:txBody>
          <a:bodyPr>
            <a:noAutofit/>
          </a:bodyPr>
          <a:lstStyle>
            <a:lvl1pPr algn="l">
              <a:buNone/>
              <a:defRPr kumimoji="0" lang="en-I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n-US" dirty="0" smtClean="0"/>
              <a:t>Email ID</a:t>
            </a:r>
            <a:endParaRPr lang="en-IN" dirty="0"/>
          </a:p>
        </p:txBody>
      </p:sp>
      <p:sp>
        <p:nvSpPr>
          <p:cNvPr id="10" name="Title 3"/>
          <p:cNvSpPr>
            <a:spLocks noGrp="1"/>
          </p:cNvSpPr>
          <p:nvPr>
            <p:ph type="ctrTitle" hasCustomPrompt="1"/>
          </p:nvPr>
        </p:nvSpPr>
        <p:spPr>
          <a:xfrm>
            <a:off x="4700110" y="1767649"/>
            <a:ext cx="4203553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Thank you</a:t>
            </a:r>
            <a:endParaRPr lang="en-US" dirty="0"/>
          </a:p>
        </p:txBody>
      </p:sp>
      <p:cxnSp>
        <p:nvCxnSpPr>
          <p:cNvPr id="11" name="Straight Connector 10"/>
          <p:cNvCxnSpPr/>
          <p:nvPr userDrawn="1"/>
        </p:nvCxnSpPr>
        <p:spPr>
          <a:xfrm rot="5400000">
            <a:off x="2964607" y="2781258"/>
            <a:ext cx="2754000" cy="1588"/>
          </a:xfrm>
          <a:prstGeom prst="line">
            <a:avLst/>
          </a:prstGeom>
          <a:ln w="19050">
            <a:solidFill>
              <a:srgbClr val="B6B6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56"/>
          <p:cNvSpPr>
            <a:spLocks noGrp="1"/>
          </p:cNvSpPr>
          <p:nvPr>
            <p:ph type="body" sz="quarter" idx="22" hasCustomPrompt="1"/>
          </p:nvPr>
        </p:nvSpPr>
        <p:spPr>
          <a:xfrm>
            <a:off x="4706206" y="3052623"/>
            <a:ext cx="4158442" cy="373330"/>
          </a:xfrm>
        </p:spPr>
        <p:txBody>
          <a:bodyPr>
            <a:noAutofit/>
          </a:bodyPr>
          <a:lstStyle>
            <a:lvl1pPr marL="0" indent="0" algn="l">
              <a:buNone/>
              <a:defRPr kumimoji="0" lang="en-I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n-US" dirty="0" smtClean="0"/>
              <a:t>Designation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70746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IPRO PPT Design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21" y="4471039"/>
            <a:ext cx="9133758" cy="21710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47710" y="1480457"/>
            <a:ext cx="4142266" cy="1547161"/>
          </a:xfrm>
          <a:noFill/>
        </p:spPr>
        <p:txBody>
          <a:bodyPr wrap="square" rtlCol="0" anchor="ctr">
            <a:normAutofit/>
          </a:bodyPr>
          <a:lstStyle>
            <a:lvl1pPr marL="0" algn="l">
              <a:defRPr lang="en-US" sz="3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1pPr>
          </a:lstStyle>
          <a:p>
            <a:pPr marL="0" lvl="0" algn="l"/>
            <a:r>
              <a:rPr lang="en-US" dirty="0" smtClean="0"/>
              <a:t>Insert Title</a:t>
            </a:r>
            <a:br>
              <a:rPr lang="en-US" dirty="0" smtClean="0"/>
            </a:br>
            <a:r>
              <a:rPr lang="en-US" dirty="0" smtClean="0"/>
              <a:t>Here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47710" y="3318659"/>
            <a:ext cx="4142266" cy="338554"/>
          </a:xfrm>
          <a:noFill/>
        </p:spPr>
        <p:txBody>
          <a:bodyPr wrap="square"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 smtClean="0"/>
              <a:t>Your Name</a:t>
            </a:r>
          </a:p>
        </p:txBody>
      </p:sp>
      <p:pic>
        <p:nvPicPr>
          <p:cNvPr id="7" name="Picture 6" descr="Slides Master - 51.jp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57402" y="1664833"/>
            <a:ext cx="1872342" cy="2084305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 rot="5400000">
            <a:off x="2814000" y="2781258"/>
            <a:ext cx="2754000" cy="1588"/>
          </a:xfrm>
          <a:prstGeom prst="line">
            <a:avLst/>
          </a:prstGeom>
          <a:ln w="19050">
            <a:solidFill>
              <a:srgbClr val="B6B6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 userDrawn="1"/>
        </p:nvSpPr>
        <p:spPr>
          <a:xfrm>
            <a:off x="0" y="647700"/>
            <a:ext cx="9144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 hasCustomPrompt="1"/>
          </p:nvPr>
        </p:nvSpPr>
        <p:spPr>
          <a:xfrm>
            <a:off x="4549775" y="3766911"/>
            <a:ext cx="4148138" cy="347889"/>
          </a:xfrm>
        </p:spPr>
        <p:txBody>
          <a:bodyPr>
            <a:normAutofit/>
          </a:bodyPr>
          <a:lstStyle>
            <a:lvl1pPr>
              <a:buNone/>
              <a:def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 smtClean="0"/>
              <a:t>Designation</a:t>
            </a:r>
          </a:p>
        </p:txBody>
      </p:sp>
    </p:spTree>
    <p:extLst>
      <p:ext uri="{BB962C8B-B14F-4D97-AF65-F5344CB8AC3E}">
        <p14:creationId xmlns:p14="http://schemas.microsoft.com/office/powerpoint/2010/main" val="14716061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ctrTitle" hasCustomPrompt="1"/>
          </p:nvPr>
        </p:nvSpPr>
        <p:spPr>
          <a:xfrm>
            <a:off x="460375" y="145522"/>
            <a:ext cx="8189776" cy="5544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Agenda</a:t>
            </a:r>
            <a:endParaRPr lang="en-IN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0" hasCustomPrompt="1"/>
          </p:nvPr>
        </p:nvSpPr>
        <p:spPr>
          <a:xfrm>
            <a:off x="1005339" y="1350509"/>
            <a:ext cx="7557748" cy="652462"/>
          </a:xfr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rgbClr val="595959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Insert text here</a:t>
            </a:r>
          </a:p>
        </p:txBody>
      </p:sp>
      <p:sp>
        <p:nvSpPr>
          <p:cNvPr id="18" name="Text Placeholder 38"/>
          <p:cNvSpPr>
            <a:spLocks noGrp="1"/>
          </p:cNvSpPr>
          <p:nvPr>
            <p:ph type="body" sz="quarter" idx="11" hasCustomPrompt="1"/>
          </p:nvPr>
        </p:nvSpPr>
        <p:spPr>
          <a:xfrm>
            <a:off x="1005339" y="2380789"/>
            <a:ext cx="7557748" cy="652462"/>
          </a:xfrm>
        </p:spPr>
        <p:txBody>
          <a:bodyPr>
            <a:normAutofit/>
          </a:bodyPr>
          <a:lstStyle>
            <a:lvl1pPr marL="0" indent="0">
              <a:buNone/>
              <a:tabLst/>
              <a:defRPr sz="2800" b="1">
                <a:solidFill>
                  <a:srgbClr val="595959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Insert text here</a:t>
            </a:r>
          </a:p>
        </p:txBody>
      </p:sp>
      <p:sp>
        <p:nvSpPr>
          <p:cNvPr id="24" name="Text Placeholder 38"/>
          <p:cNvSpPr>
            <a:spLocks noGrp="1"/>
          </p:cNvSpPr>
          <p:nvPr>
            <p:ph type="body" sz="quarter" idx="12" hasCustomPrompt="1"/>
          </p:nvPr>
        </p:nvSpPr>
        <p:spPr>
          <a:xfrm>
            <a:off x="1005339" y="3403153"/>
            <a:ext cx="7557748" cy="652462"/>
          </a:xfr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rgbClr val="595959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Insert text here</a:t>
            </a:r>
          </a:p>
        </p:txBody>
      </p:sp>
      <p:sp>
        <p:nvSpPr>
          <p:cNvPr id="25" name="Text Placeholder 38"/>
          <p:cNvSpPr>
            <a:spLocks noGrp="1"/>
          </p:cNvSpPr>
          <p:nvPr>
            <p:ph type="body" sz="quarter" idx="13" hasCustomPrompt="1"/>
          </p:nvPr>
        </p:nvSpPr>
        <p:spPr>
          <a:xfrm>
            <a:off x="1005339" y="4462030"/>
            <a:ext cx="7557748" cy="652462"/>
          </a:xfr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rgbClr val="595959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Insert text here</a:t>
            </a:r>
          </a:p>
        </p:txBody>
      </p:sp>
      <p:sp>
        <p:nvSpPr>
          <p:cNvPr id="27" name="Text Placeholder 38"/>
          <p:cNvSpPr>
            <a:spLocks noGrp="1"/>
          </p:cNvSpPr>
          <p:nvPr>
            <p:ph type="body" sz="quarter" idx="14" hasCustomPrompt="1"/>
          </p:nvPr>
        </p:nvSpPr>
        <p:spPr>
          <a:xfrm>
            <a:off x="1005339" y="5504120"/>
            <a:ext cx="7557748" cy="652462"/>
          </a:xfr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rgbClr val="595959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Insert text here</a:t>
            </a:r>
          </a:p>
        </p:txBody>
      </p:sp>
      <p:sp>
        <p:nvSpPr>
          <p:cNvPr id="28" name="Text Placeholder 38"/>
          <p:cNvSpPr>
            <a:spLocks noGrp="1"/>
          </p:cNvSpPr>
          <p:nvPr>
            <p:ph type="body" sz="quarter" idx="15" hasCustomPrompt="1"/>
          </p:nvPr>
        </p:nvSpPr>
        <p:spPr>
          <a:xfrm>
            <a:off x="460375" y="1345746"/>
            <a:ext cx="352425" cy="668792"/>
          </a:xfr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6200000" scaled="1"/>
            <a:tileRect/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1</a:t>
            </a:r>
          </a:p>
        </p:txBody>
      </p:sp>
      <p:sp>
        <p:nvSpPr>
          <p:cNvPr id="29" name="Text Placeholder 38"/>
          <p:cNvSpPr>
            <a:spLocks noGrp="1"/>
          </p:cNvSpPr>
          <p:nvPr>
            <p:ph type="body" sz="quarter" idx="16" hasCustomPrompt="1"/>
          </p:nvPr>
        </p:nvSpPr>
        <p:spPr>
          <a:xfrm>
            <a:off x="460375" y="2384085"/>
            <a:ext cx="352425" cy="668792"/>
          </a:xfr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6200000" scaled="1"/>
            <a:tileRect/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2</a:t>
            </a:r>
          </a:p>
        </p:txBody>
      </p:sp>
      <p:sp>
        <p:nvSpPr>
          <p:cNvPr id="30" name="Text Placeholder 38"/>
          <p:cNvSpPr>
            <a:spLocks noGrp="1"/>
          </p:cNvSpPr>
          <p:nvPr>
            <p:ph type="body" sz="quarter" idx="17" hasCustomPrompt="1"/>
          </p:nvPr>
        </p:nvSpPr>
        <p:spPr>
          <a:xfrm>
            <a:off x="460375" y="3422424"/>
            <a:ext cx="352425" cy="668792"/>
          </a:xfr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6200000" scaled="1"/>
            <a:tileRect/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3</a:t>
            </a:r>
          </a:p>
        </p:txBody>
      </p:sp>
      <p:sp>
        <p:nvSpPr>
          <p:cNvPr id="32" name="Text Placeholder 38"/>
          <p:cNvSpPr>
            <a:spLocks noGrp="1"/>
          </p:cNvSpPr>
          <p:nvPr>
            <p:ph type="body" sz="quarter" idx="18" hasCustomPrompt="1"/>
          </p:nvPr>
        </p:nvSpPr>
        <p:spPr>
          <a:xfrm>
            <a:off x="460375" y="4460763"/>
            <a:ext cx="352425" cy="668792"/>
          </a:xfr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6200000" scaled="1"/>
            <a:tileRect/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4</a:t>
            </a:r>
          </a:p>
        </p:txBody>
      </p:sp>
      <p:sp>
        <p:nvSpPr>
          <p:cNvPr id="33" name="Text Placeholder 38"/>
          <p:cNvSpPr>
            <a:spLocks noGrp="1"/>
          </p:cNvSpPr>
          <p:nvPr>
            <p:ph type="body" sz="quarter" idx="19" hasCustomPrompt="1"/>
          </p:nvPr>
        </p:nvSpPr>
        <p:spPr>
          <a:xfrm>
            <a:off x="460375" y="5499100"/>
            <a:ext cx="352425" cy="668792"/>
          </a:xfr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6200000" scaled="1"/>
            <a:tileRect/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9538688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er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647700"/>
            <a:ext cx="9144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469901" y="2612799"/>
            <a:ext cx="8220074" cy="623887"/>
          </a:xfrm>
        </p:spPr>
        <p:txBody>
          <a:bodyPr>
            <a:normAutofit/>
          </a:bodyPr>
          <a:lstStyle>
            <a:lvl1pPr algn="ctr">
              <a:buNone/>
              <a:defRPr kumimoji="0" lang="en-US" sz="3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lt"/>
                <a:ea typeface="+mn-ea"/>
                <a:cs typeface="Arial"/>
              </a:defRPr>
            </a:lvl1pPr>
          </a:lstStyle>
          <a:p>
            <a:pPr lvl="0"/>
            <a:r>
              <a:rPr lang="en-US" dirty="0" smtClean="0"/>
              <a:t>Section Name Here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69901" y="3290677"/>
            <a:ext cx="8220074" cy="439496"/>
          </a:xfrm>
        </p:spPr>
        <p:txBody>
          <a:bodyPr>
            <a:normAutofit/>
          </a:bodyPr>
          <a:lstStyle>
            <a:lvl1pPr algn="ctr">
              <a:buNone/>
              <a:def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lt"/>
                <a:ea typeface="+mn-ea"/>
                <a:cs typeface="Arial"/>
              </a:defRPr>
            </a:lvl1pPr>
          </a:lstStyle>
          <a:p>
            <a:pPr lvl="0"/>
            <a:r>
              <a:rPr lang="en-US" dirty="0" smtClean="0"/>
              <a:t>Who what when where</a:t>
            </a:r>
          </a:p>
        </p:txBody>
      </p:sp>
      <p:pic>
        <p:nvPicPr>
          <p:cNvPr id="7" name="Picture 6" descr="WIPRO PPT Design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21" y="4471039"/>
            <a:ext cx="9133758" cy="2171061"/>
          </a:xfrm>
          <a:prstGeom prst="rect">
            <a:avLst/>
          </a:prstGeom>
        </p:spPr>
      </p:pic>
      <p:pic>
        <p:nvPicPr>
          <p:cNvPr id="10" name="Picture 9" descr="Slides Master - 51.jp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81685" y="105908"/>
            <a:ext cx="1044840" cy="116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0417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4"/>
          <p:cNvSpPr>
            <a:spLocks noGrp="1"/>
          </p:cNvSpPr>
          <p:nvPr>
            <p:ph type="body" sz="quarter" idx="11" hasCustomPrompt="1"/>
          </p:nvPr>
        </p:nvSpPr>
        <p:spPr>
          <a:xfrm>
            <a:off x="460376" y="145140"/>
            <a:ext cx="8229600" cy="55399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3000" b="1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Arial"/>
              </a:defRPr>
            </a:lvl1pPr>
          </a:lstStyle>
          <a:p>
            <a:pPr lvl="0"/>
            <a:r>
              <a:rPr lang="en-US" dirty="0" smtClean="0"/>
              <a:t>Insert Title Here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1360488"/>
            <a:ext cx="8240713" cy="4473575"/>
          </a:xfrm>
        </p:spPr>
        <p:txBody>
          <a:bodyPr/>
          <a:lstStyle>
            <a:lvl1pPr>
              <a:buClr>
                <a:srgbClr val="0070C0"/>
              </a:buClr>
              <a:defRPr sz="2200">
                <a:solidFill>
                  <a:srgbClr val="595959"/>
                </a:solidFill>
              </a:defRPr>
            </a:lvl1pPr>
            <a:lvl2pPr>
              <a:buClr>
                <a:srgbClr val="0070C0"/>
              </a:buClr>
              <a:buFont typeface="Arial" pitchFamily="34" charset="0"/>
              <a:buChar char="•"/>
              <a:defRPr>
                <a:solidFill>
                  <a:srgbClr val="595959"/>
                </a:solidFill>
              </a:defRPr>
            </a:lvl2pPr>
            <a:lvl3pPr>
              <a:buClr>
                <a:srgbClr val="0070C0"/>
              </a:buClr>
              <a:buFont typeface="Arial" pitchFamily="34" charset="0"/>
              <a:buChar char="•"/>
              <a:defRPr>
                <a:solidFill>
                  <a:srgbClr val="595959"/>
                </a:solidFill>
              </a:defRPr>
            </a:lvl3pPr>
            <a:lvl4pPr>
              <a:buClr>
                <a:srgbClr val="0070C0"/>
              </a:buClr>
              <a:buFont typeface="Arial" pitchFamily="34" charset="0"/>
              <a:buChar char="•"/>
              <a:defRPr>
                <a:solidFill>
                  <a:srgbClr val="595959"/>
                </a:solidFill>
              </a:defRPr>
            </a:lvl4pPr>
            <a:lvl5pPr>
              <a:buClr>
                <a:srgbClr val="0070C0"/>
              </a:buClr>
              <a:buFont typeface="Arial" pitchFamily="34" charset="0"/>
              <a:buChar char="•"/>
              <a:defRPr>
                <a:solidFill>
                  <a:srgbClr val="595959"/>
                </a:solidFill>
              </a:defRPr>
            </a:lvl5pPr>
          </a:lstStyle>
          <a:p>
            <a:pPr lvl="0"/>
            <a:r>
              <a:rPr lang="en-IN" dirty="0" smtClean="0"/>
              <a:t>Please use bullet points on this slide when the content is heavy break it up into highlights, don’t use paragraphs of text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19217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7"/>
          <p:cNvSpPr>
            <a:spLocks noGrp="1"/>
          </p:cNvSpPr>
          <p:nvPr>
            <p:ph type="body" sz="quarter" idx="21" hasCustomPrompt="1"/>
          </p:nvPr>
        </p:nvSpPr>
        <p:spPr>
          <a:xfrm>
            <a:off x="751339" y="3178402"/>
            <a:ext cx="3635375" cy="2344093"/>
          </a:xfrm>
          <a:ln w="12700">
            <a:solidFill>
              <a:srgbClr val="D2D2D2"/>
            </a:solidFill>
          </a:ln>
        </p:spPr>
        <p:txBody>
          <a:bodyPr>
            <a:normAutofit/>
          </a:bodyPr>
          <a:lstStyle>
            <a:lvl1pPr marL="231775" marR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 pitchFamily="34" charset="0"/>
              <a:buChar char="•"/>
              <a:tabLst/>
              <a:def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Insert Text</a:t>
            </a:r>
          </a:p>
          <a:p>
            <a:pPr lvl="0"/>
            <a:r>
              <a:rPr lang="en-US" dirty="0" smtClean="0"/>
              <a:t>Insert Text</a:t>
            </a:r>
          </a:p>
          <a:p>
            <a:pPr lvl="0"/>
            <a:r>
              <a:rPr lang="en-US" dirty="0" smtClean="0"/>
              <a:t>Insert Text</a:t>
            </a:r>
          </a:p>
          <a:p>
            <a:pPr lvl="0"/>
            <a:r>
              <a:rPr lang="en-US" dirty="0" smtClean="0"/>
              <a:t>Insert Text</a:t>
            </a: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 pitchFamily="34" charset="0"/>
              <a:buChar char="•"/>
              <a:tabLst/>
              <a:defRPr/>
            </a:pPr>
            <a:r>
              <a:rPr lang="en-US" dirty="0" smtClean="0"/>
              <a:t>Insert Text</a:t>
            </a: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 pitchFamily="34" charset="0"/>
              <a:buChar char="•"/>
              <a:tabLst/>
              <a:defRPr/>
            </a:pPr>
            <a:r>
              <a:rPr lang="en-US" dirty="0" smtClean="0"/>
              <a:t>Insert Text</a:t>
            </a:r>
          </a:p>
          <a:p>
            <a:pPr lvl="0"/>
            <a:endParaRPr lang="en-US" dirty="0" smtClean="0"/>
          </a:p>
        </p:txBody>
      </p:sp>
      <p:sp>
        <p:nvSpPr>
          <p:cNvPr id="21" name="Text Placeholder 15"/>
          <p:cNvSpPr>
            <a:spLocks noGrp="1"/>
          </p:cNvSpPr>
          <p:nvPr>
            <p:ph type="body" sz="quarter" idx="22" hasCustomPrompt="1"/>
          </p:nvPr>
        </p:nvSpPr>
        <p:spPr>
          <a:xfrm>
            <a:off x="729340" y="2384652"/>
            <a:ext cx="3679372" cy="663575"/>
          </a:xfrm>
          <a:solidFill>
            <a:srgbClr val="0070C0"/>
          </a:solidFill>
        </p:spPr>
        <p:txBody>
          <a:bodyPr anchor="ctr">
            <a:normAutofit/>
          </a:bodyPr>
          <a:lstStyle>
            <a:lvl1pPr>
              <a:buNone/>
              <a:defRPr kumimoji="0" lang="en-US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>
              <a:def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2pPr>
            <a:lvl3pPr>
              <a:def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3pPr>
            <a:lvl4pPr>
              <a:def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4pPr>
          </a:lstStyle>
          <a:p>
            <a:pPr lvl="0"/>
            <a:r>
              <a:rPr lang="en-US" dirty="0" smtClean="0"/>
              <a:t>Column 1</a:t>
            </a:r>
            <a:endParaRPr lang="en-IN" dirty="0"/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4751616" y="3178402"/>
            <a:ext cx="3635375" cy="2344093"/>
          </a:xfrm>
          <a:ln w="12700">
            <a:solidFill>
              <a:srgbClr val="D2D2D2"/>
            </a:solidFill>
          </a:ln>
        </p:spPr>
        <p:txBody>
          <a:bodyPr>
            <a:normAutofit/>
          </a:bodyPr>
          <a:lstStyle>
            <a:lvl1pPr marL="231775" marR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 pitchFamily="34" charset="0"/>
              <a:buChar char="•"/>
              <a:tabLst/>
              <a:def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Insert Text</a:t>
            </a:r>
          </a:p>
          <a:p>
            <a:pPr lvl="0"/>
            <a:r>
              <a:rPr lang="en-US" dirty="0" smtClean="0"/>
              <a:t>Insert Text</a:t>
            </a:r>
          </a:p>
          <a:p>
            <a:pPr lvl="0"/>
            <a:r>
              <a:rPr lang="en-US" dirty="0" smtClean="0"/>
              <a:t>Insert Text</a:t>
            </a:r>
          </a:p>
          <a:p>
            <a:pPr lvl="0"/>
            <a:r>
              <a:rPr lang="en-US" dirty="0" smtClean="0"/>
              <a:t>Insert Text</a:t>
            </a: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 pitchFamily="34" charset="0"/>
              <a:buChar char="•"/>
              <a:tabLst/>
              <a:defRPr/>
            </a:pPr>
            <a:r>
              <a:rPr lang="en-US" dirty="0" smtClean="0"/>
              <a:t>Insert Text</a:t>
            </a: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 pitchFamily="34" charset="0"/>
              <a:buChar char="•"/>
              <a:tabLst/>
              <a:defRPr/>
            </a:pPr>
            <a:r>
              <a:rPr lang="en-US" dirty="0" smtClean="0"/>
              <a:t>Insert Text</a:t>
            </a:r>
          </a:p>
          <a:p>
            <a:pPr lvl="0"/>
            <a:endParaRPr lang="en-US" dirty="0" smtClean="0"/>
          </a:p>
        </p:txBody>
      </p:sp>
      <p:sp>
        <p:nvSpPr>
          <p:cNvPr id="27" name="Text Placeholder 15"/>
          <p:cNvSpPr>
            <a:spLocks noGrp="1"/>
          </p:cNvSpPr>
          <p:nvPr>
            <p:ph type="body" sz="quarter" idx="24" hasCustomPrompt="1"/>
          </p:nvPr>
        </p:nvSpPr>
        <p:spPr>
          <a:xfrm>
            <a:off x="4729617" y="2384652"/>
            <a:ext cx="3679372" cy="663575"/>
          </a:xfrm>
          <a:solidFill>
            <a:srgbClr val="0070C0"/>
          </a:solidFill>
        </p:spPr>
        <p:txBody>
          <a:bodyPr anchor="ctr">
            <a:normAutofit/>
          </a:bodyPr>
          <a:lstStyle>
            <a:lvl1pPr>
              <a:buNone/>
              <a:defRPr kumimoji="0" lang="en-US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>
              <a:def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2pPr>
            <a:lvl3pPr>
              <a:def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3pPr>
            <a:lvl4pPr>
              <a:def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4pPr>
          </a:lstStyle>
          <a:p>
            <a:pPr lvl="0"/>
            <a:r>
              <a:rPr lang="en-US" dirty="0" smtClean="0"/>
              <a:t>Column 2</a:t>
            </a:r>
            <a:endParaRPr lang="en-IN" dirty="0"/>
          </a:p>
        </p:txBody>
      </p:sp>
      <p:sp>
        <p:nvSpPr>
          <p:cNvPr id="10" name="Text Placeholder 14"/>
          <p:cNvSpPr>
            <a:spLocks noGrp="1"/>
          </p:cNvSpPr>
          <p:nvPr>
            <p:ph type="body" sz="quarter" idx="11" hasCustomPrompt="1"/>
          </p:nvPr>
        </p:nvSpPr>
        <p:spPr>
          <a:xfrm>
            <a:off x="460376" y="145140"/>
            <a:ext cx="8229600" cy="55399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3000" b="1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Arial"/>
              </a:defRPr>
            </a:lvl1pPr>
          </a:lstStyle>
          <a:p>
            <a:pPr lvl="0"/>
            <a:r>
              <a:rPr lang="en-US" dirty="0" smtClean="0"/>
              <a:t>Slide with two columns and a title</a:t>
            </a:r>
          </a:p>
        </p:txBody>
      </p:sp>
      <p:sp>
        <p:nvSpPr>
          <p:cNvPr id="7" name="Text Placeholder 18"/>
          <p:cNvSpPr>
            <a:spLocks noGrp="1"/>
          </p:cNvSpPr>
          <p:nvPr>
            <p:ph type="body" sz="quarter" idx="14" hasCustomPrompt="1"/>
          </p:nvPr>
        </p:nvSpPr>
        <p:spPr>
          <a:xfrm>
            <a:off x="451301" y="1465489"/>
            <a:ext cx="8238674" cy="360000"/>
          </a:xfrm>
        </p:spPr>
        <p:txBody>
          <a:bodyPr>
            <a:noAutofit/>
          </a:bodyPr>
          <a:lstStyle>
            <a:lvl1pPr marL="231775" indent="-231775" algn="ctr" defTabSz="457200" rtl="0" eaLnBrk="1" latinLnBrk="0" hangingPunct="1">
              <a:spcBef>
                <a:spcPct val="20000"/>
              </a:spcBef>
              <a:buFont typeface="Arial"/>
              <a:buNone/>
              <a:defRPr kumimoji="0" lang="en-IN" sz="2200" b="1" i="0" u="none" strike="noStrike" kern="1200" cap="none" spc="8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n-US" dirty="0" smtClean="0"/>
              <a:t>INSERT COLUMN HEADING HERE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35693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or freefor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53211"/>
            <a:ext cx="8229600" cy="553998"/>
          </a:xfrm>
        </p:spPr>
        <p:txBody>
          <a:bodyPr/>
          <a:lstStyle>
            <a:lvl1pPr marL="0" marR="0" indent="0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 baseline="0"/>
            </a:lvl1pPr>
          </a:lstStyle>
          <a:p>
            <a:pPr lvl="0"/>
            <a:r>
              <a:rPr lang="en-US" dirty="0" smtClean="0"/>
              <a:t>Insert Title Here</a:t>
            </a:r>
          </a:p>
        </p:txBody>
      </p:sp>
    </p:spTree>
    <p:extLst>
      <p:ext uri="{BB962C8B-B14F-4D97-AF65-F5344CB8AC3E}">
        <p14:creationId xmlns:p14="http://schemas.microsoft.com/office/powerpoint/2010/main" val="28678482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957943"/>
            <a:ext cx="9144000" cy="5442858"/>
          </a:xfrm>
        </p:spPr>
        <p:txBody>
          <a:bodyPr anchor="ctr">
            <a:normAutofit/>
          </a:bodyPr>
          <a:lstStyle>
            <a:lvl1pPr algn="ctr">
              <a:buNone/>
              <a:defRPr sz="5400" baseline="0"/>
            </a:lvl1pPr>
          </a:lstStyle>
          <a:p>
            <a:r>
              <a:rPr lang="en-US" dirty="0" smtClean="0"/>
              <a:t>Click Icon to Add Picture</a:t>
            </a:r>
            <a:endParaRPr lang="en-IN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4517571"/>
            <a:ext cx="9144000" cy="1110343"/>
          </a:xfrm>
          <a:solidFill>
            <a:schemeClr val="accent5">
              <a:lumMod val="20000"/>
              <a:lumOff val="8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anchor="ctr">
            <a:normAutofit/>
          </a:bodyPr>
          <a:lstStyle>
            <a:lvl1pPr algn="ctr">
              <a:buNone/>
              <a:defRPr lang="en-US" sz="20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Insert Text Here</a:t>
            </a:r>
          </a:p>
        </p:txBody>
      </p:sp>
    </p:spTree>
    <p:extLst>
      <p:ext uri="{BB962C8B-B14F-4D97-AF65-F5344CB8AC3E}">
        <p14:creationId xmlns:p14="http://schemas.microsoft.com/office/powerpoint/2010/main" val="30536962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image with paragraph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48140" y="140511"/>
            <a:ext cx="8229600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Vertical image with paragraph text</a:t>
            </a:r>
            <a:endParaRPr lang="en-IN" dirty="0"/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448140" y="1208314"/>
            <a:ext cx="4417774" cy="5046436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 lang="en-IN" dirty="0"/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5159829" y="2331357"/>
            <a:ext cx="3530146" cy="2800350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1pPr>
            <a:lvl2pPr>
              <a:buNone/>
              <a:defRPr lang="en-US" sz="2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2pPr>
            <a:lvl3pPr>
              <a:buNone/>
              <a:defRPr lang="en-US" sz="2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3pPr>
            <a:lvl4pPr>
              <a:buNone/>
              <a:defRPr lang="en-US" sz="2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4pPr>
            <a:lvl5pPr>
              <a:buNone/>
              <a:defRPr lang="en-IN" sz="2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5pPr>
          </a:lstStyle>
          <a:p>
            <a:pPr marL="0" indent="0">
              <a:buNone/>
            </a:pP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This vertical image should be aligned left and centered vertically on the slide. Paragraph text should be centered vertically to 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Arial"/>
              </a:rPr>
              <a:t>the image. Insert Text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cs typeface="Arial"/>
              </a:rPr>
              <a:t>Here.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Arial"/>
              </a:rPr>
              <a:t> Keep text as minimal as possible.</a:t>
            </a:r>
            <a:endParaRPr lang="en-US" dirty="0" smtClean="0">
              <a:solidFill>
                <a:schemeClr val="tx1">
                  <a:lumMod val="65000"/>
                  <a:lumOff val="35000"/>
                </a:schemeClr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42875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image with bullet poin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173663" y="2204017"/>
            <a:ext cx="3516312" cy="3055030"/>
          </a:xfrm>
        </p:spPr>
        <p:txBody>
          <a:bodyPr/>
          <a:lstStyle>
            <a:lvl1pPr>
              <a:buClr>
                <a:srgbClr val="0070C0"/>
              </a:buClr>
              <a:buFont typeface="Arial" pitchFamily="34" charset="0"/>
              <a:buChar char="•"/>
              <a:defRPr/>
            </a:lvl1pPr>
          </a:lstStyle>
          <a:p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Arial"/>
              </a:rPr>
              <a:t>This vertical image should be aligned left and centered vertically on the slide. </a:t>
            </a:r>
            <a:b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Arial"/>
              </a:rPr>
            </a:b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Arial"/>
              </a:rPr>
              <a:t/>
            </a:r>
            <a:b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Arial"/>
              </a:rPr>
            </a:b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Arial"/>
              </a:rPr>
              <a:t>This vertical image should be aligned left and centered vertically on the slide. </a:t>
            </a:r>
          </a:p>
        </p:txBody>
      </p:sp>
      <p:sp>
        <p:nvSpPr>
          <p:cNvPr id="5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448140" y="1208314"/>
            <a:ext cx="4417774" cy="5046436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 lang="en-IN" dirty="0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48140" y="140511"/>
            <a:ext cx="8229600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Vertical image with bullet points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90151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image with paragraph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40511"/>
            <a:ext cx="8229600" cy="553998"/>
          </a:xfrm>
        </p:spPr>
        <p:txBody>
          <a:bodyPr/>
          <a:lstStyle>
            <a:lvl1pPr marL="0" marR="0" indent="0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 baseline="0"/>
            </a:lvl1pPr>
          </a:lstStyle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/>
            </a:pPr>
            <a:r>
              <a:rPr kumimoji="0" lang="en-US" sz="3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Horizontal image with paragraph text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j-lt"/>
              <a:ea typeface="+mn-ea"/>
              <a:cs typeface="Arial"/>
            </a:endParaRPr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460376" y="1103313"/>
            <a:ext cx="8229600" cy="314960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 lang="en-IN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146289" y="4498975"/>
            <a:ext cx="6851423" cy="1495425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lang="en-US" sz="2000" kern="1200" dirty="0" smtClean="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IN" dirty="0" smtClean="0"/>
              <a:t>Paragraph text should be left aligned. Adjust the height of this text box when needed. Make sure this box is </a:t>
            </a:r>
            <a:r>
              <a:rPr lang="en-IN" dirty="0" err="1" smtClean="0"/>
              <a:t>centered</a:t>
            </a:r>
            <a:r>
              <a:rPr lang="en-IN" dirty="0" smtClean="0"/>
              <a:t> horizontally on the page and to the image. 20 </a:t>
            </a:r>
            <a:r>
              <a:rPr lang="en-IN" dirty="0" err="1" smtClean="0"/>
              <a:t>pt</a:t>
            </a:r>
            <a:r>
              <a:rPr lang="en-IN" dirty="0" smtClean="0"/>
              <a:t> text should be used. Keep text as minimal as possible.</a:t>
            </a:r>
          </a:p>
        </p:txBody>
      </p:sp>
    </p:spTree>
    <p:extLst>
      <p:ext uri="{BB962C8B-B14F-4D97-AF65-F5344CB8AC3E}">
        <p14:creationId xmlns:p14="http://schemas.microsoft.com/office/powerpoint/2010/main" val="29280106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image with bullet poin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60374" y="140511"/>
            <a:ext cx="8229601" cy="553998"/>
          </a:xfrm>
        </p:spPr>
        <p:txBody>
          <a:bodyPr/>
          <a:lstStyle>
            <a:lvl1pPr marL="0" marR="0" indent="0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 baseline="0"/>
            </a:lvl1pPr>
          </a:lstStyle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/>
            </a:pPr>
            <a:r>
              <a:rPr kumimoji="0" lang="en-US" sz="3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Horizontal image with bullet points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j-lt"/>
              <a:ea typeface="+mn-ea"/>
              <a:cs typeface="Arial"/>
            </a:endParaRPr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460376" y="1103313"/>
            <a:ext cx="8229600" cy="269943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 lang="en-IN" dirty="0"/>
          </a:p>
        </p:txBody>
      </p:sp>
      <p:sp>
        <p:nvSpPr>
          <p:cNvPr id="16" name="Text Placeholder 14"/>
          <p:cNvSpPr>
            <a:spLocks noGrp="1"/>
          </p:cNvSpPr>
          <p:nvPr>
            <p:ph type="body" sz="quarter" idx="14" hasCustomPrompt="1"/>
          </p:nvPr>
        </p:nvSpPr>
        <p:spPr>
          <a:xfrm>
            <a:off x="1130300" y="4508500"/>
            <a:ext cx="6883400" cy="1498600"/>
          </a:xfrm>
        </p:spPr>
        <p:txBody>
          <a:bodyPr>
            <a:normAutofit/>
          </a:bodyPr>
          <a:lstStyle>
            <a:lvl1pPr>
              <a:buClr>
                <a:srgbClr val="0070C0"/>
              </a:buClr>
              <a:buFont typeface="Arial" pitchFamily="34" charset="0"/>
              <a:buChar char="•"/>
              <a:defRPr sz="2000" baseline="0"/>
            </a:lvl1pPr>
          </a:lstStyle>
          <a:p>
            <a:pPr lvl="0"/>
            <a:r>
              <a:rPr lang="en-US" dirty="0" smtClean="0"/>
              <a:t>The horizontal image should be center aligned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75349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s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647700"/>
            <a:ext cx="9144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"/>
          <p:cNvSpPr>
            <a:spLocks noChangeArrowheads="1"/>
          </p:cNvSpPr>
          <p:nvPr userDrawn="1"/>
        </p:nvSpPr>
        <p:spPr bwMode="auto">
          <a:xfrm>
            <a:off x="-4825" y="5486400"/>
            <a:ext cx="8542400" cy="685800"/>
          </a:xfrm>
          <a:prstGeom prst="rect">
            <a:avLst/>
          </a:prstGeom>
          <a:gradFill rotWithShape="1">
            <a:gsLst>
              <a:gs pos="0">
                <a:srgbClr val="77787D"/>
              </a:gs>
              <a:gs pos="50000">
                <a:srgbClr val="ADAEB5"/>
              </a:gs>
              <a:gs pos="100000">
                <a:srgbClr val="CED0D8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2"/>
          <p:cNvSpPr>
            <a:spLocks noChangeArrowheads="1"/>
          </p:cNvSpPr>
          <p:nvPr userDrawn="1"/>
        </p:nvSpPr>
        <p:spPr bwMode="auto">
          <a:xfrm>
            <a:off x="-4825" y="5611813"/>
            <a:ext cx="8542400" cy="407987"/>
          </a:xfrm>
          <a:prstGeom prst="rect">
            <a:avLst/>
          </a:prstGeom>
          <a:gradFill rotWithShape="1">
            <a:gsLst>
              <a:gs pos="0">
                <a:srgbClr val="494A58"/>
              </a:gs>
              <a:gs pos="50000">
                <a:srgbClr val="6C6E81"/>
              </a:gs>
              <a:gs pos="100000">
                <a:srgbClr val="81849B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1164317"/>
            <a:ext cx="4038376" cy="479424"/>
          </a:xfrm>
        </p:spPr>
        <p:txBody>
          <a:bodyPr>
            <a:noAutofit/>
          </a:bodyPr>
          <a:lstStyle>
            <a:lvl1pPr marL="231775" marR="0" indent="-231775" algn="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800" b="1" kern="1200" baseline="0" dirty="0" smtClean="0">
                <a:solidFill>
                  <a:srgbClr val="3C3D48"/>
                </a:solidFill>
                <a:latin typeface="+mj-lt"/>
                <a:ea typeface="+mj-ea"/>
                <a:cs typeface="+mj-cs"/>
              </a:defRPr>
            </a:lvl1pPr>
            <a:lvl2pPr>
              <a:defRPr lang="en-US" sz="2800" b="1" kern="1200" dirty="0" smtClean="0">
                <a:solidFill>
                  <a:srgbClr val="3C3D48"/>
                </a:solidFill>
                <a:latin typeface="Gill Sans MT" pitchFamily="34" charset="0"/>
                <a:ea typeface="+mj-ea"/>
                <a:cs typeface="+mj-cs"/>
              </a:defRPr>
            </a:lvl2pPr>
            <a:lvl3pPr>
              <a:defRPr lang="en-US" sz="2800" b="1" kern="1200" dirty="0" smtClean="0">
                <a:solidFill>
                  <a:srgbClr val="3C3D48"/>
                </a:solidFill>
                <a:latin typeface="Gill Sans MT" pitchFamily="34" charset="0"/>
                <a:ea typeface="+mj-ea"/>
                <a:cs typeface="+mj-cs"/>
              </a:defRPr>
            </a:lvl3pPr>
            <a:lvl4pPr>
              <a:defRPr lang="en-US" sz="2800" b="1" kern="1200" dirty="0" smtClean="0">
                <a:solidFill>
                  <a:srgbClr val="3C3D48"/>
                </a:solidFill>
                <a:latin typeface="Gill Sans MT" pitchFamily="34" charset="0"/>
                <a:ea typeface="+mj-ea"/>
                <a:cs typeface="+mj-cs"/>
              </a:defRPr>
            </a:lvl4pPr>
            <a:lvl5pPr>
              <a:defRPr lang="en-IN" sz="2800" b="1" kern="1200" dirty="0">
                <a:solidFill>
                  <a:srgbClr val="3C3D48"/>
                </a:solidFill>
                <a:latin typeface="Gill Sans MT" pitchFamily="34" charset="0"/>
                <a:ea typeface="+mj-ea"/>
                <a:cs typeface="+mj-cs"/>
              </a:defRPr>
            </a:lvl5pPr>
          </a:lstStyle>
          <a:p>
            <a:pPr marL="231775" marR="0" lvl="0" indent="-231775" algn="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 smtClean="0"/>
              <a:t>Click to Add Title</a:t>
            </a:r>
          </a:p>
        </p:txBody>
      </p:sp>
      <p:sp>
        <p:nvSpPr>
          <p:cNvPr id="24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0" y="758593"/>
            <a:ext cx="4038376" cy="286438"/>
          </a:xfrm>
        </p:spPr>
        <p:txBody>
          <a:bodyPr>
            <a:noAutofit/>
          </a:bodyPr>
          <a:lstStyle>
            <a:lvl1pPr marL="231775" marR="0" indent="-231775" algn="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1600" b="1" kern="1200" dirty="0" smtClean="0">
                <a:solidFill>
                  <a:srgbClr val="A1A2B1"/>
                </a:solidFill>
                <a:latin typeface="+mj-lt"/>
                <a:ea typeface="+mj-ea"/>
                <a:cs typeface="+mj-cs"/>
              </a:defRPr>
            </a:lvl1pPr>
            <a:lvl2pPr>
              <a:defRPr lang="en-US" sz="2800" b="1" kern="1200" dirty="0" smtClean="0">
                <a:solidFill>
                  <a:srgbClr val="3C3D48"/>
                </a:solidFill>
                <a:latin typeface="Gill Sans MT" pitchFamily="34" charset="0"/>
                <a:ea typeface="+mj-ea"/>
                <a:cs typeface="+mj-cs"/>
              </a:defRPr>
            </a:lvl2pPr>
            <a:lvl3pPr>
              <a:defRPr lang="en-US" sz="2800" b="1" kern="1200" dirty="0" smtClean="0">
                <a:solidFill>
                  <a:srgbClr val="3C3D48"/>
                </a:solidFill>
                <a:latin typeface="Gill Sans MT" pitchFamily="34" charset="0"/>
                <a:ea typeface="+mj-ea"/>
                <a:cs typeface="+mj-cs"/>
              </a:defRPr>
            </a:lvl3pPr>
            <a:lvl4pPr>
              <a:defRPr lang="en-US" sz="2800" b="1" kern="1200" dirty="0" smtClean="0">
                <a:solidFill>
                  <a:srgbClr val="3C3D48"/>
                </a:solidFill>
                <a:latin typeface="Gill Sans MT" pitchFamily="34" charset="0"/>
                <a:ea typeface="+mj-ea"/>
                <a:cs typeface="+mj-cs"/>
              </a:defRPr>
            </a:lvl4pPr>
            <a:lvl5pPr>
              <a:defRPr lang="en-IN" sz="2800" b="1" kern="1200" dirty="0">
                <a:solidFill>
                  <a:srgbClr val="3C3D48"/>
                </a:solidFill>
                <a:latin typeface="Gill Sans MT" pitchFamily="34" charset="0"/>
                <a:ea typeface="+mj-ea"/>
                <a:cs typeface="+mj-cs"/>
              </a:defRPr>
            </a:lvl5pPr>
          </a:lstStyle>
          <a:p>
            <a:pPr marL="231775" marR="0" lvl="0" indent="-231775" algn="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 smtClean="0"/>
              <a:t>HIGHLIGHTS</a:t>
            </a:r>
          </a:p>
        </p:txBody>
      </p:sp>
      <p:sp>
        <p:nvSpPr>
          <p:cNvPr id="27" name="Text Placehold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903515" y="2104328"/>
            <a:ext cx="4049262" cy="1596815"/>
          </a:xfrm>
        </p:spPr>
        <p:txBody>
          <a:bodyPr>
            <a:normAutofit/>
          </a:bodyPr>
          <a:lstStyle>
            <a:lvl1pPr marL="231775" marR="0" indent="-231775" algn="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IN" sz="1600" kern="1200" baseline="0">
                <a:solidFill>
                  <a:schemeClr val="accent4">
                    <a:lumMod val="75000"/>
                  </a:schemeClr>
                </a:solidFill>
                <a:latin typeface="+mj-lt"/>
                <a:ea typeface="+mn-ea"/>
                <a:cs typeface="+mn-cs"/>
              </a:defRPr>
            </a:lvl1pPr>
            <a:lvl2pPr>
              <a:defRPr lang="en-US" sz="2800" b="1" kern="1200" dirty="0" smtClean="0">
                <a:solidFill>
                  <a:srgbClr val="3C3D48"/>
                </a:solidFill>
                <a:latin typeface="Gill Sans MT" pitchFamily="34" charset="0"/>
                <a:ea typeface="+mj-ea"/>
                <a:cs typeface="+mj-cs"/>
              </a:defRPr>
            </a:lvl2pPr>
            <a:lvl3pPr>
              <a:defRPr lang="en-US" sz="2800" b="1" kern="1200" dirty="0" smtClean="0">
                <a:solidFill>
                  <a:srgbClr val="3C3D48"/>
                </a:solidFill>
                <a:latin typeface="Gill Sans MT" pitchFamily="34" charset="0"/>
                <a:ea typeface="+mj-ea"/>
                <a:cs typeface="+mj-cs"/>
              </a:defRPr>
            </a:lvl3pPr>
            <a:lvl4pPr>
              <a:defRPr lang="en-US" sz="2800" b="1" kern="1200" dirty="0" smtClean="0">
                <a:solidFill>
                  <a:srgbClr val="3C3D48"/>
                </a:solidFill>
                <a:latin typeface="Gill Sans MT" pitchFamily="34" charset="0"/>
                <a:ea typeface="+mj-ea"/>
                <a:cs typeface="+mj-cs"/>
              </a:defRPr>
            </a:lvl4pPr>
            <a:lvl5pPr>
              <a:defRPr lang="en-IN" sz="2800" b="1" kern="1200" dirty="0">
                <a:solidFill>
                  <a:srgbClr val="3C3D48"/>
                </a:solidFill>
                <a:latin typeface="Gill Sans MT" pitchFamily="34" charset="0"/>
                <a:ea typeface="+mj-ea"/>
                <a:cs typeface="+mj-cs"/>
              </a:defRPr>
            </a:lvl5pPr>
          </a:lstStyle>
          <a:p>
            <a:pPr marL="231775" marR="0" lvl="0" indent="-231775" algn="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IN" dirty="0" smtClean="0"/>
              <a:t>Add a small brief of the case study / point of view / Define a concept / theme / topic. You may add up to 6 lines of text. Beyond 6 lines will not be readable.</a:t>
            </a:r>
          </a:p>
        </p:txBody>
      </p:sp>
      <p:sp>
        <p:nvSpPr>
          <p:cNvPr id="40" name="Picture Placeholder 38"/>
          <p:cNvSpPr>
            <a:spLocks noGrp="1"/>
          </p:cNvSpPr>
          <p:nvPr>
            <p:ph type="pic" sz="quarter" idx="14"/>
          </p:nvPr>
        </p:nvSpPr>
        <p:spPr>
          <a:xfrm>
            <a:off x="5690960" y="490538"/>
            <a:ext cx="2874963" cy="5692775"/>
          </a:xfrm>
          <a:ln>
            <a:noFill/>
          </a:ln>
          <a:effectLst/>
        </p:spPr>
        <p:txBody>
          <a:bodyPr>
            <a:flatTx/>
          </a:bodyPr>
          <a:lstStyle>
            <a:lvl1pPr>
              <a:buNone/>
              <a:defRPr>
                <a:effectLst/>
              </a:defRPr>
            </a:lvl1pPr>
          </a:lstStyle>
          <a:p>
            <a:r>
              <a:rPr lang="en-US" smtClean="0"/>
              <a:t>Click icon to add picture</a:t>
            </a:r>
            <a:endParaRPr lang="en-IN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903515" y="3864429"/>
            <a:ext cx="4049262" cy="1545771"/>
          </a:xfrm>
        </p:spPr>
        <p:txBody>
          <a:bodyPr>
            <a:normAutofit/>
          </a:bodyPr>
          <a:lstStyle>
            <a:lvl1pPr marL="231775" marR="0" indent="-231775" algn="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IN" sz="1400" kern="1200" baseline="0">
                <a:solidFill>
                  <a:srgbClr val="0070C0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800" b="1" kern="1200" dirty="0" smtClean="0">
                <a:solidFill>
                  <a:srgbClr val="3C3D48"/>
                </a:solidFill>
                <a:latin typeface="Gill Sans MT" pitchFamily="34" charset="0"/>
                <a:ea typeface="+mj-ea"/>
                <a:cs typeface="+mj-cs"/>
              </a:defRPr>
            </a:lvl2pPr>
            <a:lvl3pPr>
              <a:defRPr lang="en-US" sz="2800" b="1" kern="1200" dirty="0" smtClean="0">
                <a:solidFill>
                  <a:srgbClr val="3C3D48"/>
                </a:solidFill>
                <a:latin typeface="Gill Sans MT" pitchFamily="34" charset="0"/>
                <a:ea typeface="+mj-ea"/>
                <a:cs typeface="+mj-cs"/>
              </a:defRPr>
            </a:lvl3pPr>
            <a:lvl4pPr>
              <a:defRPr lang="en-US" sz="2800" b="1" kern="1200" dirty="0" smtClean="0">
                <a:solidFill>
                  <a:srgbClr val="3C3D48"/>
                </a:solidFill>
                <a:latin typeface="Gill Sans MT" pitchFamily="34" charset="0"/>
                <a:ea typeface="+mj-ea"/>
                <a:cs typeface="+mj-cs"/>
              </a:defRPr>
            </a:lvl4pPr>
            <a:lvl5pPr>
              <a:defRPr lang="en-IN" sz="2800" b="1" kern="1200" dirty="0">
                <a:solidFill>
                  <a:srgbClr val="3C3D48"/>
                </a:solidFill>
                <a:latin typeface="Gill Sans MT" pitchFamily="34" charset="0"/>
                <a:ea typeface="+mj-ea"/>
                <a:cs typeface="+mj-cs"/>
              </a:defRPr>
            </a:lvl5pPr>
          </a:lstStyle>
          <a:p>
            <a:pPr marL="231775" marR="0" lvl="0" indent="-231775" algn="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 smtClean="0"/>
              <a:t>Add Highlights of the topic and only </a:t>
            </a:r>
            <a:br>
              <a:rPr lang="en-US" dirty="0" smtClean="0"/>
            </a:br>
            <a:r>
              <a:rPr lang="en-US" dirty="0" smtClean="0"/>
              <a:t>5 lines of text is allowed, beyond </a:t>
            </a:r>
            <a:br>
              <a:rPr lang="en-US" dirty="0" smtClean="0"/>
            </a:br>
            <a:r>
              <a:rPr lang="en-US" dirty="0" smtClean="0"/>
              <a:t>that it will not be readable.</a:t>
            </a:r>
            <a:endParaRPr lang="en-IN" dirty="0" smtClean="0"/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8" hasCustomPrompt="1"/>
          </p:nvPr>
        </p:nvSpPr>
        <p:spPr>
          <a:xfrm rot="5400000" flipH="1">
            <a:off x="4956460" y="852837"/>
            <a:ext cx="310896" cy="155448"/>
          </a:xfrm>
          <a:prstGeom prst="flowChartExtract">
            <a:avLst/>
          </a:prstGeom>
          <a:solidFill>
            <a:srgbClr val="03A3DF"/>
          </a:solidFill>
          <a:ln w="3175"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96626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25"/>
          <p:cNvSpPr>
            <a:spLocks noGrp="1"/>
          </p:cNvSpPr>
          <p:nvPr>
            <p:ph type="pic" sz="quarter" idx="10"/>
          </p:nvPr>
        </p:nvSpPr>
        <p:spPr>
          <a:xfrm>
            <a:off x="451756" y="1668732"/>
            <a:ext cx="2590800" cy="3873500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en-IN"/>
          </a:p>
        </p:txBody>
      </p:sp>
      <p:sp>
        <p:nvSpPr>
          <p:cNvPr id="37" name="Text Placeholder 34"/>
          <p:cNvSpPr>
            <a:spLocks noGrp="1"/>
          </p:cNvSpPr>
          <p:nvPr>
            <p:ph type="body" sz="quarter" idx="12" hasCustomPrompt="1"/>
          </p:nvPr>
        </p:nvSpPr>
        <p:spPr>
          <a:xfrm>
            <a:off x="3990974" y="1565729"/>
            <a:ext cx="4686301" cy="1152071"/>
          </a:xfrm>
        </p:spPr>
        <p:txBody>
          <a:bodyPr>
            <a:normAutofit/>
          </a:bodyPr>
          <a:lstStyle>
            <a:lvl1pPr marL="0" indent="0">
              <a:buClr>
                <a:srgbClr val="0070C0"/>
              </a:buClr>
              <a:buFont typeface="Webdings" pitchFamily="18" charset="2"/>
              <a:buNone/>
              <a:tabLst/>
              <a:defRPr lang="en-US" sz="1200" kern="1200" baseline="0" dirty="0" smtClean="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buNone/>
              <a:defRPr lang="en-US" sz="1600" kern="1200" dirty="0" smtClean="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>
              <a:buNone/>
              <a:defRPr lang="en-US" sz="1600" kern="1200" dirty="0" smtClean="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>
              <a:buNone/>
              <a:defRPr lang="en-US" sz="1600" kern="1200" dirty="0" smtClean="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>
              <a:buNone/>
              <a:defRPr lang="en-IN" sz="1600" kern="1200" dirty="0" smtClean="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 smtClean="0"/>
              <a:t>Up to 5 lines of text is allowed beyond which it will not be readable.</a:t>
            </a:r>
          </a:p>
        </p:txBody>
      </p:sp>
      <p:sp>
        <p:nvSpPr>
          <p:cNvPr id="15" name="Text Placeholder 31"/>
          <p:cNvSpPr>
            <a:spLocks noGrp="1"/>
          </p:cNvSpPr>
          <p:nvPr>
            <p:ph type="body" sz="quarter" idx="14" hasCustomPrompt="1"/>
          </p:nvPr>
        </p:nvSpPr>
        <p:spPr>
          <a:xfrm>
            <a:off x="3990974" y="1162957"/>
            <a:ext cx="4673600" cy="261258"/>
          </a:xfrm>
        </p:spPr>
        <p:txBody>
          <a:bodyPr anchor="ctr">
            <a:noAutofit/>
          </a:bodyPr>
          <a:lstStyle>
            <a:lvl1pPr>
              <a:buNone/>
              <a:defRPr lang="en-US" sz="1400" b="1" kern="1200" dirty="0" smtClean="0">
                <a:solidFill>
                  <a:srgbClr val="3C3D48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 smtClean="0"/>
              <a:t>Opportunity</a:t>
            </a:r>
          </a:p>
        </p:txBody>
      </p:sp>
      <p:sp>
        <p:nvSpPr>
          <p:cNvPr id="19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40511"/>
            <a:ext cx="8229600" cy="532589"/>
          </a:xfrm>
        </p:spPr>
        <p:txBody>
          <a:bodyPr/>
          <a:lstStyle>
            <a:lvl1pPr marL="0" marR="0" indent="0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 baseline="0"/>
            </a:lvl1pPr>
          </a:lstStyle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/>
            </a:pPr>
            <a:r>
              <a:rPr lang="en-US" dirty="0" smtClean="0"/>
              <a:t>Case Study Heading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j-lt"/>
              <a:ea typeface="+mn-ea"/>
              <a:cs typeface="Arial"/>
            </a:endParaRPr>
          </a:p>
        </p:txBody>
      </p:sp>
      <p:sp>
        <p:nvSpPr>
          <p:cNvPr id="32" name="Text Placeholder 34"/>
          <p:cNvSpPr>
            <a:spLocks noGrp="1"/>
          </p:cNvSpPr>
          <p:nvPr>
            <p:ph type="body" sz="quarter" idx="19" hasCustomPrompt="1"/>
          </p:nvPr>
        </p:nvSpPr>
        <p:spPr>
          <a:xfrm>
            <a:off x="3990974" y="3246435"/>
            <a:ext cx="4686301" cy="1152071"/>
          </a:xfrm>
        </p:spPr>
        <p:txBody>
          <a:bodyPr>
            <a:normAutofit/>
          </a:bodyPr>
          <a:lstStyle>
            <a:lvl1pPr marL="0" indent="0">
              <a:buClr>
                <a:srgbClr val="0070C0"/>
              </a:buClr>
              <a:buFont typeface="Webdings" pitchFamily="18" charset="2"/>
              <a:buNone/>
              <a:tabLst/>
              <a:defRPr lang="en-US" sz="1200" kern="1200" baseline="0" dirty="0" smtClean="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buNone/>
              <a:defRPr lang="en-US" sz="1600" kern="1200" dirty="0" smtClean="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>
              <a:buNone/>
              <a:defRPr lang="en-US" sz="1600" kern="1200" dirty="0" smtClean="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>
              <a:buNone/>
              <a:defRPr lang="en-US" sz="1600" kern="1200" dirty="0" smtClean="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>
              <a:buNone/>
              <a:defRPr lang="en-IN" sz="1600" kern="1200" dirty="0" smtClean="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 smtClean="0"/>
              <a:t>Up to 5 lines of text is allowed beyond which it will not be readable.</a:t>
            </a:r>
          </a:p>
        </p:txBody>
      </p:sp>
      <p:sp>
        <p:nvSpPr>
          <p:cNvPr id="33" name="Text Placeholder 31"/>
          <p:cNvSpPr>
            <a:spLocks noGrp="1"/>
          </p:cNvSpPr>
          <p:nvPr>
            <p:ph type="body" sz="quarter" idx="20" hasCustomPrompt="1"/>
          </p:nvPr>
        </p:nvSpPr>
        <p:spPr>
          <a:xfrm>
            <a:off x="3990974" y="2843663"/>
            <a:ext cx="4673600" cy="261258"/>
          </a:xfrm>
        </p:spPr>
        <p:txBody>
          <a:bodyPr anchor="ctr">
            <a:noAutofit/>
          </a:bodyPr>
          <a:lstStyle>
            <a:lvl1pPr>
              <a:buNone/>
              <a:defRPr lang="en-US" sz="1400" b="1" kern="1200" baseline="0" dirty="0" smtClean="0">
                <a:solidFill>
                  <a:srgbClr val="3C3D48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 smtClean="0"/>
              <a:t>Challenges </a:t>
            </a:r>
          </a:p>
        </p:txBody>
      </p:sp>
      <p:sp>
        <p:nvSpPr>
          <p:cNvPr id="35" name="Text Placeholder 34"/>
          <p:cNvSpPr>
            <a:spLocks noGrp="1"/>
          </p:cNvSpPr>
          <p:nvPr>
            <p:ph type="body" sz="quarter" idx="21" hasCustomPrompt="1"/>
          </p:nvPr>
        </p:nvSpPr>
        <p:spPr>
          <a:xfrm>
            <a:off x="3990974" y="4962546"/>
            <a:ext cx="4686301" cy="1152071"/>
          </a:xfrm>
        </p:spPr>
        <p:txBody>
          <a:bodyPr>
            <a:normAutofit/>
          </a:bodyPr>
          <a:lstStyle>
            <a:lvl1pPr marL="0" indent="0">
              <a:buClr>
                <a:srgbClr val="0070C0"/>
              </a:buClr>
              <a:buFont typeface="Webdings" pitchFamily="18" charset="2"/>
              <a:buNone/>
              <a:tabLst/>
              <a:defRPr lang="en-US" sz="1200" kern="1200" baseline="0" dirty="0" smtClean="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buNone/>
              <a:defRPr lang="en-US" sz="1600" kern="1200" dirty="0" smtClean="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>
              <a:buNone/>
              <a:defRPr lang="en-US" sz="1600" kern="1200" dirty="0" smtClean="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>
              <a:buNone/>
              <a:defRPr lang="en-US" sz="1600" kern="1200" dirty="0" smtClean="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>
              <a:buNone/>
              <a:defRPr lang="en-IN" sz="1600" kern="1200" dirty="0" smtClean="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 smtClean="0"/>
              <a:t>Up to 5 lines of text is allowed beyond which it will not be readable.</a:t>
            </a:r>
          </a:p>
        </p:txBody>
      </p:sp>
      <p:sp>
        <p:nvSpPr>
          <p:cNvPr id="36" name="Text Placeholder 31"/>
          <p:cNvSpPr>
            <a:spLocks noGrp="1"/>
          </p:cNvSpPr>
          <p:nvPr>
            <p:ph type="body" sz="quarter" idx="22" hasCustomPrompt="1"/>
          </p:nvPr>
        </p:nvSpPr>
        <p:spPr>
          <a:xfrm>
            <a:off x="3990974" y="4559774"/>
            <a:ext cx="4673600" cy="261258"/>
          </a:xfrm>
        </p:spPr>
        <p:txBody>
          <a:bodyPr anchor="ctr">
            <a:noAutofit/>
          </a:bodyPr>
          <a:lstStyle>
            <a:lvl1pPr>
              <a:buNone/>
              <a:defRPr lang="en-US" sz="1400" b="1" kern="1200" dirty="0" smtClean="0">
                <a:solidFill>
                  <a:srgbClr val="3C3D48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 smtClean="0"/>
              <a:t>Impact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8" hasCustomPrompt="1"/>
          </p:nvPr>
        </p:nvSpPr>
        <p:spPr>
          <a:xfrm rot="16200000">
            <a:off x="3644028" y="1218597"/>
            <a:ext cx="310896" cy="155448"/>
          </a:xfrm>
          <a:prstGeom prst="flowChartExtract">
            <a:avLst/>
          </a:prstGeom>
          <a:solidFill>
            <a:srgbClr val="03A3DF"/>
          </a:solidFill>
          <a:ln w="3175"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23" hasCustomPrompt="1"/>
          </p:nvPr>
        </p:nvSpPr>
        <p:spPr>
          <a:xfrm rot="16200000">
            <a:off x="3644028" y="2906649"/>
            <a:ext cx="310896" cy="155448"/>
          </a:xfrm>
          <a:prstGeom prst="flowChartExtract">
            <a:avLst/>
          </a:prstGeom>
          <a:solidFill>
            <a:srgbClr val="03A3DF"/>
          </a:solidFill>
          <a:ln w="3175"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24" hasCustomPrompt="1"/>
          </p:nvPr>
        </p:nvSpPr>
        <p:spPr>
          <a:xfrm rot="16200000">
            <a:off x="3644028" y="4624562"/>
            <a:ext cx="310896" cy="155448"/>
          </a:xfrm>
          <a:prstGeom prst="flowChartExtract">
            <a:avLst/>
          </a:prstGeom>
          <a:solidFill>
            <a:srgbClr val="03A3DF"/>
          </a:solidFill>
          <a:ln w="3175"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3904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- Column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53211"/>
            <a:ext cx="8229600" cy="553998"/>
          </a:xfrm>
        </p:spPr>
        <p:txBody>
          <a:bodyPr/>
          <a:lstStyle>
            <a:lvl1pPr marL="0" marR="0" indent="0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 baseline="0"/>
            </a:lvl1pPr>
          </a:lstStyle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/>
            </a:pPr>
            <a:r>
              <a:rPr lang="en-US" dirty="0" smtClean="0"/>
              <a:t>Title of Column Graph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j-lt"/>
              <a:ea typeface="+mn-ea"/>
              <a:cs typeface="Arial"/>
            </a:endParaRPr>
          </a:p>
        </p:txBody>
      </p:sp>
      <p:sp>
        <p:nvSpPr>
          <p:cNvPr id="4" name="Chart Placeholder 13"/>
          <p:cNvSpPr>
            <a:spLocks noGrp="1"/>
          </p:cNvSpPr>
          <p:nvPr>
            <p:ph type="chart" sz="quarter" idx="10"/>
          </p:nvPr>
        </p:nvSpPr>
        <p:spPr>
          <a:xfrm>
            <a:off x="460375" y="1348349"/>
            <a:ext cx="8229600" cy="4716462"/>
          </a:xfrm>
        </p:spPr>
        <p:txBody>
          <a:bodyPr/>
          <a:lstStyle/>
          <a:p>
            <a:r>
              <a:rPr lang="en-US" smtClean="0"/>
              <a:t>Click icon to add chart</a:t>
            </a:r>
            <a:endParaRPr lang="en-IN"/>
          </a:p>
        </p:txBody>
      </p:sp>
      <p:sp>
        <p:nvSpPr>
          <p:cNvPr id="5" name="Oval 6"/>
          <p:cNvSpPr>
            <a:spLocks noChangeArrowheads="1"/>
          </p:cNvSpPr>
          <p:nvPr userDrawn="1"/>
        </p:nvSpPr>
        <p:spPr bwMode="gray">
          <a:xfrm>
            <a:off x="355600" y="6121101"/>
            <a:ext cx="8432800" cy="287853"/>
          </a:xfrm>
          <a:prstGeom prst="ellipse">
            <a:avLst/>
          </a:prstGeom>
          <a:gradFill rotWithShape="1">
            <a:gsLst>
              <a:gs pos="0">
                <a:srgbClr val="080808">
                  <a:alpha val="15000"/>
                </a:srgbClr>
              </a:gs>
              <a:gs pos="100000">
                <a:srgbClr val="0040A8">
                  <a:alpha val="0"/>
                </a:srgbClr>
              </a:gs>
            </a:gsLst>
            <a:path path="shape">
              <a:fillToRect l="50000" t="50000" r="50000" b="50000"/>
            </a:path>
          </a:gradFill>
          <a:ln w="9525" algn="ctr">
            <a:noFill/>
            <a:miter lim="800000"/>
            <a:headEnd/>
            <a:tailEnd/>
          </a:ln>
          <a:effectLst/>
        </p:spPr>
        <p:txBody>
          <a:bodyPr wrap="square"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kern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67748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- Bar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53211"/>
            <a:ext cx="8229600" cy="553998"/>
          </a:xfrm>
        </p:spPr>
        <p:txBody>
          <a:bodyPr/>
          <a:lstStyle>
            <a:lvl1pPr marL="0" marR="0" indent="0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 baseline="0"/>
            </a:lvl1pPr>
          </a:lstStyle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/>
            </a:pPr>
            <a:r>
              <a:rPr lang="en-US" dirty="0" smtClean="0"/>
              <a:t>Title of Bar Graph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j-lt"/>
              <a:ea typeface="+mn-ea"/>
              <a:cs typeface="Arial"/>
            </a:endParaRPr>
          </a:p>
        </p:txBody>
      </p:sp>
      <p:sp>
        <p:nvSpPr>
          <p:cNvPr id="4" name="Chart Placeholder 13"/>
          <p:cNvSpPr>
            <a:spLocks noGrp="1"/>
          </p:cNvSpPr>
          <p:nvPr>
            <p:ph type="chart" sz="quarter" idx="10"/>
          </p:nvPr>
        </p:nvSpPr>
        <p:spPr>
          <a:xfrm>
            <a:off x="460375" y="1348349"/>
            <a:ext cx="8229600" cy="4716462"/>
          </a:xfrm>
        </p:spPr>
        <p:txBody>
          <a:bodyPr/>
          <a:lstStyle/>
          <a:p>
            <a:r>
              <a:rPr lang="en-US" smtClean="0"/>
              <a:t>Click icon to add chart</a:t>
            </a:r>
            <a:endParaRPr lang="en-IN"/>
          </a:p>
        </p:txBody>
      </p:sp>
      <p:sp>
        <p:nvSpPr>
          <p:cNvPr id="5" name="Oval 6"/>
          <p:cNvSpPr>
            <a:spLocks noChangeArrowheads="1"/>
          </p:cNvSpPr>
          <p:nvPr userDrawn="1"/>
        </p:nvSpPr>
        <p:spPr bwMode="gray">
          <a:xfrm>
            <a:off x="355600" y="6121101"/>
            <a:ext cx="8432800" cy="287853"/>
          </a:xfrm>
          <a:prstGeom prst="ellipse">
            <a:avLst/>
          </a:prstGeom>
          <a:gradFill rotWithShape="1">
            <a:gsLst>
              <a:gs pos="0">
                <a:srgbClr val="080808">
                  <a:alpha val="15000"/>
                </a:srgbClr>
              </a:gs>
              <a:gs pos="100000">
                <a:srgbClr val="0040A8">
                  <a:alpha val="0"/>
                </a:srgbClr>
              </a:gs>
            </a:gsLst>
            <a:path path="shape">
              <a:fillToRect l="50000" t="50000" r="50000" b="50000"/>
            </a:path>
          </a:gradFill>
          <a:ln w="9525" algn="ctr">
            <a:noFill/>
            <a:miter lim="800000"/>
            <a:headEnd/>
            <a:tailEnd/>
          </a:ln>
          <a:effectLst/>
        </p:spPr>
        <p:txBody>
          <a:bodyPr wrap="square"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kern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46788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e 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53211"/>
            <a:ext cx="8229600" cy="553998"/>
          </a:xfrm>
        </p:spPr>
        <p:txBody>
          <a:bodyPr/>
          <a:lstStyle>
            <a:lvl1pPr marL="0" marR="0" indent="0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 baseline="0"/>
            </a:lvl1pPr>
          </a:lstStyle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/>
            </a:pPr>
            <a:r>
              <a:rPr lang="en-US" dirty="0" smtClean="0"/>
              <a:t>Title of Pie Chart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j-lt"/>
              <a:ea typeface="+mn-ea"/>
              <a:cs typeface="Arial"/>
            </a:endParaRPr>
          </a:p>
        </p:txBody>
      </p:sp>
      <p:sp>
        <p:nvSpPr>
          <p:cNvPr id="11" name="Chart Placeholder 13"/>
          <p:cNvSpPr>
            <a:spLocks noGrp="1"/>
          </p:cNvSpPr>
          <p:nvPr>
            <p:ph type="chart" sz="quarter" idx="10"/>
          </p:nvPr>
        </p:nvSpPr>
        <p:spPr>
          <a:xfrm>
            <a:off x="460375" y="1348349"/>
            <a:ext cx="8229600" cy="4716462"/>
          </a:xfrm>
        </p:spPr>
        <p:txBody>
          <a:bodyPr/>
          <a:lstStyle/>
          <a:p>
            <a:r>
              <a:rPr lang="en-US" smtClean="0"/>
              <a:t>Click icon to add chart</a:t>
            </a:r>
            <a:endParaRPr lang="en-IN"/>
          </a:p>
        </p:txBody>
      </p:sp>
      <p:sp>
        <p:nvSpPr>
          <p:cNvPr id="12" name="Oval 6"/>
          <p:cNvSpPr>
            <a:spLocks noChangeArrowheads="1"/>
          </p:cNvSpPr>
          <p:nvPr userDrawn="1"/>
        </p:nvSpPr>
        <p:spPr bwMode="gray">
          <a:xfrm>
            <a:off x="355600" y="6121101"/>
            <a:ext cx="8432800" cy="287853"/>
          </a:xfrm>
          <a:prstGeom prst="ellipse">
            <a:avLst/>
          </a:prstGeom>
          <a:gradFill rotWithShape="1">
            <a:gsLst>
              <a:gs pos="0">
                <a:srgbClr val="080808">
                  <a:alpha val="15000"/>
                </a:srgbClr>
              </a:gs>
              <a:gs pos="100000">
                <a:srgbClr val="0040A8">
                  <a:alpha val="0"/>
                </a:srgbClr>
              </a:gs>
            </a:gsLst>
            <a:path path="shape">
              <a:fillToRect l="50000" t="50000" r="50000" b="50000"/>
            </a:path>
          </a:gradFill>
          <a:ln w="9525" algn="ctr">
            <a:noFill/>
            <a:miter lim="800000"/>
            <a:headEnd/>
            <a:tailEnd/>
          </a:ln>
          <a:effectLst/>
        </p:spPr>
        <p:txBody>
          <a:bodyPr wrap="square"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kern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980720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e Chart slide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53211"/>
            <a:ext cx="8229600" cy="553998"/>
          </a:xfrm>
        </p:spPr>
        <p:txBody>
          <a:bodyPr/>
          <a:lstStyle>
            <a:lvl1pPr marL="0" marR="0" indent="0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 baseline="0"/>
            </a:lvl1pPr>
          </a:lstStyle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/>
            </a:pPr>
            <a:r>
              <a:rPr lang="en-US" dirty="0" smtClean="0"/>
              <a:t>Title of Pie Chart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j-lt"/>
              <a:ea typeface="+mn-ea"/>
              <a:cs typeface="Arial"/>
            </a:endParaRPr>
          </a:p>
        </p:txBody>
      </p:sp>
      <p:sp>
        <p:nvSpPr>
          <p:cNvPr id="5" name="Chart Placeholder 13"/>
          <p:cNvSpPr>
            <a:spLocks noGrp="1"/>
          </p:cNvSpPr>
          <p:nvPr>
            <p:ph type="chart" sz="quarter" idx="10"/>
          </p:nvPr>
        </p:nvSpPr>
        <p:spPr>
          <a:xfrm>
            <a:off x="460375" y="1348349"/>
            <a:ext cx="8229600" cy="4716462"/>
          </a:xfrm>
        </p:spPr>
        <p:txBody>
          <a:bodyPr/>
          <a:lstStyle/>
          <a:p>
            <a:r>
              <a:rPr lang="en-US" smtClean="0"/>
              <a:t>Click icon to add chart</a:t>
            </a:r>
            <a:endParaRPr lang="en-IN"/>
          </a:p>
        </p:txBody>
      </p:sp>
      <p:sp>
        <p:nvSpPr>
          <p:cNvPr id="7" name="Oval 6"/>
          <p:cNvSpPr>
            <a:spLocks noChangeArrowheads="1"/>
          </p:cNvSpPr>
          <p:nvPr userDrawn="1"/>
        </p:nvSpPr>
        <p:spPr bwMode="gray">
          <a:xfrm>
            <a:off x="355600" y="6121101"/>
            <a:ext cx="8432800" cy="287853"/>
          </a:xfrm>
          <a:prstGeom prst="ellipse">
            <a:avLst/>
          </a:prstGeom>
          <a:gradFill rotWithShape="1">
            <a:gsLst>
              <a:gs pos="0">
                <a:srgbClr val="080808">
                  <a:alpha val="15000"/>
                </a:srgbClr>
              </a:gs>
              <a:gs pos="100000">
                <a:srgbClr val="0040A8">
                  <a:alpha val="0"/>
                </a:srgbClr>
              </a:gs>
            </a:gsLst>
            <a:path path="shape">
              <a:fillToRect l="50000" t="50000" r="50000" b="50000"/>
            </a:path>
          </a:gradFill>
          <a:ln w="9525" algn="ctr">
            <a:noFill/>
            <a:miter lim="800000"/>
            <a:headEnd/>
            <a:tailEnd/>
          </a:ln>
          <a:effectLst/>
        </p:spPr>
        <p:txBody>
          <a:bodyPr wrap="square"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kern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68396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Oval 6"/>
          <p:cNvSpPr>
            <a:spLocks noChangeArrowheads="1"/>
          </p:cNvSpPr>
          <p:nvPr userDrawn="1"/>
        </p:nvSpPr>
        <p:spPr bwMode="gray">
          <a:xfrm>
            <a:off x="355600" y="5858423"/>
            <a:ext cx="8432800" cy="550531"/>
          </a:xfrm>
          <a:prstGeom prst="ellipse">
            <a:avLst/>
          </a:prstGeom>
          <a:gradFill rotWithShape="1">
            <a:gsLst>
              <a:gs pos="0">
                <a:srgbClr val="080808">
                  <a:alpha val="20000"/>
                </a:srgbClr>
              </a:gs>
              <a:gs pos="100000">
                <a:srgbClr val="0040A8">
                  <a:alpha val="0"/>
                </a:srgbClr>
              </a:gs>
            </a:gsLst>
            <a:path path="shape">
              <a:fillToRect l="50000" t="50000" r="50000" b="50000"/>
            </a:path>
          </a:gradFill>
          <a:ln w="9525" algn="ctr">
            <a:noFill/>
            <a:miter lim="800000"/>
            <a:headEnd/>
            <a:tailEnd/>
          </a:ln>
          <a:effectLst/>
        </p:spPr>
        <p:txBody>
          <a:bodyPr wrap="square"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kern="0" dirty="0">
              <a:solidFill>
                <a:srgbClr val="000000"/>
              </a:solidFill>
            </a:endParaRPr>
          </a:p>
        </p:txBody>
      </p:sp>
      <p:sp>
        <p:nvSpPr>
          <p:cNvPr id="57" name="Text Placeholder 56"/>
          <p:cNvSpPr>
            <a:spLocks noGrp="1"/>
          </p:cNvSpPr>
          <p:nvPr>
            <p:ph type="body" sz="quarter" idx="10" hasCustomPrompt="1"/>
          </p:nvPr>
        </p:nvSpPr>
        <p:spPr>
          <a:xfrm>
            <a:off x="780166" y="4223431"/>
            <a:ext cx="1452108" cy="566737"/>
          </a:xfrm>
        </p:spPr>
        <p:txBody>
          <a:bodyPr>
            <a:normAutofit/>
          </a:bodyPr>
          <a:lstStyle>
            <a:lvl1pPr algn="ctr">
              <a:buNone/>
              <a:defRPr lang="en-IN" sz="1800" kern="1200" dirty="0" smtClean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Text 1</a:t>
            </a:r>
            <a:endParaRPr lang="en-IN" dirty="0"/>
          </a:p>
        </p:txBody>
      </p:sp>
      <p:sp>
        <p:nvSpPr>
          <p:cNvPr id="12" name="Title 4"/>
          <p:cNvSpPr>
            <a:spLocks noGrp="1"/>
          </p:cNvSpPr>
          <p:nvPr>
            <p:ph type="title" hasCustomPrompt="1"/>
          </p:nvPr>
        </p:nvSpPr>
        <p:spPr>
          <a:xfrm>
            <a:off x="460375" y="140024"/>
            <a:ext cx="8229600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Add Title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774700" y="2679700"/>
            <a:ext cx="1463040" cy="1463040"/>
          </a:xfrm>
          <a:prstGeom prst="ellipse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3" name="Text Placeholder 56"/>
          <p:cNvSpPr>
            <a:spLocks noGrp="1"/>
          </p:cNvSpPr>
          <p:nvPr>
            <p:ph type="body" sz="quarter" idx="19" hasCustomPrompt="1"/>
          </p:nvPr>
        </p:nvSpPr>
        <p:spPr>
          <a:xfrm>
            <a:off x="2807316" y="4223431"/>
            <a:ext cx="1452108" cy="566737"/>
          </a:xfrm>
        </p:spPr>
        <p:txBody>
          <a:bodyPr>
            <a:normAutofit/>
          </a:bodyPr>
          <a:lstStyle>
            <a:lvl1pPr algn="ctr">
              <a:buNone/>
              <a:defRPr lang="en-IN" sz="1800" kern="1200" dirty="0" smtClean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Text 2</a:t>
            </a:r>
            <a:endParaRPr lang="en-IN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2801850" y="2679700"/>
            <a:ext cx="1463040" cy="1463040"/>
          </a:xfrm>
          <a:prstGeom prst="ellipse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5" name="Text Placeholder 56"/>
          <p:cNvSpPr>
            <a:spLocks noGrp="1"/>
          </p:cNvSpPr>
          <p:nvPr>
            <p:ph type="body" sz="quarter" idx="21" hasCustomPrompt="1"/>
          </p:nvPr>
        </p:nvSpPr>
        <p:spPr>
          <a:xfrm>
            <a:off x="4811800" y="4223431"/>
            <a:ext cx="1452108" cy="566737"/>
          </a:xfrm>
        </p:spPr>
        <p:txBody>
          <a:bodyPr>
            <a:normAutofit/>
          </a:bodyPr>
          <a:lstStyle>
            <a:lvl1pPr algn="ctr">
              <a:buNone/>
              <a:defRPr lang="en-IN" sz="1800" kern="1200" dirty="0" smtClean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Text 3</a:t>
            </a:r>
            <a:endParaRPr lang="en-IN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4806334" y="2679700"/>
            <a:ext cx="1463040" cy="1463040"/>
          </a:xfrm>
          <a:prstGeom prst="ellipse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7" name="Text Placeholder 56"/>
          <p:cNvSpPr>
            <a:spLocks noGrp="1"/>
          </p:cNvSpPr>
          <p:nvPr>
            <p:ph type="body" sz="quarter" idx="23" hasCustomPrompt="1"/>
          </p:nvPr>
        </p:nvSpPr>
        <p:spPr>
          <a:xfrm>
            <a:off x="6787266" y="4223431"/>
            <a:ext cx="1452108" cy="566737"/>
          </a:xfrm>
        </p:spPr>
        <p:txBody>
          <a:bodyPr>
            <a:normAutofit/>
          </a:bodyPr>
          <a:lstStyle>
            <a:lvl1pPr algn="ctr">
              <a:buNone/>
              <a:defRPr lang="en-IN" sz="1800" kern="1200" dirty="0" smtClean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Text 4</a:t>
            </a:r>
            <a:endParaRPr lang="en-IN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24" hasCustomPrompt="1"/>
          </p:nvPr>
        </p:nvSpPr>
        <p:spPr>
          <a:xfrm>
            <a:off x="6781800" y="2679700"/>
            <a:ext cx="1463040" cy="1463040"/>
          </a:xfrm>
          <a:prstGeom prst="ellipse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02142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connecto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2642616" y="1727200"/>
            <a:ext cx="3858768" cy="3858768"/>
          </a:xfrm>
          <a:prstGeom prst="ellipse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38" name="Title 4"/>
          <p:cNvSpPr>
            <a:spLocks noGrp="1"/>
          </p:cNvSpPr>
          <p:nvPr userDrawn="1">
            <p:ph type="title" hasCustomPrompt="1"/>
          </p:nvPr>
        </p:nvSpPr>
        <p:spPr>
          <a:xfrm>
            <a:off x="460375" y="140024"/>
            <a:ext cx="8229600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Add Title</a:t>
            </a:r>
            <a:endParaRPr lang="en-US" dirty="0"/>
          </a:p>
        </p:txBody>
      </p:sp>
      <p:sp>
        <p:nvSpPr>
          <p:cNvPr id="30" name="Text Placeholder 56"/>
          <p:cNvSpPr>
            <a:spLocks noGrp="1"/>
          </p:cNvSpPr>
          <p:nvPr>
            <p:ph type="body" sz="quarter" idx="14" hasCustomPrompt="1"/>
          </p:nvPr>
        </p:nvSpPr>
        <p:spPr>
          <a:xfrm>
            <a:off x="3474131" y="3152631"/>
            <a:ext cx="2231528" cy="693655"/>
          </a:xfrm>
        </p:spPr>
        <p:txBody>
          <a:bodyPr>
            <a:noAutofit/>
          </a:bodyPr>
          <a:lstStyle>
            <a:lvl1pPr marL="0" indent="0" algn="ctr">
              <a:buNone/>
              <a:defRPr lang="en-IN" sz="2000" kern="1200" baseline="0" dirty="0" smtClean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INSERT TEXT Subject Matter</a:t>
            </a:r>
            <a:endParaRPr lang="en-IN" dirty="0"/>
          </a:p>
        </p:txBody>
      </p:sp>
      <p:sp>
        <p:nvSpPr>
          <p:cNvPr id="34" name="Text Placeholder 56"/>
          <p:cNvSpPr>
            <a:spLocks noGrp="1"/>
          </p:cNvSpPr>
          <p:nvPr>
            <p:ph type="body" sz="quarter" idx="13" hasCustomPrompt="1"/>
          </p:nvPr>
        </p:nvSpPr>
        <p:spPr>
          <a:xfrm>
            <a:off x="3863878" y="953610"/>
            <a:ext cx="1416244" cy="329811"/>
          </a:xfrm>
        </p:spPr>
        <p:txBody>
          <a:bodyPr>
            <a:normAutofit/>
          </a:bodyPr>
          <a:lstStyle>
            <a:lvl1pPr algn="ctr">
              <a:buNone/>
              <a:defRPr lang="en-IN" sz="1400" kern="1200" dirty="0" smtClean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Text Here</a:t>
            </a:r>
            <a:endParaRPr lang="en-IN" dirty="0"/>
          </a:p>
        </p:txBody>
      </p:sp>
      <p:sp>
        <p:nvSpPr>
          <p:cNvPr id="37" name="Text Placeholder 56"/>
          <p:cNvSpPr>
            <a:spLocks noGrp="1"/>
          </p:cNvSpPr>
          <p:nvPr>
            <p:ph type="body" sz="quarter" idx="15" hasCustomPrompt="1"/>
          </p:nvPr>
        </p:nvSpPr>
        <p:spPr>
          <a:xfrm>
            <a:off x="3863878" y="6124845"/>
            <a:ext cx="1416244" cy="329811"/>
          </a:xfrm>
        </p:spPr>
        <p:txBody>
          <a:bodyPr>
            <a:normAutofit/>
          </a:bodyPr>
          <a:lstStyle>
            <a:lvl1pPr algn="ctr">
              <a:buNone/>
              <a:defRPr lang="en-IN" sz="1400" kern="1200" dirty="0" smtClean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Text Here</a:t>
            </a:r>
            <a:endParaRPr lang="en-IN" dirty="0"/>
          </a:p>
        </p:txBody>
      </p:sp>
      <p:sp>
        <p:nvSpPr>
          <p:cNvPr id="39" name="Text Placeholder 56"/>
          <p:cNvSpPr>
            <a:spLocks noGrp="1"/>
          </p:cNvSpPr>
          <p:nvPr>
            <p:ph type="body" sz="quarter" idx="16" hasCustomPrompt="1"/>
          </p:nvPr>
        </p:nvSpPr>
        <p:spPr>
          <a:xfrm>
            <a:off x="6998963" y="3232353"/>
            <a:ext cx="1416244" cy="329811"/>
          </a:xfrm>
        </p:spPr>
        <p:txBody>
          <a:bodyPr>
            <a:normAutofit/>
          </a:bodyPr>
          <a:lstStyle>
            <a:lvl1pPr algn="ctr">
              <a:buNone/>
              <a:defRPr lang="en-IN" sz="1400" kern="1200" dirty="0" smtClean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Text Here</a:t>
            </a:r>
            <a:endParaRPr lang="en-IN" dirty="0"/>
          </a:p>
        </p:txBody>
      </p:sp>
      <p:sp>
        <p:nvSpPr>
          <p:cNvPr id="40" name="Text Placeholder 56"/>
          <p:cNvSpPr>
            <a:spLocks noGrp="1"/>
          </p:cNvSpPr>
          <p:nvPr>
            <p:ph type="body" sz="quarter" idx="17" hasCustomPrompt="1"/>
          </p:nvPr>
        </p:nvSpPr>
        <p:spPr>
          <a:xfrm>
            <a:off x="701622" y="3232353"/>
            <a:ext cx="1416244" cy="329811"/>
          </a:xfrm>
        </p:spPr>
        <p:txBody>
          <a:bodyPr>
            <a:normAutofit/>
          </a:bodyPr>
          <a:lstStyle>
            <a:lvl1pPr algn="ctr">
              <a:buNone/>
              <a:defRPr lang="en-IN" sz="1400" kern="1200" dirty="0" smtClean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Text Here</a:t>
            </a:r>
            <a:endParaRPr lang="en-IN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4076700" y="1320800"/>
            <a:ext cx="960120" cy="960120"/>
          </a:xfrm>
          <a:prstGeom prst="ellipse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9" hasCustomPrompt="1"/>
          </p:nvPr>
        </p:nvSpPr>
        <p:spPr>
          <a:xfrm>
            <a:off x="4076700" y="5105400"/>
            <a:ext cx="960120" cy="960120"/>
          </a:xfrm>
          <a:prstGeom prst="ellipse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21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2146300" y="2921000"/>
            <a:ext cx="960120" cy="960120"/>
          </a:xfrm>
          <a:prstGeom prst="ellipse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24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5943600" y="2908300"/>
            <a:ext cx="960120" cy="960120"/>
          </a:xfrm>
          <a:prstGeom prst="ellipse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95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/>
          <p:cNvSpPr>
            <a:spLocks noGrp="1"/>
          </p:cNvSpPr>
          <p:nvPr userDrawn="1">
            <p:ph type="ctrTitle" hasCustomPrompt="1"/>
          </p:nvPr>
        </p:nvSpPr>
        <p:spPr>
          <a:xfrm>
            <a:off x="4547710" y="1767649"/>
            <a:ext cx="4203553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10" name="Text Placeholder 56"/>
          <p:cNvSpPr>
            <a:spLocks noGrp="1"/>
          </p:cNvSpPr>
          <p:nvPr>
            <p:ph type="body" sz="quarter" idx="19" hasCustomPrompt="1"/>
          </p:nvPr>
        </p:nvSpPr>
        <p:spPr>
          <a:xfrm>
            <a:off x="4547710" y="2552751"/>
            <a:ext cx="4158442" cy="355042"/>
          </a:xfrm>
        </p:spPr>
        <p:txBody>
          <a:bodyPr>
            <a:noAutofit/>
          </a:bodyPr>
          <a:lstStyle>
            <a:lvl1pPr marL="0" indent="0" algn="l">
              <a:buNone/>
              <a:defRPr kumimoji="0" lang="en-I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n-US" dirty="0" smtClean="0"/>
              <a:t>Your Name</a:t>
            </a:r>
            <a:endParaRPr lang="en-IN" dirty="0"/>
          </a:p>
        </p:txBody>
      </p:sp>
      <p:sp>
        <p:nvSpPr>
          <p:cNvPr id="11" name="Text Placeholder 56"/>
          <p:cNvSpPr>
            <a:spLocks noGrp="1"/>
          </p:cNvSpPr>
          <p:nvPr>
            <p:ph type="body" sz="quarter" idx="20" hasCustomPrompt="1"/>
          </p:nvPr>
        </p:nvSpPr>
        <p:spPr>
          <a:xfrm>
            <a:off x="4547710" y="3537676"/>
            <a:ext cx="4158442" cy="314777"/>
          </a:xfrm>
        </p:spPr>
        <p:txBody>
          <a:bodyPr>
            <a:noAutofit/>
          </a:bodyPr>
          <a:lstStyle>
            <a:lvl1pPr algn="l">
              <a:buNone/>
              <a:defRPr kumimoji="0" lang="en-I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n-US" dirty="0" smtClean="0"/>
              <a:t>Email ID</a:t>
            </a:r>
            <a:endParaRPr lang="en-IN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647700"/>
            <a:ext cx="9144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 descr="WIPRO PPT Design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21" y="4471039"/>
            <a:ext cx="9133758" cy="2171061"/>
          </a:xfrm>
          <a:prstGeom prst="rect">
            <a:avLst/>
          </a:prstGeom>
        </p:spPr>
      </p:pic>
      <p:pic>
        <p:nvPicPr>
          <p:cNvPr id="13" name="Picture 12" descr="Slides Master - 51.jp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57402" y="1664833"/>
            <a:ext cx="1872342" cy="2084305"/>
          </a:xfrm>
          <a:prstGeom prst="rect">
            <a:avLst/>
          </a:prstGeom>
        </p:spPr>
      </p:pic>
      <p:cxnSp>
        <p:nvCxnSpPr>
          <p:cNvPr id="12" name="Straight Connector 11"/>
          <p:cNvCxnSpPr/>
          <p:nvPr userDrawn="1"/>
        </p:nvCxnSpPr>
        <p:spPr>
          <a:xfrm rot="5400000">
            <a:off x="2814000" y="2781258"/>
            <a:ext cx="2754000" cy="1588"/>
          </a:xfrm>
          <a:prstGeom prst="line">
            <a:avLst/>
          </a:prstGeom>
          <a:ln w="19050">
            <a:solidFill>
              <a:srgbClr val="B6B6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56"/>
          <p:cNvSpPr>
            <a:spLocks noGrp="1"/>
          </p:cNvSpPr>
          <p:nvPr>
            <p:ph type="body" sz="quarter" idx="21" hasCustomPrompt="1"/>
          </p:nvPr>
        </p:nvSpPr>
        <p:spPr>
          <a:xfrm>
            <a:off x="4553806" y="3034335"/>
            <a:ext cx="4158442" cy="355042"/>
          </a:xfrm>
        </p:spPr>
        <p:txBody>
          <a:bodyPr>
            <a:noAutofit/>
          </a:bodyPr>
          <a:lstStyle>
            <a:lvl1pPr marL="0" indent="0" algn="l">
              <a:buNone/>
              <a:defRPr kumimoji="0" lang="en-I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n-US" dirty="0" smtClean="0"/>
              <a:t>Designation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03174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customer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2612799" y="1970769"/>
            <a:ext cx="1447572" cy="1643288"/>
          </a:xfrm>
        </p:spPr>
        <p:txBody>
          <a:bodyPr>
            <a:noAutofit/>
          </a:bodyPr>
          <a:lstStyle>
            <a:lvl1pPr marL="0" indent="0" algn="ctr">
              <a:buNone/>
              <a:defRPr sz="1100" baseline="0"/>
            </a:lvl1pPr>
          </a:lstStyle>
          <a:p>
            <a:r>
              <a:rPr lang="en-US" dirty="0" smtClean="0"/>
              <a:t>Click here to add Customer / Partner Logo</a:t>
            </a:r>
            <a:endParaRPr lang="en-IN" dirty="0"/>
          </a:p>
        </p:txBody>
      </p:sp>
      <p:pic>
        <p:nvPicPr>
          <p:cNvPr id="9" name="Picture 8" descr="Slides Master - 51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2" y="1664833"/>
            <a:ext cx="1872342" cy="2084305"/>
          </a:xfrm>
          <a:prstGeom prst="rect">
            <a:avLst/>
          </a:prstGeom>
        </p:spPr>
      </p:pic>
      <p:sp>
        <p:nvSpPr>
          <p:cNvPr id="14" name="Rectangle 13"/>
          <p:cNvSpPr/>
          <p:nvPr userDrawn="1"/>
        </p:nvSpPr>
        <p:spPr>
          <a:xfrm>
            <a:off x="0" y="647700"/>
            <a:ext cx="9144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5" name="Picture 14" descr="WIPRO PPT Design.jp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21" y="4471039"/>
            <a:ext cx="9133758" cy="2171061"/>
          </a:xfrm>
          <a:prstGeom prst="rect">
            <a:avLst/>
          </a:prstGeom>
        </p:spPr>
      </p:pic>
      <p:sp>
        <p:nvSpPr>
          <p:cNvPr id="11" name="Text Placeholder 56"/>
          <p:cNvSpPr>
            <a:spLocks noGrp="1"/>
          </p:cNvSpPr>
          <p:nvPr>
            <p:ph type="body" sz="quarter" idx="20" hasCustomPrompt="1"/>
          </p:nvPr>
        </p:nvSpPr>
        <p:spPr>
          <a:xfrm>
            <a:off x="4559968" y="3114100"/>
            <a:ext cx="4158442" cy="387090"/>
          </a:xfrm>
        </p:spPr>
        <p:txBody>
          <a:bodyPr>
            <a:noAutofit/>
          </a:bodyPr>
          <a:lstStyle>
            <a:lvl1pPr marL="0" indent="0" algn="l">
              <a:buNone/>
              <a:defRPr kumimoji="0" lang="en-I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n-US" dirty="0" smtClean="0"/>
              <a:t>Your Name</a:t>
            </a:r>
            <a:endParaRPr lang="en-IN" dirty="0"/>
          </a:p>
        </p:txBody>
      </p:sp>
      <p:sp>
        <p:nvSpPr>
          <p:cNvPr id="13" name="Title 1"/>
          <p:cNvSpPr>
            <a:spLocks noGrp="1"/>
          </p:cNvSpPr>
          <p:nvPr>
            <p:ph type="ctrTitle" hasCustomPrompt="1"/>
          </p:nvPr>
        </p:nvSpPr>
        <p:spPr>
          <a:xfrm>
            <a:off x="4559742" y="1480457"/>
            <a:ext cx="4142266" cy="1547161"/>
          </a:xfrm>
          <a:noFill/>
        </p:spPr>
        <p:txBody>
          <a:bodyPr wrap="square" rtlCol="0" anchor="ctr">
            <a:normAutofit/>
          </a:bodyPr>
          <a:lstStyle>
            <a:lvl1pPr marL="0" algn="l">
              <a:defRPr lang="en-US" sz="3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1pPr>
          </a:lstStyle>
          <a:p>
            <a:pPr marL="0" lvl="0" algn="l"/>
            <a:r>
              <a:rPr lang="en-US" dirty="0" smtClean="0"/>
              <a:t>Insert Title</a:t>
            </a:r>
            <a:br>
              <a:rPr lang="en-US" dirty="0" smtClean="0"/>
            </a:br>
            <a:r>
              <a:rPr lang="en-US" dirty="0" smtClean="0"/>
              <a:t>Here</a:t>
            </a:r>
            <a:endParaRPr lang="en-US" dirty="0"/>
          </a:p>
        </p:txBody>
      </p:sp>
      <p:sp>
        <p:nvSpPr>
          <p:cNvPr id="25" name="Text Placeholder 56"/>
          <p:cNvSpPr>
            <a:spLocks noGrp="1"/>
          </p:cNvSpPr>
          <p:nvPr>
            <p:ph type="body" sz="quarter" idx="21" hasCustomPrompt="1"/>
          </p:nvPr>
        </p:nvSpPr>
        <p:spPr>
          <a:xfrm>
            <a:off x="4572000" y="3599045"/>
            <a:ext cx="4158442" cy="409914"/>
          </a:xfrm>
        </p:spPr>
        <p:txBody>
          <a:bodyPr>
            <a:noAutofit/>
          </a:bodyPr>
          <a:lstStyle>
            <a:lvl1pPr marL="0" indent="0" algn="l">
              <a:buNone/>
              <a:defRPr kumimoji="0" lang="en-I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n-US" dirty="0" smtClean="0"/>
              <a:t>Designation</a:t>
            </a:r>
            <a:endParaRPr lang="en-IN" dirty="0"/>
          </a:p>
        </p:txBody>
      </p:sp>
      <p:cxnSp>
        <p:nvCxnSpPr>
          <p:cNvPr id="12" name="Straight Connector 11"/>
          <p:cNvCxnSpPr/>
          <p:nvPr userDrawn="1"/>
        </p:nvCxnSpPr>
        <p:spPr>
          <a:xfrm rot="5400000">
            <a:off x="2932334" y="2781258"/>
            <a:ext cx="2754000" cy="1588"/>
          </a:xfrm>
          <a:prstGeom prst="line">
            <a:avLst/>
          </a:prstGeom>
          <a:ln w="19050">
            <a:solidFill>
              <a:srgbClr val="B6B6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77470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er slide with customer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0" y="647700"/>
            <a:ext cx="9144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7" name="Picture 16" descr="WIPRO PPT Design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21" y="4471039"/>
            <a:ext cx="9133758" cy="2171061"/>
          </a:xfrm>
          <a:prstGeom prst="rect">
            <a:avLst/>
          </a:prstGeom>
        </p:spPr>
      </p:pic>
      <p:sp>
        <p:nvSpPr>
          <p:cNvPr id="11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4914" y="2667681"/>
            <a:ext cx="7794172" cy="663575"/>
          </a:xfrm>
        </p:spPr>
        <p:txBody>
          <a:bodyPr>
            <a:normAutofit/>
          </a:bodyPr>
          <a:lstStyle>
            <a:lvl1pPr algn="ctr">
              <a:buNone/>
              <a:defRPr lang="en-US" sz="3400" b="1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Arial"/>
              </a:defRPr>
            </a:lvl1pPr>
          </a:lstStyle>
          <a:p>
            <a:pPr lvl="0"/>
            <a:r>
              <a:rPr lang="en-US" dirty="0" smtClean="0"/>
              <a:t>Section Name Here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674914" y="3355504"/>
            <a:ext cx="7794172" cy="389182"/>
          </a:xfrm>
        </p:spPr>
        <p:txBody>
          <a:bodyPr>
            <a:normAutofit/>
          </a:bodyPr>
          <a:lstStyle>
            <a:lvl1pPr algn="ctr">
              <a:buNone/>
              <a:defRPr lang="en-US" sz="2000" b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Arial"/>
              </a:defRPr>
            </a:lvl1pPr>
          </a:lstStyle>
          <a:p>
            <a:pPr lvl="0"/>
            <a:r>
              <a:rPr lang="en-US" dirty="0" smtClean="0"/>
              <a:t>Who what when where</a:t>
            </a:r>
          </a:p>
        </p:txBody>
      </p:sp>
      <p:sp>
        <p:nvSpPr>
          <p:cNvPr id="18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8012113" y="316140"/>
            <a:ext cx="903287" cy="848631"/>
          </a:xfrm>
        </p:spPr>
        <p:txBody>
          <a:bodyPr>
            <a:noAutofit/>
          </a:bodyPr>
          <a:lstStyle>
            <a:lvl1pPr marL="0" indent="0" algn="ctr">
              <a:buNone/>
              <a:defRPr sz="1100" baseline="0"/>
            </a:lvl1pPr>
          </a:lstStyle>
          <a:p>
            <a:r>
              <a:rPr lang="en-US" dirty="0" smtClean="0"/>
              <a:t>Click here to add Customer / Partner Logo</a:t>
            </a:r>
            <a:endParaRPr lang="en-IN" dirty="0"/>
          </a:p>
        </p:txBody>
      </p:sp>
      <p:pic>
        <p:nvPicPr>
          <p:cNvPr id="20" name="Picture 19" descr="Slides Master - 51.jp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87416" y="182880"/>
            <a:ext cx="1014684" cy="1129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5908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 with customer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2612799" y="1970769"/>
            <a:ext cx="1447572" cy="1643288"/>
          </a:xfrm>
        </p:spPr>
        <p:txBody>
          <a:bodyPr>
            <a:noAutofit/>
          </a:bodyPr>
          <a:lstStyle>
            <a:lvl1pPr marL="0" indent="0" algn="ctr">
              <a:buNone/>
              <a:defRPr sz="1100" baseline="0"/>
            </a:lvl1pPr>
          </a:lstStyle>
          <a:p>
            <a:r>
              <a:rPr lang="en-US" dirty="0" smtClean="0"/>
              <a:t>Click here to add Customer / Partner Logo</a:t>
            </a:r>
            <a:endParaRPr lang="en-IN" dirty="0"/>
          </a:p>
        </p:txBody>
      </p:sp>
      <p:pic>
        <p:nvPicPr>
          <p:cNvPr id="14" name="Picture 13" descr="Slides Master - 51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2" y="1664833"/>
            <a:ext cx="1872342" cy="2084305"/>
          </a:xfrm>
          <a:prstGeom prst="rect">
            <a:avLst/>
          </a:prstGeom>
        </p:spPr>
      </p:pic>
      <p:sp>
        <p:nvSpPr>
          <p:cNvPr id="16" name="Rectangle 15"/>
          <p:cNvSpPr/>
          <p:nvPr userDrawn="1"/>
        </p:nvSpPr>
        <p:spPr>
          <a:xfrm>
            <a:off x="0" y="647700"/>
            <a:ext cx="9144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7" name="Picture 16" descr="WIPRO PPT Design.jp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21" y="4471039"/>
            <a:ext cx="9133758" cy="2171061"/>
          </a:xfrm>
          <a:prstGeom prst="rect">
            <a:avLst/>
          </a:prstGeom>
        </p:spPr>
      </p:pic>
      <p:sp>
        <p:nvSpPr>
          <p:cNvPr id="23" name="Text Placeholder 56"/>
          <p:cNvSpPr>
            <a:spLocks noGrp="1"/>
          </p:cNvSpPr>
          <p:nvPr>
            <p:ph type="body" sz="quarter" idx="20" hasCustomPrompt="1"/>
          </p:nvPr>
        </p:nvSpPr>
        <p:spPr>
          <a:xfrm>
            <a:off x="4700110" y="2589327"/>
            <a:ext cx="4158442" cy="373330"/>
          </a:xfrm>
        </p:spPr>
        <p:txBody>
          <a:bodyPr>
            <a:noAutofit/>
          </a:bodyPr>
          <a:lstStyle>
            <a:lvl1pPr marL="0" indent="0" algn="l">
              <a:buNone/>
              <a:defRPr kumimoji="0" lang="en-I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n-US" dirty="0" smtClean="0"/>
              <a:t>Your Name</a:t>
            </a:r>
            <a:endParaRPr lang="en-IN" dirty="0"/>
          </a:p>
        </p:txBody>
      </p:sp>
      <p:sp>
        <p:nvSpPr>
          <p:cNvPr id="24" name="Text Placeholder 56"/>
          <p:cNvSpPr>
            <a:spLocks noGrp="1"/>
          </p:cNvSpPr>
          <p:nvPr>
            <p:ph type="body" sz="quarter" idx="21" hasCustomPrompt="1"/>
          </p:nvPr>
        </p:nvSpPr>
        <p:spPr>
          <a:xfrm>
            <a:off x="4700110" y="3519388"/>
            <a:ext cx="4158442" cy="314777"/>
          </a:xfrm>
        </p:spPr>
        <p:txBody>
          <a:bodyPr>
            <a:noAutofit/>
          </a:bodyPr>
          <a:lstStyle>
            <a:lvl1pPr algn="l">
              <a:buNone/>
              <a:defRPr kumimoji="0" lang="en-I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n-US" dirty="0" smtClean="0"/>
              <a:t>Email ID</a:t>
            </a:r>
            <a:endParaRPr lang="en-IN" dirty="0"/>
          </a:p>
        </p:txBody>
      </p:sp>
      <p:sp>
        <p:nvSpPr>
          <p:cNvPr id="10" name="Title 3"/>
          <p:cNvSpPr>
            <a:spLocks noGrp="1"/>
          </p:cNvSpPr>
          <p:nvPr>
            <p:ph type="ctrTitle" hasCustomPrompt="1"/>
          </p:nvPr>
        </p:nvSpPr>
        <p:spPr>
          <a:xfrm>
            <a:off x="4700110" y="1767649"/>
            <a:ext cx="4203553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Thank you</a:t>
            </a:r>
            <a:endParaRPr lang="en-US" dirty="0"/>
          </a:p>
        </p:txBody>
      </p:sp>
      <p:cxnSp>
        <p:nvCxnSpPr>
          <p:cNvPr id="11" name="Straight Connector 10"/>
          <p:cNvCxnSpPr/>
          <p:nvPr userDrawn="1"/>
        </p:nvCxnSpPr>
        <p:spPr>
          <a:xfrm rot="5400000">
            <a:off x="2964607" y="2781258"/>
            <a:ext cx="2754000" cy="1588"/>
          </a:xfrm>
          <a:prstGeom prst="line">
            <a:avLst/>
          </a:prstGeom>
          <a:ln w="19050">
            <a:solidFill>
              <a:srgbClr val="B6B6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56"/>
          <p:cNvSpPr>
            <a:spLocks noGrp="1"/>
          </p:cNvSpPr>
          <p:nvPr>
            <p:ph type="body" sz="quarter" idx="22" hasCustomPrompt="1"/>
          </p:nvPr>
        </p:nvSpPr>
        <p:spPr>
          <a:xfrm>
            <a:off x="4706206" y="3052623"/>
            <a:ext cx="4158442" cy="373330"/>
          </a:xfrm>
        </p:spPr>
        <p:txBody>
          <a:bodyPr>
            <a:noAutofit/>
          </a:bodyPr>
          <a:lstStyle>
            <a:lvl1pPr marL="0" indent="0" algn="l">
              <a:buNone/>
              <a:defRPr kumimoji="0" lang="en-I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n-US" dirty="0" smtClean="0"/>
              <a:t>Designation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80979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1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44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40.xml"/><Relationship Id="rId2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24" Type="http://schemas.openxmlformats.org/officeDocument/2006/relationships/theme" Target="../theme/theme2.xml"/><Relationship Id="rId5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8.xml"/><Relationship Id="rId23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33.xml"/><Relationship Id="rId19" Type="http://schemas.openxmlformats.org/officeDocument/2006/relationships/slideLayout" Target="../slideLayouts/slideLayout42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Relationship Id="rId22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09154"/>
            <a:ext cx="822960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lvl="0" eaLnBrk="0" hangingPunct="0">
              <a:spcBef>
                <a:spcPct val="20000"/>
              </a:spcBef>
            </a:pPr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4964"/>
            <a:ext cx="8229600" cy="514826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 txBox="1">
            <a:spLocks/>
          </p:cNvSpPr>
          <p:nvPr/>
        </p:nvSpPr>
        <p:spPr>
          <a:xfrm>
            <a:off x="3017520" y="6660506"/>
            <a:ext cx="3108960" cy="18288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u="none" dirty="0" smtClean="0">
                <a:solidFill>
                  <a:schemeClr val="tx1"/>
                </a:solidFill>
              </a:rPr>
              <a:t>© 2012 WIPRO LTD  |  WWW.WIPRO.COM  |  </a:t>
            </a:r>
            <a:r>
              <a:rPr lang="en-US" sz="800" b="0" i="0" u="none" kern="1200" dirty="0" smtClean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CONFIDENTIAL</a:t>
            </a:r>
            <a:endParaRPr lang="en-US" b="0" u="none" dirty="0">
              <a:solidFill>
                <a:schemeClr val="tx1"/>
              </a:solidFill>
            </a:endParaRPr>
          </a:p>
        </p:txBody>
      </p:sp>
      <p:sp>
        <p:nvSpPr>
          <p:cNvPr id="6" name="Footer Placeholder 4"/>
          <p:cNvSpPr txBox="1">
            <a:spLocks/>
          </p:cNvSpPr>
          <p:nvPr/>
        </p:nvSpPr>
        <p:spPr>
          <a:xfrm>
            <a:off x="10884" y="6647351"/>
            <a:ext cx="360000" cy="148963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5D61087F-CA7B-4F6C-AD54-FCE24029CF22}" type="slidenum">
              <a:rPr lang="en-US" sz="10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l"/>
              <a:t>‹#›</a:t>
            </a:fld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63" name="Group 62"/>
          <p:cNvGrpSpPr/>
          <p:nvPr/>
        </p:nvGrpSpPr>
        <p:grpSpPr>
          <a:xfrm>
            <a:off x="0" y="760413"/>
            <a:ext cx="9145588" cy="25200"/>
            <a:chOff x="0" y="3408363"/>
            <a:chExt cx="9145588" cy="41275"/>
          </a:xfrm>
        </p:grpSpPr>
        <p:sp>
          <p:nvSpPr>
            <p:cNvPr id="64" name="AutoShape 3"/>
            <p:cNvSpPr>
              <a:spLocks noChangeAspect="1" noChangeArrowheads="1" noTextEdit="1"/>
            </p:cNvSpPr>
            <p:nvPr userDrawn="1"/>
          </p:nvSpPr>
          <p:spPr bwMode="auto">
            <a:xfrm>
              <a:off x="0" y="3408363"/>
              <a:ext cx="9144000" cy="41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" name="Rectangle 5"/>
            <p:cNvSpPr>
              <a:spLocks noChangeArrowheads="1"/>
            </p:cNvSpPr>
            <p:nvPr userDrawn="1"/>
          </p:nvSpPr>
          <p:spPr bwMode="auto">
            <a:xfrm>
              <a:off x="0" y="3408363"/>
              <a:ext cx="182563" cy="41275"/>
            </a:xfrm>
            <a:prstGeom prst="rect">
              <a:avLst/>
            </a:prstGeom>
            <a:solidFill>
              <a:srgbClr val="E31E24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" name="Rectangle 6"/>
            <p:cNvSpPr>
              <a:spLocks noChangeArrowheads="1"/>
            </p:cNvSpPr>
            <p:nvPr userDrawn="1"/>
          </p:nvSpPr>
          <p:spPr bwMode="auto">
            <a:xfrm>
              <a:off x="0" y="3408363"/>
              <a:ext cx="365125" cy="41275"/>
            </a:xfrm>
            <a:prstGeom prst="rect">
              <a:avLst/>
            </a:prstGeom>
            <a:solidFill>
              <a:srgbClr val="E31E24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" name="Rectangle 7"/>
            <p:cNvSpPr>
              <a:spLocks noChangeArrowheads="1"/>
            </p:cNvSpPr>
            <p:nvPr userDrawn="1"/>
          </p:nvSpPr>
          <p:spPr bwMode="auto">
            <a:xfrm>
              <a:off x="182563" y="3408363"/>
              <a:ext cx="366713" cy="41275"/>
            </a:xfrm>
            <a:prstGeom prst="rect">
              <a:avLst/>
            </a:prstGeom>
            <a:solidFill>
              <a:srgbClr val="E42C24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" name="Rectangle 8"/>
            <p:cNvSpPr>
              <a:spLocks noChangeArrowheads="1"/>
            </p:cNvSpPr>
            <p:nvPr userDrawn="1"/>
          </p:nvSpPr>
          <p:spPr bwMode="auto">
            <a:xfrm>
              <a:off x="365125" y="3408363"/>
              <a:ext cx="366713" cy="41275"/>
            </a:xfrm>
            <a:prstGeom prst="rect">
              <a:avLst/>
            </a:prstGeom>
            <a:solidFill>
              <a:srgbClr val="E53A24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" name="Rectangle 9"/>
            <p:cNvSpPr>
              <a:spLocks noChangeArrowheads="1"/>
            </p:cNvSpPr>
            <p:nvPr userDrawn="1"/>
          </p:nvSpPr>
          <p:spPr bwMode="auto">
            <a:xfrm>
              <a:off x="549275" y="3408363"/>
              <a:ext cx="365125" cy="41275"/>
            </a:xfrm>
            <a:prstGeom prst="rect">
              <a:avLst/>
            </a:prstGeom>
            <a:solidFill>
              <a:srgbClr val="E7462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" name="Rectangle 10"/>
            <p:cNvSpPr>
              <a:spLocks noChangeArrowheads="1"/>
            </p:cNvSpPr>
            <p:nvPr userDrawn="1"/>
          </p:nvSpPr>
          <p:spPr bwMode="auto">
            <a:xfrm>
              <a:off x="731838" y="3408363"/>
              <a:ext cx="365125" cy="41275"/>
            </a:xfrm>
            <a:prstGeom prst="rect">
              <a:avLst/>
            </a:prstGeom>
            <a:solidFill>
              <a:srgbClr val="E8512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" name="Rectangle 11"/>
            <p:cNvSpPr>
              <a:spLocks noChangeArrowheads="1"/>
            </p:cNvSpPr>
            <p:nvPr userDrawn="1"/>
          </p:nvSpPr>
          <p:spPr bwMode="auto">
            <a:xfrm>
              <a:off x="914400" y="3408363"/>
              <a:ext cx="365125" cy="41275"/>
            </a:xfrm>
            <a:prstGeom prst="rect">
              <a:avLst/>
            </a:prstGeom>
            <a:solidFill>
              <a:srgbClr val="EA5D21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" name="Rectangle 12"/>
            <p:cNvSpPr>
              <a:spLocks noChangeArrowheads="1"/>
            </p:cNvSpPr>
            <p:nvPr userDrawn="1"/>
          </p:nvSpPr>
          <p:spPr bwMode="auto">
            <a:xfrm>
              <a:off x="1096963" y="3408363"/>
              <a:ext cx="366713" cy="41275"/>
            </a:xfrm>
            <a:prstGeom prst="rect">
              <a:avLst/>
            </a:prstGeom>
            <a:solidFill>
              <a:srgbClr val="EC691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" name="Rectangle 13"/>
            <p:cNvSpPr>
              <a:spLocks noChangeArrowheads="1"/>
            </p:cNvSpPr>
            <p:nvPr userDrawn="1"/>
          </p:nvSpPr>
          <p:spPr bwMode="auto">
            <a:xfrm>
              <a:off x="1279525" y="3408363"/>
              <a:ext cx="366713" cy="41275"/>
            </a:xfrm>
            <a:prstGeom prst="rect">
              <a:avLst/>
            </a:prstGeom>
            <a:solidFill>
              <a:srgbClr val="EE741D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" name="Rectangle 14"/>
            <p:cNvSpPr>
              <a:spLocks noChangeArrowheads="1"/>
            </p:cNvSpPr>
            <p:nvPr userDrawn="1"/>
          </p:nvSpPr>
          <p:spPr bwMode="auto">
            <a:xfrm>
              <a:off x="1463675" y="3408363"/>
              <a:ext cx="365125" cy="41275"/>
            </a:xfrm>
            <a:prstGeom prst="rect">
              <a:avLst/>
            </a:prstGeom>
            <a:solidFill>
              <a:srgbClr val="EF7E1A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" name="Rectangle 15"/>
            <p:cNvSpPr>
              <a:spLocks noChangeArrowheads="1"/>
            </p:cNvSpPr>
            <p:nvPr userDrawn="1"/>
          </p:nvSpPr>
          <p:spPr bwMode="auto">
            <a:xfrm>
              <a:off x="1646238" y="3408363"/>
              <a:ext cx="365125" cy="41275"/>
            </a:xfrm>
            <a:prstGeom prst="rect">
              <a:avLst/>
            </a:prstGeom>
            <a:solidFill>
              <a:srgbClr val="F18817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" name="Rectangle 16"/>
            <p:cNvSpPr>
              <a:spLocks noChangeArrowheads="1"/>
            </p:cNvSpPr>
            <p:nvPr userDrawn="1"/>
          </p:nvSpPr>
          <p:spPr bwMode="auto">
            <a:xfrm>
              <a:off x="1828800" y="3408363"/>
              <a:ext cx="365125" cy="41275"/>
            </a:xfrm>
            <a:prstGeom prst="rect">
              <a:avLst/>
            </a:prstGeom>
            <a:solidFill>
              <a:srgbClr val="F39314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" name="Rectangle 17"/>
            <p:cNvSpPr>
              <a:spLocks noChangeArrowheads="1"/>
            </p:cNvSpPr>
            <p:nvPr userDrawn="1"/>
          </p:nvSpPr>
          <p:spPr bwMode="auto">
            <a:xfrm>
              <a:off x="2011363" y="3408363"/>
              <a:ext cx="366713" cy="41275"/>
            </a:xfrm>
            <a:prstGeom prst="rect">
              <a:avLst/>
            </a:prstGeom>
            <a:solidFill>
              <a:srgbClr val="F49C0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8" name="Rectangle 18"/>
            <p:cNvSpPr>
              <a:spLocks noChangeArrowheads="1"/>
            </p:cNvSpPr>
            <p:nvPr userDrawn="1"/>
          </p:nvSpPr>
          <p:spPr bwMode="auto">
            <a:xfrm>
              <a:off x="2193925" y="3408363"/>
              <a:ext cx="366713" cy="41275"/>
            </a:xfrm>
            <a:prstGeom prst="rect">
              <a:avLst/>
            </a:prstGeom>
            <a:solidFill>
              <a:srgbClr val="F6A607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9" name="Rectangle 19"/>
            <p:cNvSpPr>
              <a:spLocks noChangeArrowheads="1"/>
            </p:cNvSpPr>
            <p:nvPr userDrawn="1"/>
          </p:nvSpPr>
          <p:spPr bwMode="auto">
            <a:xfrm>
              <a:off x="2378075" y="3408363"/>
              <a:ext cx="365125" cy="41275"/>
            </a:xfrm>
            <a:prstGeom prst="rect">
              <a:avLst/>
            </a:prstGeom>
            <a:solidFill>
              <a:srgbClr val="F8B00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0" name="Rectangle 20"/>
            <p:cNvSpPr>
              <a:spLocks noChangeArrowheads="1"/>
            </p:cNvSpPr>
            <p:nvPr userDrawn="1"/>
          </p:nvSpPr>
          <p:spPr bwMode="auto">
            <a:xfrm>
              <a:off x="2560638" y="3408363"/>
              <a:ext cx="365125" cy="41275"/>
            </a:xfrm>
            <a:prstGeom prst="rect">
              <a:avLst/>
            </a:prstGeom>
            <a:solidFill>
              <a:srgbClr val="FBBA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1" name="Rectangle 21"/>
            <p:cNvSpPr>
              <a:spLocks noChangeArrowheads="1"/>
            </p:cNvSpPr>
            <p:nvPr userDrawn="1"/>
          </p:nvSpPr>
          <p:spPr bwMode="auto">
            <a:xfrm>
              <a:off x="2743200" y="3408363"/>
              <a:ext cx="365125" cy="41275"/>
            </a:xfrm>
            <a:prstGeom prst="rect">
              <a:avLst/>
            </a:prstGeom>
            <a:solidFill>
              <a:srgbClr val="FBBB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2" name="Rectangle 22"/>
            <p:cNvSpPr>
              <a:spLocks noChangeArrowheads="1"/>
            </p:cNvSpPr>
            <p:nvPr userDrawn="1"/>
          </p:nvSpPr>
          <p:spPr bwMode="auto">
            <a:xfrm>
              <a:off x="2925763" y="3408363"/>
              <a:ext cx="366713" cy="41275"/>
            </a:xfrm>
            <a:prstGeom prst="rect">
              <a:avLst/>
            </a:prstGeom>
            <a:solidFill>
              <a:srgbClr val="FBBD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3" name="Rectangle 23"/>
            <p:cNvSpPr>
              <a:spLocks noChangeArrowheads="1"/>
            </p:cNvSpPr>
            <p:nvPr userDrawn="1"/>
          </p:nvSpPr>
          <p:spPr bwMode="auto">
            <a:xfrm>
              <a:off x="3108325" y="3408363"/>
              <a:ext cx="366713" cy="41275"/>
            </a:xfrm>
            <a:prstGeom prst="rect">
              <a:avLst/>
            </a:prstGeom>
            <a:solidFill>
              <a:srgbClr val="FCBF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4" name="Rectangle 24"/>
            <p:cNvSpPr>
              <a:spLocks noChangeArrowheads="1"/>
            </p:cNvSpPr>
            <p:nvPr userDrawn="1"/>
          </p:nvSpPr>
          <p:spPr bwMode="auto">
            <a:xfrm>
              <a:off x="3292475" y="3408363"/>
              <a:ext cx="365125" cy="41275"/>
            </a:xfrm>
            <a:prstGeom prst="rect">
              <a:avLst/>
            </a:prstGeom>
            <a:solidFill>
              <a:srgbClr val="FCC0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5" name="Rectangle 25"/>
            <p:cNvSpPr>
              <a:spLocks noChangeArrowheads="1"/>
            </p:cNvSpPr>
            <p:nvPr userDrawn="1"/>
          </p:nvSpPr>
          <p:spPr bwMode="auto">
            <a:xfrm>
              <a:off x="3475038" y="3408363"/>
              <a:ext cx="365125" cy="41275"/>
            </a:xfrm>
            <a:prstGeom prst="rect">
              <a:avLst/>
            </a:prstGeom>
            <a:solidFill>
              <a:srgbClr val="FCC2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6" name="Rectangle 26"/>
            <p:cNvSpPr>
              <a:spLocks noChangeArrowheads="1"/>
            </p:cNvSpPr>
            <p:nvPr userDrawn="1"/>
          </p:nvSpPr>
          <p:spPr bwMode="auto">
            <a:xfrm>
              <a:off x="3657600" y="3408363"/>
              <a:ext cx="365125" cy="41275"/>
            </a:xfrm>
            <a:prstGeom prst="rect">
              <a:avLst/>
            </a:prstGeom>
            <a:solidFill>
              <a:srgbClr val="FDC4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7" name="Rectangle 27"/>
            <p:cNvSpPr>
              <a:spLocks noChangeArrowheads="1"/>
            </p:cNvSpPr>
            <p:nvPr userDrawn="1"/>
          </p:nvSpPr>
          <p:spPr bwMode="auto">
            <a:xfrm>
              <a:off x="3840163" y="3408363"/>
              <a:ext cx="366713" cy="41275"/>
            </a:xfrm>
            <a:prstGeom prst="rect">
              <a:avLst/>
            </a:prstGeom>
            <a:solidFill>
              <a:srgbClr val="FDC6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8" name="Rectangle 28"/>
            <p:cNvSpPr>
              <a:spLocks noChangeArrowheads="1"/>
            </p:cNvSpPr>
            <p:nvPr userDrawn="1"/>
          </p:nvSpPr>
          <p:spPr bwMode="auto">
            <a:xfrm>
              <a:off x="4022725" y="3408363"/>
              <a:ext cx="366713" cy="41275"/>
            </a:xfrm>
            <a:prstGeom prst="rect">
              <a:avLst/>
            </a:prstGeom>
            <a:solidFill>
              <a:srgbClr val="FDC7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9" name="Rectangle 29"/>
            <p:cNvSpPr>
              <a:spLocks noChangeArrowheads="1"/>
            </p:cNvSpPr>
            <p:nvPr userDrawn="1"/>
          </p:nvSpPr>
          <p:spPr bwMode="auto">
            <a:xfrm>
              <a:off x="4206875" y="3408363"/>
              <a:ext cx="365125" cy="41275"/>
            </a:xfrm>
            <a:prstGeom prst="rect">
              <a:avLst/>
            </a:prstGeom>
            <a:solidFill>
              <a:srgbClr val="FEC9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0" name="Rectangle 30"/>
            <p:cNvSpPr>
              <a:spLocks noChangeArrowheads="1"/>
            </p:cNvSpPr>
            <p:nvPr userDrawn="1"/>
          </p:nvSpPr>
          <p:spPr bwMode="auto">
            <a:xfrm>
              <a:off x="4389438" y="3408363"/>
              <a:ext cx="365125" cy="41275"/>
            </a:xfrm>
            <a:prstGeom prst="rect">
              <a:avLst/>
            </a:prstGeom>
            <a:solidFill>
              <a:srgbClr val="FECB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1" name="Rectangle 31"/>
            <p:cNvSpPr>
              <a:spLocks noChangeArrowheads="1"/>
            </p:cNvSpPr>
            <p:nvPr userDrawn="1"/>
          </p:nvSpPr>
          <p:spPr bwMode="auto">
            <a:xfrm>
              <a:off x="4572000" y="3408363"/>
              <a:ext cx="365125" cy="41275"/>
            </a:xfrm>
            <a:prstGeom prst="rect">
              <a:avLst/>
            </a:prstGeom>
            <a:solidFill>
              <a:srgbClr val="FBCB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2" name="Rectangle 32"/>
            <p:cNvSpPr>
              <a:spLocks noChangeArrowheads="1"/>
            </p:cNvSpPr>
            <p:nvPr userDrawn="1"/>
          </p:nvSpPr>
          <p:spPr bwMode="auto">
            <a:xfrm>
              <a:off x="4754563" y="3408363"/>
              <a:ext cx="366713" cy="41275"/>
            </a:xfrm>
            <a:prstGeom prst="rect">
              <a:avLst/>
            </a:prstGeom>
            <a:solidFill>
              <a:srgbClr val="F3CA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3" name="Rectangle 33"/>
            <p:cNvSpPr>
              <a:spLocks noChangeArrowheads="1"/>
            </p:cNvSpPr>
            <p:nvPr userDrawn="1"/>
          </p:nvSpPr>
          <p:spPr bwMode="auto">
            <a:xfrm>
              <a:off x="4937125" y="3408363"/>
              <a:ext cx="366713" cy="41275"/>
            </a:xfrm>
            <a:prstGeom prst="rect">
              <a:avLst/>
            </a:prstGeom>
            <a:solidFill>
              <a:srgbClr val="ECC8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4" name="Rectangle 34"/>
            <p:cNvSpPr>
              <a:spLocks noChangeArrowheads="1"/>
            </p:cNvSpPr>
            <p:nvPr userDrawn="1"/>
          </p:nvSpPr>
          <p:spPr bwMode="auto">
            <a:xfrm>
              <a:off x="5121275" y="3408363"/>
              <a:ext cx="365125" cy="41275"/>
            </a:xfrm>
            <a:prstGeom prst="rect">
              <a:avLst/>
            </a:prstGeom>
            <a:solidFill>
              <a:srgbClr val="E4C60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5" name="Rectangle 35"/>
            <p:cNvSpPr>
              <a:spLocks noChangeArrowheads="1"/>
            </p:cNvSpPr>
            <p:nvPr userDrawn="1"/>
          </p:nvSpPr>
          <p:spPr bwMode="auto">
            <a:xfrm>
              <a:off x="5303838" y="3408363"/>
              <a:ext cx="365125" cy="41275"/>
            </a:xfrm>
            <a:prstGeom prst="rect">
              <a:avLst/>
            </a:prstGeom>
            <a:solidFill>
              <a:srgbClr val="DCC50A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6" name="Rectangle 36"/>
            <p:cNvSpPr>
              <a:spLocks noChangeArrowheads="1"/>
            </p:cNvSpPr>
            <p:nvPr userDrawn="1"/>
          </p:nvSpPr>
          <p:spPr bwMode="auto">
            <a:xfrm>
              <a:off x="5486400" y="3408363"/>
              <a:ext cx="365125" cy="41275"/>
            </a:xfrm>
            <a:prstGeom prst="rect">
              <a:avLst/>
            </a:prstGeom>
            <a:solidFill>
              <a:srgbClr val="D5C30E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7" name="Rectangle 37"/>
            <p:cNvSpPr>
              <a:spLocks noChangeArrowheads="1"/>
            </p:cNvSpPr>
            <p:nvPr userDrawn="1"/>
          </p:nvSpPr>
          <p:spPr bwMode="auto">
            <a:xfrm>
              <a:off x="5668963" y="3408363"/>
              <a:ext cx="366713" cy="41275"/>
            </a:xfrm>
            <a:prstGeom prst="rect">
              <a:avLst/>
            </a:prstGeom>
            <a:solidFill>
              <a:srgbClr val="CCC117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8" name="Rectangle 38"/>
            <p:cNvSpPr>
              <a:spLocks noChangeArrowheads="1"/>
            </p:cNvSpPr>
            <p:nvPr userDrawn="1"/>
          </p:nvSpPr>
          <p:spPr bwMode="auto">
            <a:xfrm>
              <a:off x="5851525" y="3408363"/>
              <a:ext cx="366713" cy="41275"/>
            </a:xfrm>
            <a:prstGeom prst="rect">
              <a:avLst/>
            </a:prstGeom>
            <a:solidFill>
              <a:srgbClr val="B8BC21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9" name="Rectangle 39"/>
            <p:cNvSpPr>
              <a:spLocks noChangeArrowheads="1"/>
            </p:cNvSpPr>
            <p:nvPr userDrawn="1"/>
          </p:nvSpPr>
          <p:spPr bwMode="auto">
            <a:xfrm>
              <a:off x="6035675" y="3408363"/>
              <a:ext cx="365125" cy="41275"/>
            </a:xfrm>
            <a:prstGeom prst="rect">
              <a:avLst/>
            </a:prstGeom>
            <a:solidFill>
              <a:srgbClr val="A3B829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0" name="Rectangle 40"/>
            <p:cNvSpPr>
              <a:spLocks noChangeArrowheads="1"/>
            </p:cNvSpPr>
            <p:nvPr userDrawn="1"/>
          </p:nvSpPr>
          <p:spPr bwMode="auto">
            <a:xfrm>
              <a:off x="6218238" y="3408363"/>
              <a:ext cx="365125" cy="41275"/>
            </a:xfrm>
            <a:prstGeom prst="rect">
              <a:avLst/>
            </a:prstGeom>
            <a:solidFill>
              <a:srgbClr val="8CB23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1" name="Rectangle 41"/>
            <p:cNvSpPr>
              <a:spLocks noChangeArrowheads="1"/>
            </p:cNvSpPr>
            <p:nvPr userDrawn="1"/>
          </p:nvSpPr>
          <p:spPr bwMode="auto">
            <a:xfrm>
              <a:off x="6400800" y="3408363"/>
              <a:ext cx="365125" cy="41275"/>
            </a:xfrm>
            <a:prstGeom prst="rect">
              <a:avLst/>
            </a:prstGeom>
            <a:solidFill>
              <a:srgbClr val="71AD36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2" name="Rectangle 42"/>
            <p:cNvSpPr>
              <a:spLocks noChangeArrowheads="1"/>
            </p:cNvSpPr>
            <p:nvPr userDrawn="1"/>
          </p:nvSpPr>
          <p:spPr bwMode="auto">
            <a:xfrm>
              <a:off x="6583363" y="3408363"/>
              <a:ext cx="366713" cy="41275"/>
            </a:xfrm>
            <a:prstGeom prst="rect">
              <a:avLst/>
            </a:prstGeom>
            <a:solidFill>
              <a:srgbClr val="51A73B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3" name="Rectangle 43"/>
            <p:cNvSpPr>
              <a:spLocks noChangeArrowheads="1"/>
            </p:cNvSpPr>
            <p:nvPr userDrawn="1"/>
          </p:nvSpPr>
          <p:spPr bwMode="auto">
            <a:xfrm>
              <a:off x="6765925" y="3408363"/>
              <a:ext cx="366713" cy="41275"/>
            </a:xfrm>
            <a:prstGeom prst="rect">
              <a:avLst/>
            </a:prstGeom>
            <a:solidFill>
              <a:srgbClr val="1DA24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4" name="Rectangle 44"/>
            <p:cNvSpPr>
              <a:spLocks noChangeArrowheads="1"/>
            </p:cNvSpPr>
            <p:nvPr userDrawn="1"/>
          </p:nvSpPr>
          <p:spPr bwMode="auto">
            <a:xfrm>
              <a:off x="6950075" y="3408363"/>
              <a:ext cx="365125" cy="41275"/>
            </a:xfrm>
            <a:prstGeom prst="rect">
              <a:avLst/>
            </a:prstGeom>
            <a:solidFill>
              <a:srgbClr val="009D4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5" name="Rectangle 45"/>
            <p:cNvSpPr>
              <a:spLocks noChangeArrowheads="1"/>
            </p:cNvSpPr>
            <p:nvPr userDrawn="1"/>
          </p:nvSpPr>
          <p:spPr bwMode="auto">
            <a:xfrm>
              <a:off x="7132638" y="3408363"/>
              <a:ext cx="365125" cy="41275"/>
            </a:xfrm>
            <a:prstGeom prst="rect">
              <a:avLst/>
            </a:prstGeom>
            <a:solidFill>
              <a:srgbClr val="009846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6" name="Rectangle 46"/>
            <p:cNvSpPr>
              <a:spLocks noChangeArrowheads="1"/>
            </p:cNvSpPr>
            <p:nvPr userDrawn="1"/>
          </p:nvSpPr>
          <p:spPr bwMode="auto">
            <a:xfrm>
              <a:off x="7315200" y="3408363"/>
              <a:ext cx="365125" cy="41275"/>
            </a:xfrm>
            <a:prstGeom prst="rect">
              <a:avLst/>
            </a:prstGeom>
            <a:solidFill>
              <a:srgbClr val="008C57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7" name="Rectangle 47"/>
            <p:cNvSpPr>
              <a:spLocks noChangeArrowheads="1"/>
            </p:cNvSpPr>
            <p:nvPr userDrawn="1"/>
          </p:nvSpPr>
          <p:spPr bwMode="auto">
            <a:xfrm>
              <a:off x="7497763" y="3408363"/>
              <a:ext cx="366713" cy="41275"/>
            </a:xfrm>
            <a:prstGeom prst="rect">
              <a:avLst/>
            </a:prstGeom>
            <a:solidFill>
              <a:srgbClr val="008068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8" name="Rectangle 48"/>
            <p:cNvSpPr>
              <a:spLocks noChangeArrowheads="1"/>
            </p:cNvSpPr>
            <p:nvPr userDrawn="1"/>
          </p:nvSpPr>
          <p:spPr bwMode="auto">
            <a:xfrm>
              <a:off x="7680325" y="3408363"/>
              <a:ext cx="366713" cy="41275"/>
            </a:xfrm>
            <a:prstGeom prst="rect">
              <a:avLst/>
            </a:prstGeom>
            <a:solidFill>
              <a:srgbClr val="007275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9" name="Rectangle 49"/>
            <p:cNvSpPr>
              <a:spLocks noChangeArrowheads="1"/>
            </p:cNvSpPr>
            <p:nvPr userDrawn="1"/>
          </p:nvSpPr>
          <p:spPr bwMode="auto">
            <a:xfrm>
              <a:off x="7864475" y="3408363"/>
              <a:ext cx="365125" cy="41275"/>
            </a:xfrm>
            <a:prstGeom prst="rect">
              <a:avLst/>
            </a:prstGeom>
            <a:solidFill>
              <a:srgbClr val="00637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0" name="Rectangle 50"/>
            <p:cNvSpPr>
              <a:spLocks noChangeArrowheads="1"/>
            </p:cNvSpPr>
            <p:nvPr userDrawn="1"/>
          </p:nvSpPr>
          <p:spPr bwMode="auto">
            <a:xfrm>
              <a:off x="8047038" y="3408363"/>
              <a:ext cx="365125" cy="41275"/>
            </a:xfrm>
            <a:prstGeom prst="rect">
              <a:avLst/>
            </a:prstGeom>
            <a:solidFill>
              <a:srgbClr val="185384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1" name="Rectangle 51"/>
            <p:cNvSpPr>
              <a:spLocks noChangeArrowheads="1"/>
            </p:cNvSpPr>
            <p:nvPr userDrawn="1"/>
          </p:nvSpPr>
          <p:spPr bwMode="auto">
            <a:xfrm>
              <a:off x="8229600" y="3408363"/>
              <a:ext cx="365125" cy="41275"/>
            </a:xfrm>
            <a:prstGeom prst="rect">
              <a:avLst/>
            </a:prstGeom>
            <a:solidFill>
              <a:srgbClr val="2E4285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2" name="Rectangle 52"/>
            <p:cNvSpPr>
              <a:spLocks noChangeArrowheads="1"/>
            </p:cNvSpPr>
            <p:nvPr userDrawn="1"/>
          </p:nvSpPr>
          <p:spPr bwMode="auto">
            <a:xfrm>
              <a:off x="8412163" y="3408363"/>
              <a:ext cx="366713" cy="41275"/>
            </a:xfrm>
            <a:prstGeom prst="rect">
              <a:avLst/>
            </a:prstGeom>
            <a:solidFill>
              <a:srgbClr val="313E85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3" name="Rectangle 53"/>
            <p:cNvSpPr>
              <a:spLocks noChangeArrowheads="1"/>
            </p:cNvSpPr>
            <p:nvPr userDrawn="1"/>
          </p:nvSpPr>
          <p:spPr bwMode="auto">
            <a:xfrm>
              <a:off x="8594725" y="3408363"/>
              <a:ext cx="366713" cy="41275"/>
            </a:xfrm>
            <a:prstGeom prst="rect">
              <a:avLst/>
            </a:prstGeom>
            <a:solidFill>
              <a:srgbClr val="333B85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4" name="Rectangle 54"/>
            <p:cNvSpPr>
              <a:spLocks noChangeArrowheads="1"/>
            </p:cNvSpPr>
            <p:nvPr userDrawn="1"/>
          </p:nvSpPr>
          <p:spPr bwMode="auto">
            <a:xfrm>
              <a:off x="8778875" y="3408363"/>
              <a:ext cx="365125" cy="41275"/>
            </a:xfrm>
            <a:prstGeom prst="rect">
              <a:avLst/>
            </a:prstGeom>
            <a:solidFill>
              <a:srgbClr val="353885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5" name="Rectangle 55"/>
            <p:cNvSpPr>
              <a:spLocks noChangeArrowheads="1"/>
            </p:cNvSpPr>
            <p:nvPr userDrawn="1"/>
          </p:nvSpPr>
          <p:spPr bwMode="auto">
            <a:xfrm>
              <a:off x="8961438" y="3408363"/>
              <a:ext cx="182563" cy="41275"/>
            </a:xfrm>
            <a:prstGeom prst="rect">
              <a:avLst/>
            </a:prstGeom>
            <a:solidFill>
              <a:srgbClr val="393185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6" name="Freeform 56"/>
            <p:cNvSpPr>
              <a:spLocks/>
            </p:cNvSpPr>
            <p:nvPr userDrawn="1"/>
          </p:nvSpPr>
          <p:spPr bwMode="auto">
            <a:xfrm>
              <a:off x="9144000" y="3408363"/>
              <a:ext cx="1588" cy="41275"/>
            </a:xfrm>
            <a:custGeom>
              <a:avLst/>
              <a:gdLst/>
              <a:ahLst/>
              <a:cxnLst>
                <a:cxn ang="0">
                  <a:pos x="0" y="78"/>
                </a:cxn>
                <a:cxn ang="0">
                  <a:pos x="0" y="0"/>
                </a:cxn>
                <a:cxn ang="0">
                  <a:pos x="0" y="78"/>
                </a:cxn>
              </a:cxnLst>
              <a:rect l="0" t="0" r="r" b="b"/>
              <a:pathLst>
                <a:path h="78">
                  <a:moveTo>
                    <a:pt x="0" y="78"/>
                  </a:moveTo>
                  <a:lnTo>
                    <a:pt x="0" y="0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rgbClr val="393185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3813036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07" r:id="rId2"/>
    <p:sldLayoutId id="2147483660" r:id="rId3"/>
    <p:sldLayoutId id="2147483664" r:id="rId4"/>
    <p:sldLayoutId id="2147483663" r:id="rId5"/>
    <p:sldLayoutId id="2147483704" r:id="rId6"/>
    <p:sldLayoutId id="2147483676" r:id="rId7"/>
    <p:sldLayoutId id="2147483677" r:id="rId8"/>
    <p:sldLayoutId id="2147483678" r:id="rId9"/>
    <p:sldLayoutId id="2147483679" r:id="rId10"/>
    <p:sldLayoutId id="2147483681" r:id="rId11"/>
    <p:sldLayoutId id="2147483702" r:id="rId12"/>
    <p:sldLayoutId id="2147483703" r:id="rId13"/>
    <p:sldLayoutId id="2147483686" r:id="rId14"/>
    <p:sldLayoutId id="2147483687" r:id="rId15"/>
    <p:sldLayoutId id="2147483688" r:id="rId16"/>
    <p:sldLayoutId id="2147483691" r:id="rId17"/>
    <p:sldLayoutId id="2147483684" r:id="rId18"/>
    <p:sldLayoutId id="2147483694" r:id="rId19"/>
    <p:sldLayoutId id="2147483661" r:id="rId20"/>
    <p:sldLayoutId id="2147483699" r:id="rId21"/>
    <p:sldLayoutId id="2147483700" r:id="rId22"/>
    <p:sldLayoutId id="2147483706" r:id="rId23"/>
  </p:sldLayoutIdLst>
  <p:timing>
    <p:tnLst>
      <p:par>
        <p:cTn id="1" dur="indefinite" restart="never" nodeType="tmRoot"/>
      </p:par>
    </p:tnLst>
  </p:timing>
  <p:txStyles>
    <p:titleStyle>
      <a:lvl1pPr algn="l" defTabSz="457200" rtl="0" eaLnBrk="1" latinLnBrk="0" hangingPunct="1">
        <a:spcBef>
          <a:spcPct val="0"/>
        </a:spcBef>
        <a:buNone/>
        <a:defRPr lang="en-US" sz="3000" b="1" kern="1200" dirty="0">
          <a:solidFill>
            <a:srgbClr val="595959"/>
          </a:solidFill>
          <a:latin typeface="+mj-lt"/>
          <a:ea typeface="+mn-ea"/>
          <a:cs typeface="Arial"/>
        </a:defRPr>
      </a:lvl1pPr>
    </p:titleStyle>
    <p:bodyStyle>
      <a:lvl1pPr marL="231775" indent="-231775" algn="l" defTabSz="457200" rtl="0" eaLnBrk="1" latinLnBrk="0" hangingPunct="1">
        <a:spcBef>
          <a:spcPct val="20000"/>
        </a:spcBef>
        <a:buFont typeface="Arial"/>
        <a:buChar char="•"/>
        <a:defRPr kumimoji="0" lang="en-US" sz="2000" b="0" i="0" u="none" strike="noStrike" kern="1200" cap="none" spc="0" normalizeH="0" baseline="0" noProof="0" dirty="0" smtClean="0">
          <a:ln>
            <a:noFill/>
          </a:ln>
          <a:solidFill>
            <a:srgbClr val="595959"/>
          </a:solidFill>
          <a:effectLst/>
          <a:uLnTx/>
          <a:uFillTx/>
          <a:latin typeface="+mn-lt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kumimoji="0" lang="en-US" sz="1800" b="0" i="0" u="none" strike="noStrike" kern="1200" cap="none" spc="0" normalizeH="0" baseline="0" noProof="0" dirty="0" smtClean="0">
          <a:ln>
            <a:noFill/>
          </a:ln>
          <a:solidFill>
            <a:srgbClr val="595959"/>
          </a:solidFill>
          <a:effectLst/>
          <a:uLnTx/>
          <a:uFillTx/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kumimoji="0" lang="en-US" sz="1600" b="0" i="0" u="none" strike="noStrike" kern="1200" cap="none" spc="0" normalizeH="0" baseline="0" noProof="0" dirty="0" smtClean="0">
          <a:ln>
            <a:noFill/>
          </a:ln>
          <a:solidFill>
            <a:srgbClr val="595959"/>
          </a:solidFill>
          <a:effectLst/>
          <a:uLnTx/>
          <a:uFillTx/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kumimoji="0" lang="en-US" sz="1400" b="0" i="0" u="none" strike="noStrike" kern="1200" cap="none" spc="0" normalizeH="0" baseline="0" noProof="0" dirty="0" smtClean="0">
          <a:ln>
            <a:noFill/>
          </a:ln>
          <a:solidFill>
            <a:srgbClr val="595959"/>
          </a:solidFill>
          <a:effectLst/>
          <a:uLnTx/>
          <a:uFillTx/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kumimoji="0" lang="en-US" sz="1200" b="0" i="0" u="none" strike="noStrike" kern="1200" cap="none" spc="0" normalizeH="0" baseline="0" noProof="0" dirty="0">
          <a:ln>
            <a:noFill/>
          </a:ln>
          <a:solidFill>
            <a:srgbClr val="595959"/>
          </a:solidFill>
          <a:effectLst/>
          <a:uLnTx/>
          <a:uFillTx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09154"/>
            <a:ext cx="822960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lvl="0" eaLnBrk="0" hangingPunct="0">
              <a:spcBef>
                <a:spcPct val="20000"/>
              </a:spcBef>
            </a:pPr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4964"/>
            <a:ext cx="8229600" cy="514826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 txBox="1">
            <a:spLocks/>
          </p:cNvSpPr>
          <p:nvPr/>
        </p:nvSpPr>
        <p:spPr>
          <a:xfrm>
            <a:off x="2286000" y="6673207"/>
            <a:ext cx="4572000" cy="148963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u="none" dirty="0" smtClean="0">
                <a:solidFill>
                  <a:schemeClr val="tx1"/>
                </a:solidFill>
              </a:rPr>
              <a:t>© 2012 WIPRO LTD  |  WWW.WIPRO.COM  |  </a:t>
            </a:r>
            <a:r>
              <a:rPr lang="en-US" sz="800" b="0" i="0" kern="1200" dirty="0" smtClean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INTERNAL</a:t>
            </a:r>
            <a:endParaRPr lang="en-US" b="0" u="none" dirty="0">
              <a:solidFill>
                <a:schemeClr val="tx1"/>
              </a:solidFill>
            </a:endParaRPr>
          </a:p>
        </p:txBody>
      </p:sp>
      <p:sp>
        <p:nvSpPr>
          <p:cNvPr id="6" name="Footer Placeholder 4"/>
          <p:cNvSpPr txBox="1">
            <a:spLocks/>
          </p:cNvSpPr>
          <p:nvPr/>
        </p:nvSpPr>
        <p:spPr>
          <a:xfrm>
            <a:off x="10884" y="6647351"/>
            <a:ext cx="360000" cy="148963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5D61087F-CA7B-4F6C-AD54-FCE24029CF22}" type="slidenum">
              <a:rPr lang="en-US" sz="10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l"/>
              <a:t>‹#›</a:t>
            </a:fld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63" name="Group 62"/>
          <p:cNvGrpSpPr/>
          <p:nvPr/>
        </p:nvGrpSpPr>
        <p:grpSpPr>
          <a:xfrm>
            <a:off x="0" y="760413"/>
            <a:ext cx="9145588" cy="25200"/>
            <a:chOff x="0" y="3408363"/>
            <a:chExt cx="9145588" cy="41275"/>
          </a:xfrm>
        </p:grpSpPr>
        <p:sp>
          <p:nvSpPr>
            <p:cNvPr id="64" name="AutoShape 3"/>
            <p:cNvSpPr>
              <a:spLocks noChangeAspect="1" noChangeArrowheads="1" noTextEdit="1"/>
            </p:cNvSpPr>
            <p:nvPr userDrawn="1"/>
          </p:nvSpPr>
          <p:spPr bwMode="auto">
            <a:xfrm>
              <a:off x="0" y="3408363"/>
              <a:ext cx="9144000" cy="41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" name="Rectangle 5"/>
            <p:cNvSpPr>
              <a:spLocks noChangeArrowheads="1"/>
            </p:cNvSpPr>
            <p:nvPr userDrawn="1"/>
          </p:nvSpPr>
          <p:spPr bwMode="auto">
            <a:xfrm>
              <a:off x="0" y="3408363"/>
              <a:ext cx="182563" cy="41275"/>
            </a:xfrm>
            <a:prstGeom prst="rect">
              <a:avLst/>
            </a:prstGeom>
            <a:solidFill>
              <a:srgbClr val="E31E24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" name="Rectangle 6"/>
            <p:cNvSpPr>
              <a:spLocks noChangeArrowheads="1"/>
            </p:cNvSpPr>
            <p:nvPr userDrawn="1"/>
          </p:nvSpPr>
          <p:spPr bwMode="auto">
            <a:xfrm>
              <a:off x="0" y="3408363"/>
              <a:ext cx="365125" cy="41275"/>
            </a:xfrm>
            <a:prstGeom prst="rect">
              <a:avLst/>
            </a:prstGeom>
            <a:solidFill>
              <a:srgbClr val="E31E24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" name="Rectangle 7"/>
            <p:cNvSpPr>
              <a:spLocks noChangeArrowheads="1"/>
            </p:cNvSpPr>
            <p:nvPr userDrawn="1"/>
          </p:nvSpPr>
          <p:spPr bwMode="auto">
            <a:xfrm>
              <a:off x="182563" y="3408363"/>
              <a:ext cx="366713" cy="41275"/>
            </a:xfrm>
            <a:prstGeom prst="rect">
              <a:avLst/>
            </a:prstGeom>
            <a:solidFill>
              <a:srgbClr val="E42C24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" name="Rectangle 8"/>
            <p:cNvSpPr>
              <a:spLocks noChangeArrowheads="1"/>
            </p:cNvSpPr>
            <p:nvPr userDrawn="1"/>
          </p:nvSpPr>
          <p:spPr bwMode="auto">
            <a:xfrm>
              <a:off x="365125" y="3408363"/>
              <a:ext cx="366713" cy="41275"/>
            </a:xfrm>
            <a:prstGeom prst="rect">
              <a:avLst/>
            </a:prstGeom>
            <a:solidFill>
              <a:srgbClr val="E53A24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" name="Rectangle 9"/>
            <p:cNvSpPr>
              <a:spLocks noChangeArrowheads="1"/>
            </p:cNvSpPr>
            <p:nvPr userDrawn="1"/>
          </p:nvSpPr>
          <p:spPr bwMode="auto">
            <a:xfrm>
              <a:off x="549275" y="3408363"/>
              <a:ext cx="365125" cy="41275"/>
            </a:xfrm>
            <a:prstGeom prst="rect">
              <a:avLst/>
            </a:prstGeom>
            <a:solidFill>
              <a:srgbClr val="E7462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" name="Rectangle 10"/>
            <p:cNvSpPr>
              <a:spLocks noChangeArrowheads="1"/>
            </p:cNvSpPr>
            <p:nvPr userDrawn="1"/>
          </p:nvSpPr>
          <p:spPr bwMode="auto">
            <a:xfrm>
              <a:off x="731838" y="3408363"/>
              <a:ext cx="365125" cy="41275"/>
            </a:xfrm>
            <a:prstGeom prst="rect">
              <a:avLst/>
            </a:prstGeom>
            <a:solidFill>
              <a:srgbClr val="E8512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" name="Rectangle 11"/>
            <p:cNvSpPr>
              <a:spLocks noChangeArrowheads="1"/>
            </p:cNvSpPr>
            <p:nvPr userDrawn="1"/>
          </p:nvSpPr>
          <p:spPr bwMode="auto">
            <a:xfrm>
              <a:off x="914400" y="3408363"/>
              <a:ext cx="365125" cy="41275"/>
            </a:xfrm>
            <a:prstGeom prst="rect">
              <a:avLst/>
            </a:prstGeom>
            <a:solidFill>
              <a:srgbClr val="EA5D21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" name="Rectangle 12"/>
            <p:cNvSpPr>
              <a:spLocks noChangeArrowheads="1"/>
            </p:cNvSpPr>
            <p:nvPr userDrawn="1"/>
          </p:nvSpPr>
          <p:spPr bwMode="auto">
            <a:xfrm>
              <a:off x="1096963" y="3408363"/>
              <a:ext cx="366713" cy="41275"/>
            </a:xfrm>
            <a:prstGeom prst="rect">
              <a:avLst/>
            </a:prstGeom>
            <a:solidFill>
              <a:srgbClr val="EC691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" name="Rectangle 13"/>
            <p:cNvSpPr>
              <a:spLocks noChangeArrowheads="1"/>
            </p:cNvSpPr>
            <p:nvPr userDrawn="1"/>
          </p:nvSpPr>
          <p:spPr bwMode="auto">
            <a:xfrm>
              <a:off x="1279525" y="3408363"/>
              <a:ext cx="366713" cy="41275"/>
            </a:xfrm>
            <a:prstGeom prst="rect">
              <a:avLst/>
            </a:prstGeom>
            <a:solidFill>
              <a:srgbClr val="EE741D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" name="Rectangle 14"/>
            <p:cNvSpPr>
              <a:spLocks noChangeArrowheads="1"/>
            </p:cNvSpPr>
            <p:nvPr userDrawn="1"/>
          </p:nvSpPr>
          <p:spPr bwMode="auto">
            <a:xfrm>
              <a:off x="1463675" y="3408363"/>
              <a:ext cx="365125" cy="41275"/>
            </a:xfrm>
            <a:prstGeom prst="rect">
              <a:avLst/>
            </a:prstGeom>
            <a:solidFill>
              <a:srgbClr val="EF7E1A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" name="Rectangle 15"/>
            <p:cNvSpPr>
              <a:spLocks noChangeArrowheads="1"/>
            </p:cNvSpPr>
            <p:nvPr userDrawn="1"/>
          </p:nvSpPr>
          <p:spPr bwMode="auto">
            <a:xfrm>
              <a:off x="1646238" y="3408363"/>
              <a:ext cx="365125" cy="41275"/>
            </a:xfrm>
            <a:prstGeom prst="rect">
              <a:avLst/>
            </a:prstGeom>
            <a:solidFill>
              <a:srgbClr val="F18817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" name="Rectangle 16"/>
            <p:cNvSpPr>
              <a:spLocks noChangeArrowheads="1"/>
            </p:cNvSpPr>
            <p:nvPr userDrawn="1"/>
          </p:nvSpPr>
          <p:spPr bwMode="auto">
            <a:xfrm>
              <a:off x="1828800" y="3408363"/>
              <a:ext cx="365125" cy="41275"/>
            </a:xfrm>
            <a:prstGeom prst="rect">
              <a:avLst/>
            </a:prstGeom>
            <a:solidFill>
              <a:srgbClr val="F39314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" name="Rectangle 17"/>
            <p:cNvSpPr>
              <a:spLocks noChangeArrowheads="1"/>
            </p:cNvSpPr>
            <p:nvPr userDrawn="1"/>
          </p:nvSpPr>
          <p:spPr bwMode="auto">
            <a:xfrm>
              <a:off x="2011363" y="3408363"/>
              <a:ext cx="366713" cy="41275"/>
            </a:xfrm>
            <a:prstGeom prst="rect">
              <a:avLst/>
            </a:prstGeom>
            <a:solidFill>
              <a:srgbClr val="F49C0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8" name="Rectangle 18"/>
            <p:cNvSpPr>
              <a:spLocks noChangeArrowheads="1"/>
            </p:cNvSpPr>
            <p:nvPr userDrawn="1"/>
          </p:nvSpPr>
          <p:spPr bwMode="auto">
            <a:xfrm>
              <a:off x="2193925" y="3408363"/>
              <a:ext cx="366713" cy="41275"/>
            </a:xfrm>
            <a:prstGeom prst="rect">
              <a:avLst/>
            </a:prstGeom>
            <a:solidFill>
              <a:srgbClr val="F6A607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9" name="Rectangle 19"/>
            <p:cNvSpPr>
              <a:spLocks noChangeArrowheads="1"/>
            </p:cNvSpPr>
            <p:nvPr userDrawn="1"/>
          </p:nvSpPr>
          <p:spPr bwMode="auto">
            <a:xfrm>
              <a:off x="2378075" y="3408363"/>
              <a:ext cx="365125" cy="41275"/>
            </a:xfrm>
            <a:prstGeom prst="rect">
              <a:avLst/>
            </a:prstGeom>
            <a:solidFill>
              <a:srgbClr val="F8B00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0" name="Rectangle 20"/>
            <p:cNvSpPr>
              <a:spLocks noChangeArrowheads="1"/>
            </p:cNvSpPr>
            <p:nvPr userDrawn="1"/>
          </p:nvSpPr>
          <p:spPr bwMode="auto">
            <a:xfrm>
              <a:off x="2560638" y="3408363"/>
              <a:ext cx="365125" cy="41275"/>
            </a:xfrm>
            <a:prstGeom prst="rect">
              <a:avLst/>
            </a:prstGeom>
            <a:solidFill>
              <a:srgbClr val="FBBA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1" name="Rectangle 21"/>
            <p:cNvSpPr>
              <a:spLocks noChangeArrowheads="1"/>
            </p:cNvSpPr>
            <p:nvPr userDrawn="1"/>
          </p:nvSpPr>
          <p:spPr bwMode="auto">
            <a:xfrm>
              <a:off x="2743200" y="3408363"/>
              <a:ext cx="365125" cy="41275"/>
            </a:xfrm>
            <a:prstGeom prst="rect">
              <a:avLst/>
            </a:prstGeom>
            <a:solidFill>
              <a:srgbClr val="FBBB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2" name="Rectangle 22"/>
            <p:cNvSpPr>
              <a:spLocks noChangeArrowheads="1"/>
            </p:cNvSpPr>
            <p:nvPr userDrawn="1"/>
          </p:nvSpPr>
          <p:spPr bwMode="auto">
            <a:xfrm>
              <a:off x="2925763" y="3408363"/>
              <a:ext cx="366713" cy="41275"/>
            </a:xfrm>
            <a:prstGeom prst="rect">
              <a:avLst/>
            </a:prstGeom>
            <a:solidFill>
              <a:srgbClr val="FBBD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3" name="Rectangle 23"/>
            <p:cNvSpPr>
              <a:spLocks noChangeArrowheads="1"/>
            </p:cNvSpPr>
            <p:nvPr userDrawn="1"/>
          </p:nvSpPr>
          <p:spPr bwMode="auto">
            <a:xfrm>
              <a:off x="3108325" y="3408363"/>
              <a:ext cx="366713" cy="41275"/>
            </a:xfrm>
            <a:prstGeom prst="rect">
              <a:avLst/>
            </a:prstGeom>
            <a:solidFill>
              <a:srgbClr val="FCBF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4" name="Rectangle 24"/>
            <p:cNvSpPr>
              <a:spLocks noChangeArrowheads="1"/>
            </p:cNvSpPr>
            <p:nvPr userDrawn="1"/>
          </p:nvSpPr>
          <p:spPr bwMode="auto">
            <a:xfrm>
              <a:off x="3292475" y="3408363"/>
              <a:ext cx="365125" cy="41275"/>
            </a:xfrm>
            <a:prstGeom prst="rect">
              <a:avLst/>
            </a:prstGeom>
            <a:solidFill>
              <a:srgbClr val="FCC0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5" name="Rectangle 25"/>
            <p:cNvSpPr>
              <a:spLocks noChangeArrowheads="1"/>
            </p:cNvSpPr>
            <p:nvPr userDrawn="1"/>
          </p:nvSpPr>
          <p:spPr bwMode="auto">
            <a:xfrm>
              <a:off x="3475038" y="3408363"/>
              <a:ext cx="365125" cy="41275"/>
            </a:xfrm>
            <a:prstGeom prst="rect">
              <a:avLst/>
            </a:prstGeom>
            <a:solidFill>
              <a:srgbClr val="FCC2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6" name="Rectangle 26"/>
            <p:cNvSpPr>
              <a:spLocks noChangeArrowheads="1"/>
            </p:cNvSpPr>
            <p:nvPr userDrawn="1"/>
          </p:nvSpPr>
          <p:spPr bwMode="auto">
            <a:xfrm>
              <a:off x="3657600" y="3408363"/>
              <a:ext cx="365125" cy="41275"/>
            </a:xfrm>
            <a:prstGeom prst="rect">
              <a:avLst/>
            </a:prstGeom>
            <a:solidFill>
              <a:srgbClr val="FDC4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7" name="Rectangle 27"/>
            <p:cNvSpPr>
              <a:spLocks noChangeArrowheads="1"/>
            </p:cNvSpPr>
            <p:nvPr userDrawn="1"/>
          </p:nvSpPr>
          <p:spPr bwMode="auto">
            <a:xfrm>
              <a:off x="3840163" y="3408363"/>
              <a:ext cx="366713" cy="41275"/>
            </a:xfrm>
            <a:prstGeom prst="rect">
              <a:avLst/>
            </a:prstGeom>
            <a:solidFill>
              <a:srgbClr val="FDC6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8" name="Rectangle 28"/>
            <p:cNvSpPr>
              <a:spLocks noChangeArrowheads="1"/>
            </p:cNvSpPr>
            <p:nvPr userDrawn="1"/>
          </p:nvSpPr>
          <p:spPr bwMode="auto">
            <a:xfrm>
              <a:off x="4022725" y="3408363"/>
              <a:ext cx="366713" cy="41275"/>
            </a:xfrm>
            <a:prstGeom prst="rect">
              <a:avLst/>
            </a:prstGeom>
            <a:solidFill>
              <a:srgbClr val="FDC7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9" name="Rectangle 29"/>
            <p:cNvSpPr>
              <a:spLocks noChangeArrowheads="1"/>
            </p:cNvSpPr>
            <p:nvPr userDrawn="1"/>
          </p:nvSpPr>
          <p:spPr bwMode="auto">
            <a:xfrm>
              <a:off x="4206875" y="3408363"/>
              <a:ext cx="365125" cy="41275"/>
            </a:xfrm>
            <a:prstGeom prst="rect">
              <a:avLst/>
            </a:prstGeom>
            <a:solidFill>
              <a:srgbClr val="FEC9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0" name="Rectangle 30"/>
            <p:cNvSpPr>
              <a:spLocks noChangeArrowheads="1"/>
            </p:cNvSpPr>
            <p:nvPr userDrawn="1"/>
          </p:nvSpPr>
          <p:spPr bwMode="auto">
            <a:xfrm>
              <a:off x="4389438" y="3408363"/>
              <a:ext cx="365125" cy="41275"/>
            </a:xfrm>
            <a:prstGeom prst="rect">
              <a:avLst/>
            </a:prstGeom>
            <a:solidFill>
              <a:srgbClr val="FECB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1" name="Rectangle 31"/>
            <p:cNvSpPr>
              <a:spLocks noChangeArrowheads="1"/>
            </p:cNvSpPr>
            <p:nvPr userDrawn="1"/>
          </p:nvSpPr>
          <p:spPr bwMode="auto">
            <a:xfrm>
              <a:off x="4572000" y="3408363"/>
              <a:ext cx="365125" cy="41275"/>
            </a:xfrm>
            <a:prstGeom prst="rect">
              <a:avLst/>
            </a:prstGeom>
            <a:solidFill>
              <a:srgbClr val="FBCB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2" name="Rectangle 32"/>
            <p:cNvSpPr>
              <a:spLocks noChangeArrowheads="1"/>
            </p:cNvSpPr>
            <p:nvPr userDrawn="1"/>
          </p:nvSpPr>
          <p:spPr bwMode="auto">
            <a:xfrm>
              <a:off x="4754563" y="3408363"/>
              <a:ext cx="366713" cy="41275"/>
            </a:xfrm>
            <a:prstGeom prst="rect">
              <a:avLst/>
            </a:prstGeom>
            <a:solidFill>
              <a:srgbClr val="F3CA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3" name="Rectangle 33"/>
            <p:cNvSpPr>
              <a:spLocks noChangeArrowheads="1"/>
            </p:cNvSpPr>
            <p:nvPr userDrawn="1"/>
          </p:nvSpPr>
          <p:spPr bwMode="auto">
            <a:xfrm>
              <a:off x="4937125" y="3408363"/>
              <a:ext cx="366713" cy="41275"/>
            </a:xfrm>
            <a:prstGeom prst="rect">
              <a:avLst/>
            </a:prstGeom>
            <a:solidFill>
              <a:srgbClr val="ECC8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4" name="Rectangle 34"/>
            <p:cNvSpPr>
              <a:spLocks noChangeArrowheads="1"/>
            </p:cNvSpPr>
            <p:nvPr userDrawn="1"/>
          </p:nvSpPr>
          <p:spPr bwMode="auto">
            <a:xfrm>
              <a:off x="5121275" y="3408363"/>
              <a:ext cx="365125" cy="41275"/>
            </a:xfrm>
            <a:prstGeom prst="rect">
              <a:avLst/>
            </a:prstGeom>
            <a:solidFill>
              <a:srgbClr val="E4C60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5" name="Rectangle 35"/>
            <p:cNvSpPr>
              <a:spLocks noChangeArrowheads="1"/>
            </p:cNvSpPr>
            <p:nvPr userDrawn="1"/>
          </p:nvSpPr>
          <p:spPr bwMode="auto">
            <a:xfrm>
              <a:off x="5303838" y="3408363"/>
              <a:ext cx="365125" cy="41275"/>
            </a:xfrm>
            <a:prstGeom prst="rect">
              <a:avLst/>
            </a:prstGeom>
            <a:solidFill>
              <a:srgbClr val="DCC50A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6" name="Rectangle 36"/>
            <p:cNvSpPr>
              <a:spLocks noChangeArrowheads="1"/>
            </p:cNvSpPr>
            <p:nvPr userDrawn="1"/>
          </p:nvSpPr>
          <p:spPr bwMode="auto">
            <a:xfrm>
              <a:off x="5486400" y="3408363"/>
              <a:ext cx="365125" cy="41275"/>
            </a:xfrm>
            <a:prstGeom prst="rect">
              <a:avLst/>
            </a:prstGeom>
            <a:solidFill>
              <a:srgbClr val="D5C30E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7" name="Rectangle 37"/>
            <p:cNvSpPr>
              <a:spLocks noChangeArrowheads="1"/>
            </p:cNvSpPr>
            <p:nvPr userDrawn="1"/>
          </p:nvSpPr>
          <p:spPr bwMode="auto">
            <a:xfrm>
              <a:off x="5668963" y="3408363"/>
              <a:ext cx="366713" cy="41275"/>
            </a:xfrm>
            <a:prstGeom prst="rect">
              <a:avLst/>
            </a:prstGeom>
            <a:solidFill>
              <a:srgbClr val="CCC117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8" name="Rectangle 38"/>
            <p:cNvSpPr>
              <a:spLocks noChangeArrowheads="1"/>
            </p:cNvSpPr>
            <p:nvPr userDrawn="1"/>
          </p:nvSpPr>
          <p:spPr bwMode="auto">
            <a:xfrm>
              <a:off x="5851525" y="3408363"/>
              <a:ext cx="366713" cy="41275"/>
            </a:xfrm>
            <a:prstGeom prst="rect">
              <a:avLst/>
            </a:prstGeom>
            <a:solidFill>
              <a:srgbClr val="B8BC21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9" name="Rectangle 39"/>
            <p:cNvSpPr>
              <a:spLocks noChangeArrowheads="1"/>
            </p:cNvSpPr>
            <p:nvPr userDrawn="1"/>
          </p:nvSpPr>
          <p:spPr bwMode="auto">
            <a:xfrm>
              <a:off x="6035675" y="3408363"/>
              <a:ext cx="365125" cy="41275"/>
            </a:xfrm>
            <a:prstGeom prst="rect">
              <a:avLst/>
            </a:prstGeom>
            <a:solidFill>
              <a:srgbClr val="A3B829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0" name="Rectangle 40"/>
            <p:cNvSpPr>
              <a:spLocks noChangeArrowheads="1"/>
            </p:cNvSpPr>
            <p:nvPr userDrawn="1"/>
          </p:nvSpPr>
          <p:spPr bwMode="auto">
            <a:xfrm>
              <a:off x="6218238" y="3408363"/>
              <a:ext cx="365125" cy="41275"/>
            </a:xfrm>
            <a:prstGeom prst="rect">
              <a:avLst/>
            </a:prstGeom>
            <a:solidFill>
              <a:srgbClr val="8CB23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1" name="Rectangle 41"/>
            <p:cNvSpPr>
              <a:spLocks noChangeArrowheads="1"/>
            </p:cNvSpPr>
            <p:nvPr userDrawn="1"/>
          </p:nvSpPr>
          <p:spPr bwMode="auto">
            <a:xfrm>
              <a:off x="6400800" y="3408363"/>
              <a:ext cx="365125" cy="41275"/>
            </a:xfrm>
            <a:prstGeom prst="rect">
              <a:avLst/>
            </a:prstGeom>
            <a:solidFill>
              <a:srgbClr val="71AD36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2" name="Rectangle 42"/>
            <p:cNvSpPr>
              <a:spLocks noChangeArrowheads="1"/>
            </p:cNvSpPr>
            <p:nvPr userDrawn="1"/>
          </p:nvSpPr>
          <p:spPr bwMode="auto">
            <a:xfrm>
              <a:off x="6583363" y="3408363"/>
              <a:ext cx="366713" cy="41275"/>
            </a:xfrm>
            <a:prstGeom prst="rect">
              <a:avLst/>
            </a:prstGeom>
            <a:solidFill>
              <a:srgbClr val="51A73B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3" name="Rectangle 43"/>
            <p:cNvSpPr>
              <a:spLocks noChangeArrowheads="1"/>
            </p:cNvSpPr>
            <p:nvPr userDrawn="1"/>
          </p:nvSpPr>
          <p:spPr bwMode="auto">
            <a:xfrm>
              <a:off x="6765925" y="3408363"/>
              <a:ext cx="366713" cy="41275"/>
            </a:xfrm>
            <a:prstGeom prst="rect">
              <a:avLst/>
            </a:prstGeom>
            <a:solidFill>
              <a:srgbClr val="1DA24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4" name="Rectangle 44"/>
            <p:cNvSpPr>
              <a:spLocks noChangeArrowheads="1"/>
            </p:cNvSpPr>
            <p:nvPr userDrawn="1"/>
          </p:nvSpPr>
          <p:spPr bwMode="auto">
            <a:xfrm>
              <a:off x="6950075" y="3408363"/>
              <a:ext cx="365125" cy="41275"/>
            </a:xfrm>
            <a:prstGeom prst="rect">
              <a:avLst/>
            </a:prstGeom>
            <a:solidFill>
              <a:srgbClr val="009D4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5" name="Rectangle 45"/>
            <p:cNvSpPr>
              <a:spLocks noChangeArrowheads="1"/>
            </p:cNvSpPr>
            <p:nvPr userDrawn="1"/>
          </p:nvSpPr>
          <p:spPr bwMode="auto">
            <a:xfrm>
              <a:off x="7132638" y="3408363"/>
              <a:ext cx="365125" cy="41275"/>
            </a:xfrm>
            <a:prstGeom prst="rect">
              <a:avLst/>
            </a:prstGeom>
            <a:solidFill>
              <a:srgbClr val="009846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6" name="Rectangle 46"/>
            <p:cNvSpPr>
              <a:spLocks noChangeArrowheads="1"/>
            </p:cNvSpPr>
            <p:nvPr userDrawn="1"/>
          </p:nvSpPr>
          <p:spPr bwMode="auto">
            <a:xfrm>
              <a:off x="7315200" y="3408363"/>
              <a:ext cx="365125" cy="41275"/>
            </a:xfrm>
            <a:prstGeom prst="rect">
              <a:avLst/>
            </a:prstGeom>
            <a:solidFill>
              <a:srgbClr val="008C57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7" name="Rectangle 47"/>
            <p:cNvSpPr>
              <a:spLocks noChangeArrowheads="1"/>
            </p:cNvSpPr>
            <p:nvPr userDrawn="1"/>
          </p:nvSpPr>
          <p:spPr bwMode="auto">
            <a:xfrm>
              <a:off x="7497763" y="3408363"/>
              <a:ext cx="366713" cy="41275"/>
            </a:xfrm>
            <a:prstGeom prst="rect">
              <a:avLst/>
            </a:prstGeom>
            <a:solidFill>
              <a:srgbClr val="008068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8" name="Rectangle 48"/>
            <p:cNvSpPr>
              <a:spLocks noChangeArrowheads="1"/>
            </p:cNvSpPr>
            <p:nvPr userDrawn="1"/>
          </p:nvSpPr>
          <p:spPr bwMode="auto">
            <a:xfrm>
              <a:off x="7680325" y="3408363"/>
              <a:ext cx="366713" cy="41275"/>
            </a:xfrm>
            <a:prstGeom prst="rect">
              <a:avLst/>
            </a:prstGeom>
            <a:solidFill>
              <a:srgbClr val="007275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9" name="Rectangle 49"/>
            <p:cNvSpPr>
              <a:spLocks noChangeArrowheads="1"/>
            </p:cNvSpPr>
            <p:nvPr userDrawn="1"/>
          </p:nvSpPr>
          <p:spPr bwMode="auto">
            <a:xfrm>
              <a:off x="7864475" y="3408363"/>
              <a:ext cx="365125" cy="41275"/>
            </a:xfrm>
            <a:prstGeom prst="rect">
              <a:avLst/>
            </a:prstGeom>
            <a:solidFill>
              <a:srgbClr val="00637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0" name="Rectangle 50"/>
            <p:cNvSpPr>
              <a:spLocks noChangeArrowheads="1"/>
            </p:cNvSpPr>
            <p:nvPr userDrawn="1"/>
          </p:nvSpPr>
          <p:spPr bwMode="auto">
            <a:xfrm>
              <a:off x="8047038" y="3408363"/>
              <a:ext cx="365125" cy="41275"/>
            </a:xfrm>
            <a:prstGeom prst="rect">
              <a:avLst/>
            </a:prstGeom>
            <a:solidFill>
              <a:srgbClr val="185384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1" name="Rectangle 51"/>
            <p:cNvSpPr>
              <a:spLocks noChangeArrowheads="1"/>
            </p:cNvSpPr>
            <p:nvPr userDrawn="1"/>
          </p:nvSpPr>
          <p:spPr bwMode="auto">
            <a:xfrm>
              <a:off x="8229600" y="3408363"/>
              <a:ext cx="365125" cy="41275"/>
            </a:xfrm>
            <a:prstGeom prst="rect">
              <a:avLst/>
            </a:prstGeom>
            <a:solidFill>
              <a:srgbClr val="2E4285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2" name="Rectangle 52"/>
            <p:cNvSpPr>
              <a:spLocks noChangeArrowheads="1"/>
            </p:cNvSpPr>
            <p:nvPr userDrawn="1"/>
          </p:nvSpPr>
          <p:spPr bwMode="auto">
            <a:xfrm>
              <a:off x="8412163" y="3408363"/>
              <a:ext cx="366713" cy="41275"/>
            </a:xfrm>
            <a:prstGeom prst="rect">
              <a:avLst/>
            </a:prstGeom>
            <a:solidFill>
              <a:srgbClr val="313E85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3" name="Rectangle 53"/>
            <p:cNvSpPr>
              <a:spLocks noChangeArrowheads="1"/>
            </p:cNvSpPr>
            <p:nvPr userDrawn="1"/>
          </p:nvSpPr>
          <p:spPr bwMode="auto">
            <a:xfrm>
              <a:off x="8594725" y="3408363"/>
              <a:ext cx="366713" cy="41275"/>
            </a:xfrm>
            <a:prstGeom prst="rect">
              <a:avLst/>
            </a:prstGeom>
            <a:solidFill>
              <a:srgbClr val="333B85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4" name="Rectangle 54"/>
            <p:cNvSpPr>
              <a:spLocks noChangeArrowheads="1"/>
            </p:cNvSpPr>
            <p:nvPr userDrawn="1"/>
          </p:nvSpPr>
          <p:spPr bwMode="auto">
            <a:xfrm>
              <a:off x="8778875" y="3408363"/>
              <a:ext cx="365125" cy="41275"/>
            </a:xfrm>
            <a:prstGeom prst="rect">
              <a:avLst/>
            </a:prstGeom>
            <a:solidFill>
              <a:srgbClr val="353885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5" name="Rectangle 55"/>
            <p:cNvSpPr>
              <a:spLocks noChangeArrowheads="1"/>
            </p:cNvSpPr>
            <p:nvPr userDrawn="1"/>
          </p:nvSpPr>
          <p:spPr bwMode="auto">
            <a:xfrm>
              <a:off x="8961438" y="3408363"/>
              <a:ext cx="182563" cy="41275"/>
            </a:xfrm>
            <a:prstGeom prst="rect">
              <a:avLst/>
            </a:prstGeom>
            <a:solidFill>
              <a:srgbClr val="393185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6" name="Freeform 56"/>
            <p:cNvSpPr>
              <a:spLocks/>
            </p:cNvSpPr>
            <p:nvPr userDrawn="1"/>
          </p:nvSpPr>
          <p:spPr bwMode="auto">
            <a:xfrm>
              <a:off x="9144000" y="3408363"/>
              <a:ext cx="1588" cy="41275"/>
            </a:xfrm>
            <a:custGeom>
              <a:avLst/>
              <a:gdLst/>
              <a:ahLst/>
              <a:cxnLst>
                <a:cxn ang="0">
                  <a:pos x="0" y="78"/>
                </a:cxn>
                <a:cxn ang="0">
                  <a:pos x="0" y="0"/>
                </a:cxn>
                <a:cxn ang="0">
                  <a:pos x="0" y="78"/>
                </a:cxn>
              </a:cxnLst>
              <a:rect l="0" t="0" r="r" b="b"/>
              <a:pathLst>
                <a:path h="78">
                  <a:moveTo>
                    <a:pt x="0" y="78"/>
                  </a:moveTo>
                  <a:lnTo>
                    <a:pt x="0" y="0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rgbClr val="393185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925652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  <p:sldLayoutId id="2147483726" r:id="rId18"/>
    <p:sldLayoutId id="2147483727" r:id="rId19"/>
    <p:sldLayoutId id="2147483728" r:id="rId20"/>
    <p:sldLayoutId id="2147483729" r:id="rId21"/>
    <p:sldLayoutId id="2147483730" r:id="rId22"/>
    <p:sldLayoutId id="2147483731" r:id="rId23"/>
  </p:sldLayoutIdLst>
  <p:timing>
    <p:tnLst>
      <p:par>
        <p:cTn id="1" dur="indefinite" restart="never" nodeType="tmRoot"/>
      </p:par>
    </p:tnLst>
  </p:timing>
  <p:txStyles>
    <p:titleStyle>
      <a:lvl1pPr algn="l" defTabSz="457200" rtl="0" eaLnBrk="1" latinLnBrk="0" hangingPunct="1">
        <a:spcBef>
          <a:spcPct val="0"/>
        </a:spcBef>
        <a:buNone/>
        <a:defRPr lang="en-US" sz="3000" b="1" kern="1200" dirty="0">
          <a:solidFill>
            <a:srgbClr val="595959"/>
          </a:solidFill>
          <a:latin typeface="+mj-lt"/>
          <a:ea typeface="+mn-ea"/>
          <a:cs typeface="Arial"/>
        </a:defRPr>
      </a:lvl1pPr>
    </p:titleStyle>
    <p:bodyStyle>
      <a:lvl1pPr marL="231775" indent="-231775" algn="l" defTabSz="457200" rtl="0" eaLnBrk="1" latinLnBrk="0" hangingPunct="1">
        <a:spcBef>
          <a:spcPct val="20000"/>
        </a:spcBef>
        <a:buFont typeface="Arial"/>
        <a:buChar char="•"/>
        <a:defRPr kumimoji="0" lang="en-US" sz="2000" b="0" i="0" u="none" strike="noStrike" kern="1200" cap="none" spc="0" normalizeH="0" baseline="0" noProof="0" dirty="0" smtClean="0">
          <a:ln>
            <a:noFill/>
          </a:ln>
          <a:solidFill>
            <a:srgbClr val="595959"/>
          </a:solidFill>
          <a:effectLst/>
          <a:uLnTx/>
          <a:uFillTx/>
          <a:latin typeface="+mn-lt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kumimoji="0" lang="en-US" sz="1800" b="0" i="0" u="none" strike="noStrike" kern="1200" cap="none" spc="0" normalizeH="0" baseline="0" noProof="0" dirty="0" smtClean="0">
          <a:ln>
            <a:noFill/>
          </a:ln>
          <a:solidFill>
            <a:srgbClr val="595959"/>
          </a:solidFill>
          <a:effectLst/>
          <a:uLnTx/>
          <a:uFillTx/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kumimoji="0" lang="en-US" sz="1600" b="0" i="0" u="none" strike="noStrike" kern="1200" cap="none" spc="0" normalizeH="0" baseline="0" noProof="0" dirty="0" smtClean="0">
          <a:ln>
            <a:noFill/>
          </a:ln>
          <a:solidFill>
            <a:srgbClr val="595959"/>
          </a:solidFill>
          <a:effectLst/>
          <a:uLnTx/>
          <a:uFillTx/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kumimoji="0" lang="en-US" sz="1400" b="0" i="0" u="none" strike="noStrike" kern="1200" cap="none" spc="0" normalizeH="0" baseline="0" noProof="0" dirty="0" smtClean="0">
          <a:ln>
            <a:noFill/>
          </a:ln>
          <a:solidFill>
            <a:srgbClr val="595959"/>
          </a:solidFill>
          <a:effectLst/>
          <a:uLnTx/>
          <a:uFillTx/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kumimoji="0" lang="en-US" sz="1200" b="0" i="0" u="none" strike="noStrike" kern="1200" cap="none" spc="0" normalizeH="0" baseline="0" noProof="0" dirty="0">
          <a:ln>
            <a:noFill/>
          </a:ln>
          <a:solidFill>
            <a:srgbClr val="595959"/>
          </a:solidFill>
          <a:effectLst/>
          <a:uLnTx/>
          <a:uFillTx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23.jpe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500743" y="2612799"/>
            <a:ext cx="8189231" cy="623887"/>
          </a:xfrm>
        </p:spPr>
        <p:txBody>
          <a:bodyPr>
            <a:normAutofit/>
          </a:bodyPr>
          <a:lstStyle/>
          <a:p>
            <a:r>
              <a:rPr lang="en-IN" dirty="0" smtClean="0"/>
              <a:t>Enhanced PT – IBM </a:t>
            </a:r>
            <a:r>
              <a:rPr lang="en-IN" dirty="0" err="1" smtClean="0"/>
              <a:t>Maximo</a:t>
            </a:r>
            <a:endParaRPr lang="en-IN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500743" y="3290677"/>
            <a:ext cx="8189231" cy="439496"/>
          </a:xfrm>
        </p:spPr>
        <p:txBody>
          <a:bodyPr/>
          <a:lstStyle/>
          <a:p>
            <a:r>
              <a:rPr lang="en-IN" dirty="0" smtClean="0"/>
              <a:t>Illustration of  “next level of visibility” through PT/NFT</a:t>
            </a:r>
            <a:endParaRPr lang="en-IN" dirty="0"/>
          </a:p>
        </p:txBody>
      </p:sp>
      <p:sp>
        <p:nvSpPr>
          <p:cNvPr id="4" name="Text Placeholder 6"/>
          <p:cNvSpPr txBox="1">
            <a:spLocks/>
          </p:cNvSpPr>
          <p:nvPr/>
        </p:nvSpPr>
        <p:spPr>
          <a:xfrm>
            <a:off x="653142" y="4039977"/>
            <a:ext cx="8189231" cy="439496"/>
          </a:xfrm>
          <a:prstGeom prst="rect">
            <a:avLst/>
          </a:prstGeom>
        </p:spPr>
        <p:txBody>
          <a:bodyPr>
            <a:normAutofit/>
          </a:bodyPr>
          <a:lstStyle>
            <a:lvl1pPr marL="231775" indent="-231775" algn="ctr" defTabSz="457200" rtl="0" eaLnBrk="1" latinLnBrk="0" hangingPunct="1">
              <a:spcBef>
                <a:spcPct val="20000"/>
              </a:spcBef>
              <a:buFont typeface="Arial"/>
              <a:buNone/>
              <a:def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lt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 smtClean="0">
                <a:solidFill>
                  <a:srgbClr val="C00000"/>
                </a:solidFill>
              </a:rPr>
              <a:t>IBM </a:t>
            </a:r>
            <a:r>
              <a:rPr lang="en-IN" dirty="0" err="1" smtClean="0">
                <a:solidFill>
                  <a:srgbClr val="C00000"/>
                </a:solidFill>
              </a:rPr>
              <a:t>Maximo</a:t>
            </a:r>
            <a:r>
              <a:rPr lang="en-IN" dirty="0" smtClean="0">
                <a:solidFill>
                  <a:srgbClr val="C00000"/>
                </a:solidFill>
              </a:rPr>
              <a:t> – Implementation for Ticketing workflows</a:t>
            </a:r>
            <a:endParaRPr lang="en-I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7391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142876" y="88900"/>
            <a:ext cx="8734424" cy="553998"/>
          </a:xfrm>
        </p:spPr>
        <p:txBody>
          <a:bodyPr/>
          <a:lstStyle/>
          <a:p>
            <a:r>
              <a:rPr lang="en-US" dirty="0"/>
              <a:t>IBM </a:t>
            </a:r>
            <a:r>
              <a:rPr lang="en-US" dirty="0" err="1"/>
              <a:t>Maximo</a:t>
            </a:r>
            <a:r>
              <a:rPr lang="en-US" dirty="0"/>
              <a:t> – </a:t>
            </a:r>
            <a:r>
              <a:rPr lang="en-US" sz="1600" b="0" dirty="0"/>
              <a:t>Comprehensive asset lifecycle and maintenance management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152400" y="1028700"/>
            <a:ext cx="8813800" cy="51943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Wingdings" pitchFamily="2" charset="2"/>
              <a:buChar char="q"/>
            </a:pPr>
            <a:r>
              <a:rPr lang="en-US" dirty="0" smtClean="0"/>
              <a:t>Implementation of </a:t>
            </a:r>
            <a:r>
              <a:rPr lang="en-US" dirty="0" err="1" smtClean="0"/>
              <a:t>Maximo</a:t>
            </a:r>
            <a:r>
              <a:rPr lang="en-US" dirty="0" smtClean="0"/>
              <a:t> for the Ticketing Platform for a Global </a:t>
            </a:r>
            <a:r>
              <a:rPr lang="en-US" dirty="0"/>
              <a:t>leader in minerals and metals processing </a:t>
            </a:r>
            <a:r>
              <a:rPr lang="en-US" dirty="0" smtClean="0"/>
              <a:t>technology</a:t>
            </a:r>
          </a:p>
          <a:p>
            <a:pPr marL="285750" indent="-285750">
              <a:buFont typeface="Wingdings" pitchFamily="2" charset="2"/>
              <a:buChar char="q"/>
            </a:pPr>
            <a:endParaRPr lang="en-US" dirty="0"/>
          </a:p>
          <a:p>
            <a:pPr marL="285750" indent="-285750">
              <a:buFont typeface="Wingdings" pitchFamily="2" charset="2"/>
              <a:buChar char="q"/>
            </a:pPr>
            <a:r>
              <a:rPr lang="en-US" dirty="0"/>
              <a:t>Platform to </a:t>
            </a:r>
            <a:r>
              <a:rPr lang="en-US" dirty="0" smtClean="0"/>
              <a:t>provide “automation” for business processes in areas of Asset </a:t>
            </a:r>
            <a:r>
              <a:rPr lang="en-US" dirty="0" err="1" smtClean="0"/>
              <a:t>Mgmnt</a:t>
            </a:r>
            <a:r>
              <a:rPr lang="en-US" dirty="0" smtClean="0"/>
              <a:t> and Work management…</a:t>
            </a:r>
          </a:p>
          <a:p>
            <a:pPr marL="285750" indent="-285750">
              <a:buFont typeface="Wingdings" pitchFamily="2" charset="2"/>
              <a:buChar char="q"/>
            </a:pPr>
            <a:endParaRPr lang="en-US" dirty="0"/>
          </a:p>
          <a:p>
            <a:pPr marL="285750" indent="-285750">
              <a:buFont typeface="Wingdings" pitchFamily="2" charset="2"/>
              <a:buChar char="q"/>
            </a:pPr>
            <a:r>
              <a:rPr lang="en-US" dirty="0" smtClean="0"/>
              <a:t>Platform to </a:t>
            </a:r>
            <a:r>
              <a:rPr lang="en-US" dirty="0"/>
              <a:t>be rolled out and used globally across continents for ALL clients and end users of the mining business house…</a:t>
            </a:r>
          </a:p>
          <a:p>
            <a:pPr marL="285750" indent="-285750">
              <a:buFont typeface="Wingdings" pitchFamily="2" charset="2"/>
              <a:buChar char="q"/>
            </a:pPr>
            <a:endParaRPr lang="en-US" dirty="0" smtClean="0"/>
          </a:p>
          <a:p>
            <a:pPr marL="285750" indent="-285750">
              <a:buFont typeface="Wingdings" pitchFamily="2" charset="2"/>
              <a:buChar char="q"/>
            </a:pPr>
            <a:r>
              <a:rPr lang="en-US" dirty="0" smtClean="0"/>
              <a:t>Platform and automation of business processes using SCCD 7.5 in progress</a:t>
            </a:r>
          </a:p>
          <a:p>
            <a:pPr marL="285750" indent="-285750">
              <a:buFont typeface="Wingdings" pitchFamily="2" charset="2"/>
              <a:buChar char="q"/>
            </a:pPr>
            <a:endParaRPr lang="en-US" dirty="0" smtClean="0"/>
          </a:p>
          <a:p>
            <a:pPr marL="285750" indent="-285750">
              <a:buFont typeface="Wingdings" pitchFamily="2" charset="2"/>
              <a:buChar char="q"/>
            </a:pPr>
            <a:r>
              <a:rPr lang="en-US" dirty="0" smtClean="0"/>
              <a:t>Determining </a:t>
            </a:r>
            <a:r>
              <a:rPr lang="en-US" dirty="0"/>
              <a:t>optimal </a:t>
            </a:r>
            <a:r>
              <a:rPr lang="en-US" dirty="0" smtClean="0"/>
              <a:t>infrastructure -  design / deployment of the platform that should scale in view of phased roll-outs: across Geographies and increasing users</a:t>
            </a:r>
          </a:p>
          <a:p>
            <a:pPr marL="285750" indent="-285750">
              <a:buFont typeface="Wingdings" pitchFamily="2" charset="2"/>
              <a:buChar char="q"/>
            </a:pPr>
            <a:endParaRPr lang="en-US" dirty="0" smtClean="0"/>
          </a:p>
          <a:p>
            <a:pPr marL="285750" indent="-285750">
              <a:buFont typeface="Wingdings" pitchFamily="2" charset="2"/>
              <a:buChar char="q"/>
            </a:pPr>
            <a:r>
              <a:rPr lang="en-US" dirty="0" smtClean="0"/>
              <a:t>“Enhanced” PT/NFT to assure that platform is built to fulfill the business objectives</a:t>
            </a:r>
          </a:p>
          <a:p>
            <a:pPr marL="285750" indent="-285750">
              <a:buFont typeface="Wingdings" pitchFamily="2" charset="2"/>
              <a:buChar char="q"/>
            </a:pPr>
            <a:endParaRPr lang="en-US" dirty="0"/>
          </a:p>
          <a:p>
            <a:pPr marL="285750" indent="-285750">
              <a:buFont typeface="Wingdings" pitchFamily="2" charset="2"/>
              <a:buChar char="q"/>
            </a:pPr>
            <a:r>
              <a:rPr lang="en-US" dirty="0" smtClean="0"/>
              <a:t>Performance evaluations through SDLC – Agile mode in this case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2605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269876" y="145140"/>
            <a:ext cx="8229600" cy="553998"/>
          </a:xfrm>
        </p:spPr>
        <p:txBody>
          <a:bodyPr/>
          <a:lstStyle/>
          <a:p>
            <a:r>
              <a:rPr lang="en-US" dirty="0" smtClean="0"/>
              <a:t>Product Implementation – </a:t>
            </a:r>
            <a:r>
              <a:rPr lang="en-US" sz="2000" dirty="0" smtClean="0"/>
              <a:t>Performance Evaluation </a:t>
            </a:r>
            <a:endParaRPr lang="en-US" sz="2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47977" y="827088"/>
            <a:ext cx="8240713" cy="925511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Product comes with</a:t>
            </a:r>
          </a:p>
          <a:p>
            <a:pPr lvl="1"/>
            <a:r>
              <a:rPr lang="en-US" dirty="0"/>
              <a:t>Out of box functionalities</a:t>
            </a:r>
          </a:p>
          <a:p>
            <a:pPr lvl="1"/>
            <a:r>
              <a:rPr lang="en-US" dirty="0" smtClean="0"/>
              <a:t>Standard benchmarks on specified hardware under customary conditions</a:t>
            </a:r>
          </a:p>
          <a:p>
            <a:pPr lvl="1"/>
            <a:endParaRPr 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4244532" y="1938461"/>
            <a:ext cx="4483100" cy="2644397"/>
            <a:chOff x="2324100" y="3028157"/>
            <a:chExt cx="4483100" cy="2644397"/>
          </a:xfrm>
        </p:grpSpPr>
        <p:pic>
          <p:nvPicPr>
            <p:cNvPr id="7171" name="Picture 3" descr="C:\Users\ab275663\Pictures\customization 1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60235" y="3173413"/>
              <a:ext cx="644965" cy="9159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173" name="Picture 5" descr="C:\Users\ab275663\Pictures\soft product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54400" y="3173413"/>
              <a:ext cx="1943100" cy="19431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170" name="Picture 2" descr="C:\Users\ab275663\Pictures\colour palete.jp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05207" y="3028157"/>
              <a:ext cx="859017" cy="8326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172" name="Picture 4" descr="C:\Users\ab275663\Pictures\customization 2.jpg"/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89500" y="4384676"/>
              <a:ext cx="1504769" cy="11271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Box 4"/>
            <p:cNvSpPr txBox="1"/>
            <p:nvPr/>
          </p:nvSpPr>
          <p:spPr>
            <a:xfrm>
              <a:off x="3139634" y="4948238"/>
              <a:ext cx="15367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 smtClean="0"/>
                <a:t>Product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181600" y="3788847"/>
              <a:ext cx="16256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Customization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911724" y="5334000"/>
              <a:ext cx="160337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Configuration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324100" y="3994191"/>
              <a:ext cx="13716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Integration</a:t>
              </a:r>
            </a:p>
          </p:txBody>
        </p:sp>
      </p:grpSp>
      <p:sp>
        <p:nvSpPr>
          <p:cNvPr id="14" name="Text Placeholder 2"/>
          <p:cNvSpPr txBox="1">
            <a:spLocks/>
          </p:cNvSpPr>
          <p:nvPr/>
        </p:nvSpPr>
        <p:spPr>
          <a:xfrm>
            <a:off x="35889" y="1859882"/>
            <a:ext cx="4307511" cy="310581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31775" indent="-231775" algn="l" defTabSz="457200" rtl="0" eaLnBrk="1" latinLnBrk="0" hangingPunct="1">
              <a:spcBef>
                <a:spcPct val="20000"/>
              </a:spcBef>
              <a:buClr>
                <a:srgbClr val="0070C0"/>
              </a:buClr>
              <a:buFont typeface="Arial"/>
              <a:buChar char="•"/>
              <a:def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rgbClr val="0070C0"/>
              </a:buClr>
              <a:buFont typeface="Arial" pitchFamily="34" charset="0"/>
              <a:buChar char="•"/>
              <a:def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rgbClr val="0070C0"/>
              </a:buClr>
              <a:buFont typeface="Arial" pitchFamily="34" charset="0"/>
              <a:buChar char="•"/>
              <a:def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rgbClr val="0070C0"/>
              </a:buClr>
              <a:buFont typeface="Arial" pitchFamily="34" charset="0"/>
              <a:buChar char="•"/>
              <a:def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rgbClr val="0070C0"/>
              </a:buClr>
              <a:buFont typeface="Arial" pitchFamily="34" charset="0"/>
              <a:buChar char="•"/>
              <a:def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Product implementation involves:</a:t>
            </a:r>
          </a:p>
          <a:p>
            <a:pPr lvl="1"/>
            <a:r>
              <a:rPr lang="en-US" dirty="0" smtClean="0"/>
              <a:t>Formulating your business processes using out of box + “added” conditions + interfaces with existing components…</a:t>
            </a:r>
          </a:p>
          <a:p>
            <a:pPr lvl="1"/>
            <a:r>
              <a:rPr lang="en-US" dirty="0" smtClean="0"/>
              <a:t>“Performance” of the “core” product is a “given” – can not be “tampered” with</a:t>
            </a:r>
          </a:p>
          <a:p>
            <a:pPr lvl="1"/>
            <a:r>
              <a:rPr lang="en-US" dirty="0" smtClean="0"/>
              <a:t> Need to design – build your requirements with (</a:t>
            </a:r>
            <a:r>
              <a:rPr lang="en-US" dirty="0" err="1" smtClean="0"/>
              <a:t>i</a:t>
            </a:r>
            <a:r>
              <a:rPr lang="en-US" dirty="0" smtClean="0"/>
              <a:t>) “given” from core and (ii) permissible configurations</a:t>
            </a:r>
          </a:p>
          <a:p>
            <a:pPr lvl="1"/>
            <a:endParaRPr lang="en-US" dirty="0"/>
          </a:p>
        </p:txBody>
      </p:sp>
      <p:sp>
        <p:nvSpPr>
          <p:cNvPr id="15" name="Text Placeholder 2"/>
          <p:cNvSpPr txBox="1">
            <a:spLocks/>
          </p:cNvSpPr>
          <p:nvPr/>
        </p:nvSpPr>
        <p:spPr>
          <a:xfrm>
            <a:off x="76200" y="5003800"/>
            <a:ext cx="8966200" cy="1574800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31775" indent="-231775" algn="l" defTabSz="457200" rtl="0" eaLnBrk="1" latinLnBrk="0" hangingPunct="1">
              <a:spcBef>
                <a:spcPct val="20000"/>
              </a:spcBef>
              <a:buClr>
                <a:srgbClr val="0070C0"/>
              </a:buClr>
              <a:buFont typeface="Arial"/>
              <a:buChar char="•"/>
              <a:def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rgbClr val="0070C0"/>
              </a:buClr>
              <a:buFont typeface="Arial" pitchFamily="34" charset="0"/>
              <a:buChar char="•"/>
              <a:def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rgbClr val="0070C0"/>
              </a:buClr>
              <a:buFont typeface="Arial" pitchFamily="34" charset="0"/>
              <a:buChar char="•"/>
              <a:def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rgbClr val="0070C0"/>
              </a:buClr>
              <a:buFont typeface="Arial" pitchFamily="34" charset="0"/>
              <a:buChar char="•"/>
              <a:def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rgbClr val="0070C0"/>
              </a:buClr>
              <a:buFont typeface="Arial" pitchFamily="34" charset="0"/>
              <a:buChar char="•"/>
              <a:def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Product performance evaluation is about:</a:t>
            </a:r>
          </a:p>
          <a:p>
            <a:pPr lvl="1"/>
            <a:r>
              <a:rPr lang="en-US" dirty="0" smtClean="0"/>
              <a:t>How your business processes – their set-up using core and profile of usage – alters the benchmarks… how can you achieve “max possible”…  </a:t>
            </a:r>
          </a:p>
          <a:p>
            <a:pPr lvl="1"/>
            <a:r>
              <a:rPr lang="en-US" dirty="0" smtClean="0"/>
              <a:t>What can be optimal configuration of environment for product in “your” landscape</a:t>
            </a:r>
          </a:p>
          <a:p>
            <a:pPr lvl="1"/>
            <a:r>
              <a:rPr lang="en-US" dirty="0" smtClean="0"/>
              <a:t>What “permissible” settings allow performance gains, how to identify bottlenecks…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001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228600" y="119740"/>
            <a:ext cx="8229600" cy="553998"/>
          </a:xfrm>
        </p:spPr>
        <p:txBody>
          <a:bodyPr/>
          <a:lstStyle/>
          <a:p>
            <a:r>
              <a:rPr lang="en-US" dirty="0" smtClean="0"/>
              <a:t>Ticketing platform: </a:t>
            </a:r>
            <a:r>
              <a:rPr lang="en-US" sz="1800" dirty="0" smtClean="0"/>
              <a:t>Service usage and execution perspective</a:t>
            </a:r>
            <a:endParaRPr lang="en-US" sz="1800" dirty="0"/>
          </a:p>
        </p:txBody>
      </p:sp>
      <p:grpSp>
        <p:nvGrpSpPr>
          <p:cNvPr id="20" name="Group 19"/>
          <p:cNvGrpSpPr/>
          <p:nvPr/>
        </p:nvGrpSpPr>
        <p:grpSpPr>
          <a:xfrm>
            <a:off x="25400" y="1358215"/>
            <a:ext cx="8547100" cy="939800"/>
            <a:chOff x="25400" y="977215"/>
            <a:chExt cx="8547100" cy="939800"/>
          </a:xfrm>
        </p:grpSpPr>
        <p:sp>
          <p:nvSpPr>
            <p:cNvPr id="4" name="TextBox 3"/>
            <p:cNvSpPr txBox="1"/>
            <p:nvPr/>
          </p:nvSpPr>
          <p:spPr>
            <a:xfrm>
              <a:off x="25400" y="1117600"/>
              <a:ext cx="14732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Lifecycle of “process” 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587500" y="977215"/>
              <a:ext cx="1600200" cy="9271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Inception - Creation</a:t>
              </a:r>
              <a:endParaRPr lang="en-US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3302000" y="977215"/>
              <a:ext cx="1600200" cy="9271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Work - Action</a:t>
              </a:r>
              <a:endParaRPr lang="en-US" dirty="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5054600" y="989915"/>
              <a:ext cx="1600200" cy="9271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Escalation – consultation</a:t>
              </a:r>
              <a:endParaRPr lang="en-US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972300" y="989915"/>
              <a:ext cx="1600200" cy="9271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Closure - resolution</a:t>
              </a:r>
              <a:endParaRPr lang="en-US" dirty="0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38100" y="2615515"/>
            <a:ext cx="8420100" cy="919847"/>
            <a:chOff x="38100" y="2018615"/>
            <a:chExt cx="8420100" cy="919847"/>
          </a:xfrm>
        </p:grpSpPr>
        <p:sp>
          <p:nvSpPr>
            <p:cNvPr id="11" name="Frame 10"/>
            <p:cNvSpPr/>
            <p:nvPr/>
          </p:nvSpPr>
          <p:spPr>
            <a:xfrm>
              <a:off x="1689100" y="2018615"/>
              <a:ext cx="2171700" cy="318185"/>
            </a:xfrm>
            <a:prstGeom prst="fram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solidFill>
                    <a:schemeClr val="tx1"/>
                  </a:solidFill>
                </a:rPr>
                <a:t>CSR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2" name="Frame 11"/>
            <p:cNvSpPr/>
            <p:nvPr/>
          </p:nvSpPr>
          <p:spPr>
            <a:xfrm>
              <a:off x="3187700" y="2286000"/>
              <a:ext cx="1714500" cy="317500"/>
            </a:xfrm>
            <a:prstGeom prst="fram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RSC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Frame 12"/>
            <p:cNvSpPr/>
            <p:nvPr/>
          </p:nvSpPr>
          <p:spPr>
            <a:xfrm>
              <a:off x="2209800" y="2679700"/>
              <a:ext cx="3644900" cy="254000"/>
            </a:xfrm>
            <a:prstGeom prst="fram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SPC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Frame 13"/>
            <p:cNvSpPr/>
            <p:nvPr/>
          </p:nvSpPr>
          <p:spPr>
            <a:xfrm>
              <a:off x="1295400" y="2292350"/>
              <a:ext cx="1479550" cy="412750"/>
            </a:xfrm>
            <a:prstGeom prst="fram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SPU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Frame 14"/>
            <p:cNvSpPr/>
            <p:nvPr/>
          </p:nvSpPr>
          <p:spPr>
            <a:xfrm>
              <a:off x="5054600" y="2079625"/>
              <a:ext cx="2959100" cy="365125"/>
            </a:xfrm>
            <a:prstGeom prst="fram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OSC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Frame 15"/>
            <p:cNvSpPr/>
            <p:nvPr/>
          </p:nvSpPr>
          <p:spPr>
            <a:xfrm>
              <a:off x="5492750" y="2420937"/>
              <a:ext cx="1809750" cy="365125"/>
            </a:xfrm>
            <a:prstGeom prst="fram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PL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7" name="Frame 16"/>
            <p:cNvSpPr/>
            <p:nvPr/>
          </p:nvSpPr>
          <p:spPr>
            <a:xfrm>
              <a:off x="6972300" y="2573337"/>
              <a:ext cx="1485900" cy="365125"/>
            </a:xfrm>
            <a:prstGeom prst="fram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GD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8100" y="2033369"/>
              <a:ext cx="1473200" cy="64633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“Actors” in “process” 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0" y="3835400"/>
            <a:ext cx="8261350" cy="1136650"/>
            <a:chOff x="0" y="3022600"/>
            <a:chExt cx="8261350" cy="1136650"/>
          </a:xfrm>
        </p:grpSpPr>
        <p:sp>
          <p:nvSpPr>
            <p:cNvPr id="34" name="Flowchart: Document 33"/>
            <p:cNvSpPr/>
            <p:nvPr/>
          </p:nvSpPr>
          <p:spPr>
            <a:xfrm>
              <a:off x="3657600" y="3060700"/>
              <a:ext cx="1092200" cy="495300"/>
            </a:xfrm>
            <a:prstGeom prst="flowChartDocumen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Search</a:t>
              </a:r>
              <a:endParaRPr lang="en-US" dirty="0"/>
            </a:p>
          </p:txBody>
        </p:sp>
        <p:sp>
          <p:nvSpPr>
            <p:cNvPr id="31" name="Flowchart: Document 30"/>
            <p:cNvSpPr/>
            <p:nvPr/>
          </p:nvSpPr>
          <p:spPr>
            <a:xfrm>
              <a:off x="1295400" y="3162300"/>
              <a:ext cx="2108200" cy="495300"/>
            </a:xfrm>
            <a:prstGeom prst="flowChartDocumen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SR Creation</a:t>
              </a:r>
              <a:endParaRPr lang="en-US" dirty="0"/>
            </a:p>
          </p:txBody>
        </p:sp>
        <p:sp>
          <p:nvSpPr>
            <p:cNvPr id="32" name="Flowchart: Document 31"/>
            <p:cNvSpPr/>
            <p:nvPr/>
          </p:nvSpPr>
          <p:spPr>
            <a:xfrm>
              <a:off x="2952750" y="3473450"/>
              <a:ext cx="2108200" cy="495300"/>
            </a:xfrm>
            <a:prstGeom prst="flowChartDocumen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Incident Creation</a:t>
              </a:r>
              <a:endParaRPr lang="en-US" dirty="0"/>
            </a:p>
          </p:txBody>
        </p:sp>
        <p:sp>
          <p:nvSpPr>
            <p:cNvPr id="33" name="Flowchart: Document 32"/>
            <p:cNvSpPr/>
            <p:nvPr/>
          </p:nvSpPr>
          <p:spPr>
            <a:xfrm>
              <a:off x="4902200" y="3067050"/>
              <a:ext cx="2108200" cy="495300"/>
            </a:xfrm>
            <a:prstGeom prst="flowChartDocumen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Task Creation</a:t>
              </a:r>
              <a:endParaRPr lang="en-US" dirty="0"/>
            </a:p>
          </p:txBody>
        </p:sp>
        <p:sp>
          <p:nvSpPr>
            <p:cNvPr id="35" name="Flowchart: Document 34"/>
            <p:cNvSpPr/>
            <p:nvPr/>
          </p:nvSpPr>
          <p:spPr>
            <a:xfrm>
              <a:off x="6426200" y="3473450"/>
              <a:ext cx="1092200" cy="495300"/>
            </a:xfrm>
            <a:prstGeom prst="flowChartDocumen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Update</a:t>
              </a:r>
              <a:endParaRPr lang="en-US" dirty="0"/>
            </a:p>
          </p:txBody>
        </p:sp>
        <p:sp>
          <p:nvSpPr>
            <p:cNvPr id="36" name="Flowchart: Document 35"/>
            <p:cNvSpPr/>
            <p:nvPr/>
          </p:nvSpPr>
          <p:spPr>
            <a:xfrm>
              <a:off x="7169150" y="3022600"/>
              <a:ext cx="1092200" cy="495300"/>
            </a:xfrm>
            <a:prstGeom prst="flowChartDocumen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Resolve</a:t>
              </a:r>
              <a:endParaRPr lang="en-US" dirty="0"/>
            </a:p>
          </p:txBody>
        </p:sp>
        <p:sp>
          <p:nvSpPr>
            <p:cNvPr id="37" name="Flowchart: Document 36"/>
            <p:cNvSpPr/>
            <p:nvPr/>
          </p:nvSpPr>
          <p:spPr>
            <a:xfrm>
              <a:off x="5168900" y="3663950"/>
              <a:ext cx="1092200" cy="495300"/>
            </a:xfrm>
            <a:prstGeom prst="flowChartDocumen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Escalate</a:t>
              </a:r>
              <a:endParaRPr lang="en-US" dirty="0"/>
            </a:p>
          </p:txBody>
        </p:sp>
        <p:sp>
          <p:nvSpPr>
            <p:cNvPr id="38" name="Flowchart: Document 37"/>
            <p:cNvSpPr/>
            <p:nvPr/>
          </p:nvSpPr>
          <p:spPr>
            <a:xfrm>
              <a:off x="1860550" y="3663950"/>
              <a:ext cx="1092200" cy="495300"/>
            </a:xfrm>
            <a:prstGeom prst="flowChartDocumen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Re-open</a:t>
              </a:r>
              <a:endParaRPr lang="en-US" dirty="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0" y="3162300"/>
              <a:ext cx="1473200" cy="64633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“Activities” in “process” </a:t>
              </a: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25400" y="5049619"/>
            <a:ext cx="8547100" cy="1200329"/>
            <a:chOff x="25400" y="4236819"/>
            <a:chExt cx="8547100" cy="1200329"/>
          </a:xfrm>
        </p:grpSpPr>
        <p:sp>
          <p:nvSpPr>
            <p:cNvPr id="41" name="Flowchart: Multidocument 40"/>
            <p:cNvSpPr/>
            <p:nvPr/>
          </p:nvSpPr>
          <p:spPr>
            <a:xfrm>
              <a:off x="1295400" y="4445000"/>
              <a:ext cx="2711450" cy="596900"/>
            </a:xfrm>
            <a:prstGeom prst="flowChartMultidocumen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Batch jobs</a:t>
              </a:r>
              <a:endParaRPr lang="en-US" dirty="0"/>
            </a:p>
          </p:txBody>
        </p:sp>
        <p:sp>
          <p:nvSpPr>
            <p:cNvPr id="42" name="Flowchart: Multidocument 41"/>
            <p:cNvSpPr/>
            <p:nvPr/>
          </p:nvSpPr>
          <p:spPr>
            <a:xfrm>
              <a:off x="3546475" y="4445000"/>
              <a:ext cx="2711450" cy="596900"/>
            </a:xfrm>
            <a:prstGeom prst="flowChartMultidocumen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err="1" smtClean="0"/>
                <a:t>Cron</a:t>
              </a:r>
              <a:r>
                <a:rPr lang="en-US" dirty="0" smtClean="0"/>
                <a:t> jobs</a:t>
              </a:r>
              <a:endParaRPr lang="en-US" dirty="0"/>
            </a:p>
          </p:txBody>
        </p:sp>
        <p:sp>
          <p:nvSpPr>
            <p:cNvPr id="43" name="Flowchart: Multidocument 42"/>
            <p:cNvSpPr/>
            <p:nvPr/>
          </p:nvSpPr>
          <p:spPr>
            <a:xfrm>
              <a:off x="5861050" y="4457700"/>
              <a:ext cx="2711450" cy="596900"/>
            </a:xfrm>
            <a:prstGeom prst="flowChartMultidocumen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Allocation - updates</a:t>
              </a:r>
              <a:endParaRPr lang="en-US" dirty="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25400" y="4236819"/>
              <a:ext cx="1473200" cy="120032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Background “system” chores in “process” </a:t>
              </a:r>
            </a:p>
          </p:txBody>
        </p:sp>
      </p:grpSp>
      <p:sp>
        <p:nvSpPr>
          <p:cNvPr id="46" name="TextBox 45"/>
          <p:cNvSpPr txBox="1"/>
          <p:nvPr/>
        </p:nvSpPr>
        <p:spPr>
          <a:xfrm>
            <a:off x="774700" y="891400"/>
            <a:ext cx="8153400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Business processes catered – automated – managed by-through the platform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7100" y="6249948"/>
            <a:ext cx="8153400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Underlying </a:t>
            </a:r>
            <a:r>
              <a:rPr lang="en-US" dirty="0" err="1" smtClean="0"/>
              <a:t>Maximo</a:t>
            </a:r>
            <a:r>
              <a:rPr lang="en-US" dirty="0" smtClean="0"/>
              <a:t> implementation – design of automation . workflow</a:t>
            </a:r>
          </a:p>
        </p:txBody>
      </p:sp>
    </p:spTree>
    <p:extLst>
      <p:ext uri="{BB962C8B-B14F-4D97-AF65-F5344CB8AC3E}">
        <p14:creationId xmlns:p14="http://schemas.microsoft.com/office/powerpoint/2010/main" val="3287186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Performance Evaluation</a:t>
            </a:r>
            <a:endParaRPr lang="en-US" dirty="0"/>
          </a:p>
        </p:txBody>
      </p:sp>
      <p:grpSp>
        <p:nvGrpSpPr>
          <p:cNvPr id="54" name="Group 53"/>
          <p:cNvGrpSpPr/>
          <p:nvPr/>
        </p:nvGrpSpPr>
        <p:grpSpPr>
          <a:xfrm>
            <a:off x="31195" y="4508738"/>
            <a:ext cx="8803636" cy="2156926"/>
            <a:chOff x="51904" y="5523020"/>
            <a:chExt cx="8803636" cy="1345102"/>
          </a:xfrm>
        </p:grpSpPr>
        <p:grpSp>
          <p:nvGrpSpPr>
            <p:cNvPr id="20" name="Group 19"/>
            <p:cNvGrpSpPr/>
            <p:nvPr/>
          </p:nvGrpSpPr>
          <p:grpSpPr>
            <a:xfrm>
              <a:off x="51904" y="5536516"/>
              <a:ext cx="8730145" cy="1042534"/>
              <a:chOff x="-157645" y="977218"/>
              <a:chExt cx="8730145" cy="2701435"/>
            </a:xfrm>
          </p:grpSpPr>
          <p:sp>
            <p:nvSpPr>
              <p:cNvPr id="21" name="TextBox 20"/>
              <p:cNvSpPr txBox="1"/>
              <p:nvPr/>
            </p:nvSpPr>
            <p:spPr>
              <a:xfrm>
                <a:off x="-157645" y="1525357"/>
                <a:ext cx="1473200" cy="21532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/>
                  <a:t>Test design</a:t>
                </a:r>
              </a:p>
            </p:txBody>
          </p:sp>
          <p:sp>
            <p:nvSpPr>
              <p:cNvPr id="22" name="Rectangle 21"/>
              <p:cNvSpPr/>
              <p:nvPr/>
            </p:nvSpPr>
            <p:spPr>
              <a:xfrm>
                <a:off x="1587500" y="977218"/>
                <a:ext cx="1600200" cy="80557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smtClean="0">
                    <a:solidFill>
                      <a:schemeClr val="tx1"/>
                    </a:solidFill>
                  </a:rPr>
                  <a:t>Inception - Creation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/>
              <p:cNvSpPr/>
              <p:nvPr/>
            </p:nvSpPr>
            <p:spPr>
              <a:xfrm>
                <a:off x="3302000" y="977218"/>
                <a:ext cx="1600200" cy="80557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smtClean="0">
                    <a:solidFill>
                      <a:schemeClr val="tx1"/>
                    </a:solidFill>
                  </a:rPr>
                  <a:t>Work - Action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/>
              <p:cNvSpPr/>
              <p:nvPr/>
            </p:nvSpPr>
            <p:spPr>
              <a:xfrm>
                <a:off x="5054600" y="989918"/>
                <a:ext cx="1600200" cy="80557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smtClean="0">
                    <a:solidFill>
                      <a:schemeClr val="tx1"/>
                    </a:solidFill>
                  </a:rPr>
                  <a:t>Escalation – consultation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/>
              <p:cNvSpPr/>
              <p:nvPr/>
            </p:nvSpPr>
            <p:spPr>
              <a:xfrm>
                <a:off x="6972300" y="989918"/>
                <a:ext cx="1600200" cy="80557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smtClean="0">
                    <a:solidFill>
                      <a:schemeClr val="tx1"/>
                    </a:solidFill>
                  </a:rPr>
                  <a:t>Closure - resolution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6" name="Frame 25"/>
            <p:cNvSpPr/>
            <p:nvPr/>
          </p:nvSpPr>
          <p:spPr>
            <a:xfrm>
              <a:off x="1778000" y="5930215"/>
              <a:ext cx="1619249" cy="199846"/>
            </a:xfrm>
            <a:prstGeom prst="fram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</a:rPr>
                <a:t>CSR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27" name="Frame 26"/>
            <p:cNvSpPr/>
            <p:nvPr/>
          </p:nvSpPr>
          <p:spPr>
            <a:xfrm>
              <a:off x="3524249" y="5917061"/>
              <a:ext cx="1528748" cy="199415"/>
            </a:xfrm>
            <a:prstGeom prst="fram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tx1"/>
                  </a:solidFill>
                </a:rPr>
                <a:t>RSC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8" name="Frame 27"/>
            <p:cNvSpPr/>
            <p:nvPr/>
          </p:nvSpPr>
          <p:spPr>
            <a:xfrm>
              <a:off x="5264148" y="5931350"/>
              <a:ext cx="3517901" cy="190442"/>
            </a:xfrm>
            <a:prstGeom prst="fram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tx1"/>
                  </a:solidFill>
                </a:rPr>
                <a:t>OSC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9" name="Flowchart: Document 28"/>
            <p:cNvSpPr/>
            <p:nvPr/>
          </p:nvSpPr>
          <p:spPr>
            <a:xfrm>
              <a:off x="1781408" y="6235700"/>
              <a:ext cx="1615841" cy="342900"/>
            </a:xfrm>
            <a:prstGeom prst="flowChartDocumen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/>
                <a:t>SR, Task Creation</a:t>
              </a:r>
              <a:endParaRPr lang="en-US" sz="1200" dirty="0"/>
            </a:p>
          </p:txBody>
        </p:sp>
        <p:sp>
          <p:nvSpPr>
            <p:cNvPr id="30" name="Flowchart: Document 29"/>
            <p:cNvSpPr/>
            <p:nvPr/>
          </p:nvSpPr>
          <p:spPr>
            <a:xfrm>
              <a:off x="3509946" y="6210300"/>
              <a:ext cx="1615841" cy="368300"/>
            </a:xfrm>
            <a:prstGeom prst="flowChartDocumen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/>
                <a:t>Escalate, Re-open</a:t>
              </a:r>
              <a:endParaRPr lang="en-US" sz="1200" dirty="0"/>
            </a:p>
          </p:txBody>
        </p:sp>
        <p:sp>
          <p:nvSpPr>
            <p:cNvPr id="31" name="Flowchart: Document 30"/>
            <p:cNvSpPr/>
            <p:nvPr/>
          </p:nvSpPr>
          <p:spPr>
            <a:xfrm>
              <a:off x="5248508" y="6210300"/>
              <a:ext cx="3533541" cy="368300"/>
            </a:xfrm>
            <a:prstGeom prst="flowChartDocumen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/>
                <a:t>Task, Incident creation, Resolve, Close </a:t>
              </a:r>
              <a:endParaRPr lang="en-US" sz="1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3471846" y="5536516"/>
              <a:ext cx="0" cy="1181784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5199046" y="5561916"/>
              <a:ext cx="0" cy="1181784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8855540" y="5523020"/>
              <a:ext cx="0" cy="1181784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1737189" y="5561916"/>
              <a:ext cx="0" cy="1181784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Up Arrow 2"/>
            <p:cNvSpPr/>
            <p:nvPr/>
          </p:nvSpPr>
          <p:spPr>
            <a:xfrm>
              <a:off x="1854751" y="6558356"/>
              <a:ext cx="278849" cy="299644"/>
            </a:xfrm>
            <a:prstGeom prst="up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Up Arrow 34"/>
            <p:cNvSpPr/>
            <p:nvPr/>
          </p:nvSpPr>
          <p:spPr>
            <a:xfrm>
              <a:off x="2248175" y="6554982"/>
              <a:ext cx="278849" cy="299644"/>
            </a:xfrm>
            <a:prstGeom prst="up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Up Arrow 35"/>
            <p:cNvSpPr/>
            <p:nvPr/>
          </p:nvSpPr>
          <p:spPr>
            <a:xfrm>
              <a:off x="3021272" y="6558356"/>
              <a:ext cx="278849" cy="299644"/>
            </a:xfrm>
            <a:prstGeom prst="up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Up Arrow 36"/>
            <p:cNvSpPr/>
            <p:nvPr/>
          </p:nvSpPr>
          <p:spPr>
            <a:xfrm>
              <a:off x="2603224" y="6568478"/>
              <a:ext cx="278849" cy="299644"/>
            </a:xfrm>
            <a:prstGeom prst="up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Up Arrow 41"/>
            <p:cNvSpPr/>
            <p:nvPr/>
          </p:nvSpPr>
          <p:spPr>
            <a:xfrm>
              <a:off x="3644635" y="6554982"/>
              <a:ext cx="278849" cy="299644"/>
            </a:xfrm>
            <a:prstGeom prst="up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Up Arrow 42"/>
            <p:cNvSpPr/>
            <p:nvPr/>
          </p:nvSpPr>
          <p:spPr>
            <a:xfrm>
              <a:off x="4038059" y="6551608"/>
              <a:ext cx="278849" cy="299644"/>
            </a:xfrm>
            <a:prstGeom prst="up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Up Arrow 43"/>
            <p:cNvSpPr/>
            <p:nvPr/>
          </p:nvSpPr>
          <p:spPr>
            <a:xfrm>
              <a:off x="4811156" y="6554982"/>
              <a:ext cx="278849" cy="299644"/>
            </a:xfrm>
            <a:prstGeom prst="up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Up Arrow 44"/>
            <p:cNvSpPr/>
            <p:nvPr/>
          </p:nvSpPr>
          <p:spPr>
            <a:xfrm>
              <a:off x="4393108" y="6565104"/>
              <a:ext cx="278849" cy="299644"/>
            </a:xfrm>
            <a:prstGeom prst="up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Up Arrow 45"/>
            <p:cNvSpPr/>
            <p:nvPr/>
          </p:nvSpPr>
          <p:spPr>
            <a:xfrm>
              <a:off x="5411801" y="6547438"/>
              <a:ext cx="278849" cy="299644"/>
            </a:xfrm>
            <a:prstGeom prst="up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Up Arrow 46"/>
            <p:cNvSpPr/>
            <p:nvPr/>
          </p:nvSpPr>
          <p:spPr>
            <a:xfrm>
              <a:off x="5805225" y="6544064"/>
              <a:ext cx="278849" cy="299644"/>
            </a:xfrm>
            <a:prstGeom prst="up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Up Arrow 47"/>
            <p:cNvSpPr/>
            <p:nvPr/>
          </p:nvSpPr>
          <p:spPr>
            <a:xfrm>
              <a:off x="6578322" y="6547438"/>
              <a:ext cx="278849" cy="299644"/>
            </a:xfrm>
            <a:prstGeom prst="up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Up Arrow 48"/>
            <p:cNvSpPr/>
            <p:nvPr/>
          </p:nvSpPr>
          <p:spPr>
            <a:xfrm>
              <a:off x="6160274" y="6557560"/>
              <a:ext cx="278849" cy="299644"/>
            </a:xfrm>
            <a:prstGeom prst="up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Up Arrow 49"/>
            <p:cNvSpPr/>
            <p:nvPr/>
          </p:nvSpPr>
          <p:spPr>
            <a:xfrm>
              <a:off x="7130771" y="6547438"/>
              <a:ext cx="278849" cy="299644"/>
            </a:xfrm>
            <a:prstGeom prst="up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Up Arrow 50"/>
            <p:cNvSpPr/>
            <p:nvPr/>
          </p:nvSpPr>
          <p:spPr>
            <a:xfrm>
              <a:off x="7524195" y="6544064"/>
              <a:ext cx="278849" cy="299644"/>
            </a:xfrm>
            <a:prstGeom prst="up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Up Arrow 51"/>
            <p:cNvSpPr/>
            <p:nvPr/>
          </p:nvSpPr>
          <p:spPr>
            <a:xfrm>
              <a:off x="8297292" y="6547438"/>
              <a:ext cx="278849" cy="299644"/>
            </a:xfrm>
            <a:prstGeom prst="up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Up Arrow 52"/>
            <p:cNvSpPr/>
            <p:nvPr/>
          </p:nvSpPr>
          <p:spPr>
            <a:xfrm>
              <a:off x="7879244" y="6557560"/>
              <a:ext cx="278849" cy="299644"/>
            </a:xfrm>
            <a:prstGeom prst="up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19690" y="3073400"/>
            <a:ext cx="9032411" cy="1301656"/>
            <a:chOff x="142660" y="2184400"/>
            <a:chExt cx="8728523" cy="2025374"/>
          </a:xfrm>
        </p:grpSpPr>
        <p:sp>
          <p:nvSpPr>
            <p:cNvPr id="17" name="Freeform 16"/>
            <p:cNvSpPr/>
            <p:nvPr/>
          </p:nvSpPr>
          <p:spPr>
            <a:xfrm>
              <a:off x="142660" y="2184400"/>
              <a:ext cx="1391329" cy="2025374"/>
            </a:xfrm>
            <a:custGeom>
              <a:avLst/>
              <a:gdLst>
                <a:gd name="connsiteX0" fmla="*/ 0 w 1672991"/>
                <a:gd name="connsiteY0" fmla="*/ 167299 h 2758735"/>
                <a:gd name="connsiteX1" fmla="*/ 167299 w 1672991"/>
                <a:gd name="connsiteY1" fmla="*/ 0 h 2758735"/>
                <a:gd name="connsiteX2" fmla="*/ 1505692 w 1672991"/>
                <a:gd name="connsiteY2" fmla="*/ 0 h 2758735"/>
                <a:gd name="connsiteX3" fmla="*/ 1672991 w 1672991"/>
                <a:gd name="connsiteY3" fmla="*/ 167299 h 2758735"/>
                <a:gd name="connsiteX4" fmla="*/ 1672991 w 1672991"/>
                <a:gd name="connsiteY4" fmla="*/ 2591436 h 2758735"/>
                <a:gd name="connsiteX5" fmla="*/ 1505692 w 1672991"/>
                <a:gd name="connsiteY5" fmla="*/ 2758735 h 2758735"/>
                <a:gd name="connsiteX6" fmla="*/ 167299 w 1672991"/>
                <a:gd name="connsiteY6" fmla="*/ 2758735 h 2758735"/>
                <a:gd name="connsiteX7" fmla="*/ 0 w 1672991"/>
                <a:gd name="connsiteY7" fmla="*/ 2591436 h 2758735"/>
                <a:gd name="connsiteX8" fmla="*/ 0 w 1672991"/>
                <a:gd name="connsiteY8" fmla="*/ 167299 h 2758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72991" h="2758735">
                  <a:moveTo>
                    <a:pt x="0" y="167299"/>
                  </a:moveTo>
                  <a:cubicBezTo>
                    <a:pt x="0" y="74902"/>
                    <a:pt x="74902" y="0"/>
                    <a:pt x="167299" y="0"/>
                  </a:cubicBezTo>
                  <a:lnTo>
                    <a:pt x="1505692" y="0"/>
                  </a:lnTo>
                  <a:cubicBezTo>
                    <a:pt x="1598089" y="0"/>
                    <a:pt x="1672991" y="74902"/>
                    <a:pt x="1672991" y="167299"/>
                  </a:cubicBezTo>
                  <a:lnTo>
                    <a:pt x="1672991" y="2591436"/>
                  </a:lnTo>
                  <a:cubicBezTo>
                    <a:pt x="1672991" y="2683833"/>
                    <a:pt x="1598089" y="2758735"/>
                    <a:pt x="1505692" y="2758735"/>
                  </a:cubicBezTo>
                  <a:lnTo>
                    <a:pt x="167299" y="2758735"/>
                  </a:lnTo>
                  <a:cubicBezTo>
                    <a:pt x="74902" y="2758735"/>
                    <a:pt x="0" y="2683833"/>
                    <a:pt x="0" y="2591436"/>
                  </a:cubicBezTo>
                  <a:lnTo>
                    <a:pt x="0" y="167299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7100" tIns="87100" rIns="87100" bIns="87100" numCol="1" spcCol="1270" anchor="ctr" anchorCtr="0">
              <a:noAutofit/>
            </a:bodyPr>
            <a:lstStyle/>
            <a:p>
              <a:pPr lvl="0" algn="ctr" defTabSz="4445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b="1" i="0" u="sng" kern="1200" baseline="0" dirty="0" smtClean="0">
                  <a:solidFill>
                    <a:schemeClr val="tx1"/>
                  </a:solidFill>
                </a:rPr>
                <a:t>Test design:</a:t>
              </a:r>
              <a:endParaRPr lang="en-US" sz="1400" kern="1200" dirty="0">
                <a:solidFill>
                  <a:schemeClr val="tx1"/>
                </a:solidFill>
              </a:endParaRPr>
            </a:p>
          </p:txBody>
        </p:sp>
        <p:sp>
          <p:nvSpPr>
            <p:cNvPr id="18" name="Freeform 17"/>
            <p:cNvSpPr/>
            <p:nvPr/>
          </p:nvSpPr>
          <p:spPr>
            <a:xfrm>
              <a:off x="1625832" y="2184400"/>
              <a:ext cx="7245351" cy="1135578"/>
            </a:xfrm>
            <a:custGeom>
              <a:avLst/>
              <a:gdLst>
                <a:gd name="connsiteX0" fmla="*/ 0 w 802778"/>
                <a:gd name="connsiteY0" fmla="*/ 80278 h 2758735"/>
                <a:gd name="connsiteX1" fmla="*/ 80278 w 802778"/>
                <a:gd name="connsiteY1" fmla="*/ 0 h 2758735"/>
                <a:gd name="connsiteX2" fmla="*/ 722500 w 802778"/>
                <a:gd name="connsiteY2" fmla="*/ 0 h 2758735"/>
                <a:gd name="connsiteX3" fmla="*/ 802778 w 802778"/>
                <a:gd name="connsiteY3" fmla="*/ 80278 h 2758735"/>
                <a:gd name="connsiteX4" fmla="*/ 802778 w 802778"/>
                <a:gd name="connsiteY4" fmla="*/ 2678457 h 2758735"/>
                <a:gd name="connsiteX5" fmla="*/ 722500 w 802778"/>
                <a:gd name="connsiteY5" fmla="*/ 2758735 h 2758735"/>
                <a:gd name="connsiteX6" fmla="*/ 80278 w 802778"/>
                <a:gd name="connsiteY6" fmla="*/ 2758735 h 2758735"/>
                <a:gd name="connsiteX7" fmla="*/ 0 w 802778"/>
                <a:gd name="connsiteY7" fmla="*/ 2678457 h 2758735"/>
                <a:gd name="connsiteX8" fmla="*/ 0 w 802778"/>
                <a:gd name="connsiteY8" fmla="*/ 80278 h 2758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2778" h="2758735">
                  <a:moveTo>
                    <a:pt x="0" y="80278"/>
                  </a:moveTo>
                  <a:cubicBezTo>
                    <a:pt x="0" y="35942"/>
                    <a:pt x="35942" y="0"/>
                    <a:pt x="80278" y="0"/>
                  </a:cubicBezTo>
                  <a:lnTo>
                    <a:pt x="722500" y="0"/>
                  </a:lnTo>
                  <a:cubicBezTo>
                    <a:pt x="766836" y="0"/>
                    <a:pt x="802778" y="35942"/>
                    <a:pt x="802778" y="80278"/>
                  </a:cubicBezTo>
                  <a:lnTo>
                    <a:pt x="802778" y="2678457"/>
                  </a:lnTo>
                  <a:cubicBezTo>
                    <a:pt x="802778" y="2722793"/>
                    <a:pt x="766836" y="2758735"/>
                    <a:pt x="722500" y="2758735"/>
                  </a:cubicBezTo>
                  <a:lnTo>
                    <a:pt x="80278" y="2758735"/>
                  </a:lnTo>
                  <a:cubicBezTo>
                    <a:pt x="35942" y="2758735"/>
                    <a:pt x="0" y="2722793"/>
                    <a:pt x="0" y="2678457"/>
                  </a:cubicBezTo>
                  <a:lnTo>
                    <a:pt x="0" y="80278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3993" tIns="53993" rIns="53993" bIns="53993" numCol="1" spcCol="1270" anchor="ctr" anchorCtr="0">
              <a:noAutofit/>
            </a:bodyPr>
            <a:lstStyle/>
            <a:p>
              <a:pPr lvl="0" algn="ctr" defTabSz="3556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b="1" i="0" kern="1200" baseline="0" dirty="0" smtClean="0">
                  <a:solidFill>
                    <a:schemeClr val="tx1"/>
                  </a:solidFill>
                </a:rPr>
                <a:t>Point actions on static/pre-available “infant - adult</a:t>
              </a:r>
              <a:r>
                <a:rPr lang="en-US" sz="1400" b="1" i="0" kern="1200" dirty="0" smtClean="0">
                  <a:solidFill>
                    <a:schemeClr val="tx1"/>
                  </a:solidFill>
                </a:rPr>
                <a:t> process”</a:t>
              </a:r>
              <a:r>
                <a:rPr lang="en-US" sz="1400" b="1" i="0" kern="1200" baseline="0" dirty="0" smtClean="0">
                  <a:solidFill>
                    <a:schemeClr val="tx1"/>
                  </a:solidFill>
                </a:rPr>
                <a:t> at each stage by roles at that stage to take the “process element” to possible  next stage(s) – each</a:t>
              </a:r>
              <a:r>
                <a:rPr lang="en-US" sz="1400" b="1" i="0" kern="1200" dirty="0" smtClean="0">
                  <a:solidFill>
                    <a:schemeClr val="tx1"/>
                  </a:solidFill>
                </a:rPr>
                <a:t> by different set of user ids, requests </a:t>
              </a:r>
              <a:r>
                <a:rPr lang="en-US" sz="1400" b="1" i="0" kern="1200" dirty="0" err="1" smtClean="0">
                  <a:solidFill>
                    <a:schemeClr val="tx1"/>
                  </a:solidFill>
                </a:rPr>
                <a:t>etc</a:t>
              </a:r>
              <a:endParaRPr lang="en-US" sz="1400" b="1" kern="1200" dirty="0">
                <a:solidFill>
                  <a:schemeClr val="tx1"/>
                </a:solidFill>
              </a:endParaRPr>
            </a:p>
          </p:txBody>
        </p:sp>
        <p:sp>
          <p:nvSpPr>
            <p:cNvPr id="19" name="Freeform 18"/>
            <p:cNvSpPr/>
            <p:nvPr/>
          </p:nvSpPr>
          <p:spPr>
            <a:xfrm>
              <a:off x="1625831" y="3352800"/>
              <a:ext cx="7245351" cy="780774"/>
            </a:xfrm>
            <a:custGeom>
              <a:avLst/>
              <a:gdLst>
                <a:gd name="connsiteX0" fmla="*/ 0 w 802778"/>
                <a:gd name="connsiteY0" fmla="*/ 80278 h 2758735"/>
                <a:gd name="connsiteX1" fmla="*/ 80278 w 802778"/>
                <a:gd name="connsiteY1" fmla="*/ 0 h 2758735"/>
                <a:gd name="connsiteX2" fmla="*/ 722500 w 802778"/>
                <a:gd name="connsiteY2" fmla="*/ 0 h 2758735"/>
                <a:gd name="connsiteX3" fmla="*/ 802778 w 802778"/>
                <a:gd name="connsiteY3" fmla="*/ 80278 h 2758735"/>
                <a:gd name="connsiteX4" fmla="*/ 802778 w 802778"/>
                <a:gd name="connsiteY4" fmla="*/ 2678457 h 2758735"/>
                <a:gd name="connsiteX5" fmla="*/ 722500 w 802778"/>
                <a:gd name="connsiteY5" fmla="*/ 2758735 h 2758735"/>
                <a:gd name="connsiteX6" fmla="*/ 80278 w 802778"/>
                <a:gd name="connsiteY6" fmla="*/ 2758735 h 2758735"/>
                <a:gd name="connsiteX7" fmla="*/ 0 w 802778"/>
                <a:gd name="connsiteY7" fmla="*/ 2678457 h 2758735"/>
                <a:gd name="connsiteX8" fmla="*/ 0 w 802778"/>
                <a:gd name="connsiteY8" fmla="*/ 80278 h 2758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2778" h="2758735">
                  <a:moveTo>
                    <a:pt x="0" y="80278"/>
                  </a:moveTo>
                  <a:cubicBezTo>
                    <a:pt x="0" y="35942"/>
                    <a:pt x="35942" y="0"/>
                    <a:pt x="80278" y="0"/>
                  </a:cubicBezTo>
                  <a:lnTo>
                    <a:pt x="722500" y="0"/>
                  </a:lnTo>
                  <a:cubicBezTo>
                    <a:pt x="766836" y="0"/>
                    <a:pt x="802778" y="35942"/>
                    <a:pt x="802778" y="80278"/>
                  </a:cubicBezTo>
                  <a:lnTo>
                    <a:pt x="802778" y="2678457"/>
                  </a:lnTo>
                  <a:cubicBezTo>
                    <a:pt x="802778" y="2722793"/>
                    <a:pt x="766836" y="2758735"/>
                    <a:pt x="722500" y="2758735"/>
                  </a:cubicBezTo>
                  <a:lnTo>
                    <a:pt x="80278" y="2758735"/>
                  </a:lnTo>
                  <a:cubicBezTo>
                    <a:pt x="35942" y="2758735"/>
                    <a:pt x="0" y="2722793"/>
                    <a:pt x="0" y="2678457"/>
                  </a:cubicBezTo>
                  <a:lnTo>
                    <a:pt x="0" y="80278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3993" tIns="53993" rIns="53993" bIns="53993" numCol="1" spcCol="1270" anchor="ctr" anchorCtr="0">
              <a:noAutofit/>
            </a:bodyPr>
            <a:lstStyle/>
            <a:p>
              <a:pPr lvl="0" algn="ctr" defTabSz="3556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kern="1200" dirty="0" smtClean="0">
                  <a:solidFill>
                    <a:schemeClr val="tx1"/>
                  </a:solidFill>
                </a:rPr>
                <a:t>Baseline </a:t>
              </a:r>
              <a:r>
                <a:rPr lang="en-US" sz="1400" kern="1200" dirty="0" smtClean="0">
                  <a:solidFill>
                    <a:schemeClr val="tx1"/>
                  </a:solidFill>
                  <a:sym typeface="Wingdings" pitchFamily="2" charset="2"/>
                </a:rPr>
                <a:t> Stretch  Horizontal &amp; vertical scaling</a:t>
              </a:r>
              <a:endParaRPr lang="en-US" sz="1400" kern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0" y="1511300"/>
            <a:ext cx="9052100" cy="1508792"/>
            <a:chOff x="21223" y="537518"/>
            <a:chExt cx="8728523" cy="2025374"/>
          </a:xfrm>
        </p:grpSpPr>
        <p:sp>
          <p:nvSpPr>
            <p:cNvPr id="40" name="Freeform 39"/>
            <p:cNvSpPr/>
            <p:nvPr/>
          </p:nvSpPr>
          <p:spPr>
            <a:xfrm>
              <a:off x="21223" y="537518"/>
              <a:ext cx="1391329" cy="2025374"/>
            </a:xfrm>
            <a:custGeom>
              <a:avLst/>
              <a:gdLst>
                <a:gd name="connsiteX0" fmla="*/ 0 w 1672991"/>
                <a:gd name="connsiteY0" fmla="*/ 167299 h 2758735"/>
                <a:gd name="connsiteX1" fmla="*/ 167299 w 1672991"/>
                <a:gd name="connsiteY1" fmla="*/ 0 h 2758735"/>
                <a:gd name="connsiteX2" fmla="*/ 1505692 w 1672991"/>
                <a:gd name="connsiteY2" fmla="*/ 0 h 2758735"/>
                <a:gd name="connsiteX3" fmla="*/ 1672991 w 1672991"/>
                <a:gd name="connsiteY3" fmla="*/ 167299 h 2758735"/>
                <a:gd name="connsiteX4" fmla="*/ 1672991 w 1672991"/>
                <a:gd name="connsiteY4" fmla="*/ 2591436 h 2758735"/>
                <a:gd name="connsiteX5" fmla="*/ 1505692 w 1672991"/>
                <a:gd name="connsiteY5" fmla="*/ 2758735 h 2758735"/>
                <a:gd name="connsiteX6" fmla="*/ 167299 w 1672991"/>
                <a:gd name="connsiteY6" fmla="*/ 2758735 h 2758735"/>
                <a:gd name="connsiteX7" fmla="*/ 0 w 1672991"/>
                <a:gd name="connsiteY7" fmla="*/ 2591436 h 2758735"/>
                <a:gd name="connsiteX8" fmla="*/ 0 w 1672991"/>
                <a:gd name="connsiteY8" fmla="*/ 167299 h 2758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72991" h="2758735">
                  <a:moveTo>
                    <a:pt x="0" y="167299"/>
                  </a:moveTo>
                  <a:cubicBezTo>
                    <a:pt x="0" y="74902"/>
                    <a:pt x="74902" y="0"/>
                    <a:pt x="167299" y="0"/>
                  </a:cubicBezTo>
                  <a:lnTo>
                    <a:pt x="1505692" y="0"/>
                  </a:lnTo>
                  <a:cubicBezTo>
                    <a:pt x="1598089" y="0"/>
                    <a:pt x="1672991" y="74902"/>
                    <a:pt x="1672991" y="167299"/>
                  </a:cubicBezTo>
                  <a:lnTo>
                    <a:pt x="1672991" y="2591436"/>
                  </a:lnTo>
                  <a:cubicBezTo>
                    <a:pt x="1672991" y="2683833"/>
                    <a:pt x="1598089" y="2758735"/>
                    <a:pt x="1505692" y="2758735"/>
                  </a:cubicBezTo>
                  <a:lnTo>
                    <a:pt x="167299" y="2758735"/>
                  </a:lnTo>
                  <a:cubicBezTo>
                    <a:pt x="74902" y="2758735"/>
                    <a:pt x="0" y="2683833"/>
                    <a:pt x="0" y="2591436"/>
                  </a:cubicBezTo>
                  <a:lnTo>
                    <a:pt x="0" y="167299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7100" tIns="87100" rIns="87100" bIns="87100" numCol="1" spcCol="1270" anchor="ctr" anchorCtr="0">
              <a:noAutofit/>
            </a:bodyPr>
            <a:lstStyle/>
            <a:p>
              <a:pPr lvl="0" algn="ctr" defTabSz="4445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b="1" i="0" u="sng" kern="1200" baseline="0" dirty="0" smtClean="0">
                  <a:solidFill>
                    <a:schemeClr val="tx1"/>
                  </a:solidFill>
                </a:rPr>
                <a:t>Test Strategy:</a:t>
              </a:r>
              <a:endParaRPr lang="en-US" sz="1400" kern="1200" dirty="0">
                <a:solidFill>
                  <a:schemeClr val="tx1"/>
                </a:solidFill>
              </a:endParaRPr>
            </a:p>
          </p:txBody>
        </p:sp>
        <p:sp>
          <p:nvSpPr>
            <p:cNvPr id="41" name="Freeform 40"/>
            <p:cNvSpPr/>
            <p:nvPr/>
          </p:nvSpPr>
          <p:spPr>
            <a:xfrm>
              <a:off x="1504395" y="537518"/>
              <a:ext cx="7245351" cy="1135578"/>
            </a:xfrm>
            <a:custGeom>
              <a:avLst/>
              <a:gdLst>
                <a:gd name="connsiteX0" fmla="*/ 0 w 802778"/>
                <a:gd name="connsiteY0" fmla="*/ 80278 h 2758735"/>
                <a:gd name="connsiteX1" fmla="*/ 80278 w 802778"/>
                <a:gd name="connsiteY1" fmla="*/ 0 h 2758735"/>
                <a:gd name="connsiteX2" fmla="*/ 722500 w 802778"/>
                <a:gd name="connsiteY2" fmla="*/ 0 h 2758735"/>
                <a:gd name="connsiteX3" fmla="*/ 802778 w 802778"/>
                <a:gd name="connsiteY3" fmla="*/ 80278 h 2758735"/>
                <a:gd name="connsiteX4" fmla="*/ 802778 w 802778"/>
                <a:gd name="connsiteY4" fmla="*/ 2678457 h 2758735"/>
                <a:gd name="connsiteX5" fmla="*/ 722500 w 802778"/>
                <a:gd name="connsiteY5" fmla="*/ 2758735 h 2758735"/>
                <a:gd name="connsiteX6" fmla="*/ 80278 w 802778"/>
                <a:gd name="connsiteY6" fmla="*/ 2758735 h 2758735"/>
                <a:gd name="connsiteX7" fmla="*/ 0 w 802778"/>
                <a:gd name="connsiteY7" fmla="*/ 2678457 h 2758735"/>
                <a:gd name="connsiteX8" fmla="*/ 0 w 802778"/>
                <a:gd name="connsiteY8" fmla="*/ 80278 h 2758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2778" h="2758735">
                  <a:moveTo>
                    <a:pt x="0" y="80278"/>
                  </a:moveTo>
                  <a:cubicBezTo>
                    <a:pt x="0" y="35942"/>
                    <a:pt x="35942" y="0"/>
                    <a:pt x="80278" y="0"/>
                  </a:cubicBezTo>
                  <a:lnTo>
                    <a:pt x="722500" y="0"/>
                  </a:lnTo>
                  <a:cubicBezTo>
                    <a:pt x="766836" y="0"/>
                    <a:pt x="802778" y="35942"/>
                    <a:pt x="802778" y="80278"/>
                  </a:cubicBezTo>
                  <a:lnTo>
                    <a:pt x="802778" y="2678457"/>
                  </a:lnTo>
                  <a:cubicBezTo>
                    <a:pt x="802778" y="2722793"/>
                    <a:pt x="766836" y="2758735"/>
                    <a:pt x="722500" y="2758735"/>
                  </a:cubicBezTo>
                  <a:lnTo>
                    <a:pt x="80278" y="2758735"/>
                  </a:lnTo>
                  <a:cubicBezTo>
                    <a:pt x="35942" y="2758735"/>
                    <a:pt x="0" y="2722793"/>
                    <a:pt x="0" y="2678457"/>
                  </a:cubicBezTo>
                  <a:lnTo>
                    <a:pt x="0" y="80278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3993" tIns="53993" rIns="53993" bIns="53993" numCol="1" spcCol="1270" anchor="ctr" anchorCtr="0">
              <a:noAutofit/>
            </a:bodyPr>
            <a:lstStyle/>
            <a:p>
              <a:pPr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Ticket process lifecycle is spread across stages and roles in time phased manner and conditional </a:t>
              </a:r>
              <a:r>
                <a:rPr lang="en-US" sz="1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actions. For each business process - the </a:t>
              </a:r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role players and stages are different: </a:t>
              </a:r>
              <a:r>
                <a:rPr lang="en-US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Instead of testing the lifecycle of the ticket – the actions being taken by individual roles at variety of stages to be regarded as the system </a:t>
              </a:r>
              <a:r>
                <a:rPr lang="en-US" sz="14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activities</a:t>
              </a:r>
              <a:endPara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56" name="Freeform 55"/>
            <p:cNvSpPr/>
            <p:nvPr/>
          </p:nvSpPr>
          <p:spPr>
            <a:xfrm>
              <a:off x="1504394" y="1705918"/>
              <a:ext cx="7245351" cy="780774"/>
            </a:xfrm>
            <a:custGeom>
              <a:avLst/>
              <a:gdLst>
                <a:gd name="connsiteX0" fmla="*/ 0 w 802778"/>
                <a:gd name="connsiteY0" fmla="*/ 80278 h 2758735"/>
                <a:gd name="connsiteX1" fmla="*/ 80278 w 802778"/>
                <a:gd name="connsiteY1" fmla="*/ 0 h 2758735"/>
                <a:gd name="connsiteX2" fmla="*/ 722500 w 802778"/>
                <a:gd name="connsiteY2" fmla="*/ 0 h 2758735"/>
                <a:gd name="connsiteX3" fmla="*/ 802778 w 802778"/>
                <a:gd name="connsiteY3" fmla="*/ 80278 h 2758735"/>
                <a:gd name="connsiteX4" fmla="*/ 802778 w 802778"/>
                <a:gd name="connsiteY4" fmla="*/ 2678457 h 2758735"/>
                <a:gd name="connsiteX5" fmla="*/ 722500 w 802778"/>
                <a:gd name="connsiteY5" fmla="*/ 2758735 h 2758735"/>
                <a:gd name="connsiteX6" fmla="*/ 80278 w 802778"/>
                <a:gd name="connsiteY6" fmla="*/ 2758735 h 2758735"/>
                <a:gd name="connsiteX7" fmla="*/ 0 w 802778"/>
                <a:gd name="connsiteY7" fmla="*/ 2678457 h 2758735"/>
                <a:gd name="connsiteX8" fmla="*/ 0 w 802778"/>
                <a:gd name="connsiteY8" fmla="*/ 80278 h 2758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2778" h="2758735">
                  <a:moveTo>
                    <a:pt x="0" y="80278"/>
                  </a:moveTo>
                  <a:cubicBezTo>
                    <a:pt x="0" y="35942"/>
                    <a:pt x="35942" y="0"/>
                    <a:pt x="80278" y="0"/>
                  </a:cubicBezTo>
                  <a:lnTo>
                    <a:pt x="722500" y="0"/>
                  </a:lnTo>
                  <a:cubicBezTo>
                    <a:pt x="766836" y="0"/>
                    <a:pt x="802778" y="35942"/>
                    <a:pt x="802778" y="80278"/>
                  </a:cubicBezTo>
                  <a:lnTo>
                    <a:pt x="802778" y="2678457"/>
                  </a:lnTo>
                  <a:cubicBezTo>
                    <a:pt x="802778" y="2722793"/>
                    <a:pt x="766836" y="2758735"/>
                    <a:pt x="722500" y="2758735"/>
                  </a:cubicBezTo>
                  <a:lnTo>
                    <a:pt x="80278" y="2758735"/>
                  </a:lnTo>
                  <a:cubicBezTo>
                    <a:pt x="35942" y="2758735"/>
                    <a:pt x="0" y="2722793"/>
                    <a:pt x="0" y="2678457"/>
                  </a:cubicBezTo>
                  <a:lnTo>
                    <a:pt x="0" y="80278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3993" tIns="53993" rIns="53993" bIns="53993" numCol="1" spcCol="1270" anchor="ctr" anchorCtr="0">
              <a:noAutofit/>
            </a:bodyPr>
            <a:lstStyle/>
            <a:p>
              <a:pPr lvl="0"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Since the deployments are incremental and there is no concrete visibility on what all services at what all locations – </a:t>
              </a:r>
              <a:r>
                <a:rPr lang="en-US" sz="14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determine the “per unit” design - configuration</a:t>
              </a:r>
              <a:endParaRPr lang="en-US" sz="1400" b="1" kern="12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28400" y="896605"/>
            <a:ext cx="9052100" cy="576596"/>
            <a:chOff x="21223" y="537518"/>
            <a:chExt cx="8728523" cy="2025374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59" name="Freeform 58"/>
            <p:cNvSpPr/>
            <p:nvPr/>
          </p:nvSpPr>
          <p:spPr>
            <a:xfrm>
              <a:off x="21223" y="537518"/>
              <a:ext cx="1391329" cy="2025374"/>
            </a:xfrm>
            <a:custGeom>
              <a:avLst/>
              <a:gdLst>
                <a:gd name="connsiteX0" fmla="*/ 0 w 1672991"/>
                <a:gd name="connsiteY0" fmla="*/ 167299 h 2758735"/>
                <a:gd name="connsiteX1" fmla="*/ 167299 w 1672991"/>
                <a:gd name="connsiteY1" fmla="*/ 0 h 2758735"/>
                <a:gd name="connsiteX2" fmla="*/ 1505692 w 1672991"/>
                <a:gd name="connsiteY2" fmla="*/ 0 h 2758735"/>
                <a:gd name="connsiteX3" fmla="*/ 1672991 w 1672991"/>
                <a:gd name="connsiteY3" fmla="*/ 167299 h 2758735"/>
                <a:gd name="connsiteX4" fmla="*/ 1672991 w 1672991"/>
                <a:gd name="connsiteY4" fmla="*/ 2591436 h 2758735"/>
                <a:gd name="connsiteX5" fmla="*/ 1505692 w 1672991"/>
                <a:gd name="connsiteY5" fmla="*/ 2758735 h 2758735"/>
                <a:gd name="connsiteX6" fmla="*/ 167299 w 1672991"/>
                <a:gd name="connsiteY6" fmla="*/ 2758735 h 2758735"/>
                <a:gd name="connsiteX7" fmla="*/ 0 w 1672991"/>
                <a:gd name="connsiteY7" fmla="*/ 2591436 h 2758735"/>
                <a:gd name="connsiteX8" fmla="*/ 0 w 1672991"/>
                <a:gd name="connsiteY8" fmla="*/ 167299 h 2758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72991" h="2758735">
                  <a:moveTo>
                    <a:pt x="0" y="167299"/>
                  </a:moveTo>
                  <a:cubicBezTo>
                    <a:pt x="0" y="74902"/>
                    <a:pt x="74902" y="0"/>
                    <a:pt x="167299" y="0"/>
                  </a:cubicBezTo>
                  <a:lnTo>
                    <a:pt x="1505692" y="0"/>
                  </a:lnTo>
                  <a:cubicBezTo>
                    <a:pt x="1598089" y="0"/>
                    <a:pt x="1672991" y="74902"/>
                    <a:pt x="1672991" y="167299"/>
                  </a:cubicBezTo>
                  <a:lnTo>
                    <a:pt x="1672991" y="2591436"/>
                  </a:lnTo>
                  <a:cubicBezTo>
                    <a:pt x="1672991" y="2683833"/>
                    <a:pt x="1598089" y="2758735"/>
                    <a:pt x="1505692" y="2758735"/>
                  </a:cubicBezTo>
                  <a:lnTo>
                    <a:pt x="167299" y="2758735"/>
                  </a:lnTo>
                  <a:cubicBezTo>
                    <a:pt x="74902" y="2758735"/>
                    <a:pt x="0" y="2683833"/>
                    <a:pt x="0" y="2591436"/>
                  </a:cubicBezTo>
                  <a:lnTo>
                    <a:pt x="0" y="167299"/>
                  </a:lnTo>
                  <a:close/>
                </a:path>
              </a:pathLst>
            </a:cu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7100" tIns="87100" rIns="87100" bIns="87100" numCol="1" spcCol="1270" anchor="ctr" anchorCtr="0">
              <a:noAutofit/>
            </a:bodyPr>
            <a:lstStyle/>
            <a:p>
              <a:pPr lvl="0" algn="ctr" defTabSz="4445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b="1" i="0" u="sng" kern="1200" baseline="0" dirty="0" smtClean="0">
                  <a:solidFill>
                    <a:schemeClr val="tx1"/>
                  </a:solidFill>
                </a:rPr>
                <a:t>Test Objective:</a:t>
              </a:r>
              <a:endParaRPr lang="en-US" sz="1400" kern="1200" dirty="0">
                <a:solidFill>
                  <a:schemeClr val="tx1"/>
                </a:solidFill>
              </a:endParaRPr>
            </a:p>
          </p:txBody>
        </p:sp>
        <p:sp>
          <p:nvSpPr>
            <p:cNvPr id="60" name="Freeform 59"/>
            <p:cNvSpPr/>
            <p:nvPr/>
          </p:nvSpPr>
          <p:spPr>
            <a:xfrm>
              <a:off x="1504395" y="537518"/>
              <a:ext cx="7245351" cy="1806190"/>
            </a:xfrm>
            <a:custGeom>
              <a:avLst/>
              <a:gdLst>
                <a:gd name="connsiteX0" fmla="*/ 0 w 802778"/>
                <a:gd name="connsiteY0" fmla="*/ 80278 h 2758735"/>
                <a:gd name="connsiteX1" fmla="*/ 80278 w 802778"/>
                <a:gd name="connsiteY1" fmla="*/ 0 h 2758735"/>
                <a:gd name="connsiteX2" fmla="*/ 722500 w 802778"/>
                <a:gd name="connsiteY2" fmla="*/ 0 h 2758735"/>
                <a:gd name="connsiteX3" fmla="*/ 802778 w 802778"/>
                <a:gd name="connsiteY3" fmla="*/ 80278 h 2758735"/>
                <a:gd name="connsiteX4" fmla="*/ 802778 w 802778"/>
                <a:gd name="connsiteY4" fmla="*/ 2678457 h 2758735"/>
                <a:gd name="connsiteX5" fmla="*/ 722500 w 802778"/>
                <a:gd name="connsiteY5" fmla="*/ 2758735 h 2758735"/>
                <a:gd name="connsiteX6" fmla="*/ 80278 w 802778"/>
                <a:gd name="connsiteY6" fmla="*/ 2758735 h 2758735"/>
                <a:gd name="connsiteX7" fmla="*/ 0 w 802778"/>
                <a:gd name="connsiteY7" fmla="*/ 2678457 h 2758735"/>
                <a:gd name="connsiteX8" fmla="*/ 0 w 802778"/>
                <a:gd name="connsiteY8" fmla="*/ 80278 h 2758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2778" h="2758735">
                  <a:moveTo>
                    <a:pt x="0" y="80278"/>
                  </a:moveTo>
                  <a:cubicBezTo>
                    <a:pt x="0" y="35942"/>
                    <a:pt x="35942" y="0"/>
                    <a:pt x="80278" y="0"/>
                  </a:cubicBezTo>
                  <a:lnTo>
                    <a:pt x="722500" y="0"/>
                  </a:lnTo>
                  <a:cubicBezTo>
                    <a:pt x="766836" y="0"/>
                    <a:pt x="802778" y="35942"/>
                    <a:pt x="802778" y="80278"/>
                  </a:cubicBezTo>
                  <a:lnTo>
                    <a:pt x="802778" y="2678457"/>
                  </a:lnTo>
                  <a:cubicBezTo>
                    <a:pt x="802778" y="2722793"/>
                    <a:pt x="766836" y="2758735"/>
                    <a:pt x="722500" y="2758735"/>
                  </a:cubicBezTo>
                  <a:lnTo>
                    <a:pt x="80278" y="2758735"/>
                  </a:lnTo>
                  <a:cubicBezTo>
                    <a:pt x="35942" y="2758735"/>
                    <a:pt x="0" y="2722793"/>
                    <a:pt x="0" y="2678457"/>
                  </a:cubicBezTo>
                  <a:lnTo>
                    <a:pt x="0" y="80278"/>
                  </a:lnTo>
                  <a:close/>
                </a:path>
              </a:pathLst>
            </a:cu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3993" tIns="53993" rIns="53993" bIns="53993" numCol="1" spcCol="1270" anchor="ctr" anchorCtr="0">
              <a:noAutofit/>
            </a:bodyPr>
            <a:lstStyle/>
            <a:p>
              <a:pPr lvl="0"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Determine design and deployment (w.r.t</a:t>
              </a:r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. performance, NF </a:t>
              </a:r>
              <a:r>
                <a:rPr lang="en-US" sz="1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specifications)  </a:t>
              </a:r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in view of business </a:t>
              </a:r>
              <a:r>
                <a:rPr lang="en-US" sz="1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usage(across geographies): guidelines for refining </a:t>
              </a:r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(existing) NFRs and future scalability</a:t>
              </a:r>
              <a:endParaRPr lang="en-US" sz="1400" b="1" kern="12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30139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25400" y="825717"/>
            <a:ext cx="8953500" cy="4139108"/>
            <a:chOff x="101600" y="825717"/>
            <a:chExt cx="8953500" cy="4139108"/>
          </a:xfrm>
        </p:grpSpPr>
        <p:grpSp>
          <p:nvGrpSpPr>
            <p:cNvPr id="6" name="Group 5"/>
            <p:cNvGrpSpPr/>
            <p:nvPr/>
          </p:nvGrpSpPr>
          <p:grpSpPr>
            <a:xfrm>
              <a:off x="101600" y="825717"/>
              <a:ext cx="8953500" cy="4139108"/>
              <a:chOff x="0" y="850900"/>
              <a:chExt cx="8953500" cy="4139108"/>
            </a:xfrm>
          </p:grpSpPr>
          <p:pic>
            <p:nvPicPr>
              <p:cNvPr id="3" name="Picture 2"/>
              <p:cNvPicPr>
                <a:picLocks noChangeAspect="1"/>
              </p:cNvPicPr>
              <p:nvPr/>
            </p:nvPicPr>
            <p:blipFill rotWithShape="1">
              <a:blip r:embed="rId2"/>
              <a:srcRect t="17956"/>
              <a:stretch/>
            </p:blipFill>
            <p:spPr>
              <a:xfrm>
                <a:off x="0" y="850900"/>
                <a:ext cx="8953500" cy="4139108"/>
              </a:xfrm>
              <a:prstGeom prst="rect">
                <a:avLst/>
              </a:prstGeom>
            </p:spPr>
          </p:pic>
          <p:pic>
            <p:nvPicPr>
              <p:cNvPr id="4" name="Picture 3"/>
              <p:cNvPicPr>
                <a:picLocks noChangeAspect="1"/>
              </p:cNvPicPr>
              <p:nvPr/>
            </p:nvPicPr>
            <p:blipFill rotWithShape="1">
              <a:blip r:embed="rId3"/>
              <a:srcRect l="38463" t="31683" r="19205" b="51838"/>
              <a:stretch/>
            </p:blipFill>
            <p:spPr>
              <a:xfrm>
                <a:off x="3670299" y="2032434"/>
                <a:ext cx="5168901" cy="1142566"/>
              </a:xfrm>
              <a:prstGeom prst="rect">
                <a:avLst/>
              </a:prstGeom>
            </p:spPr>
          </p:pic>
          <p:pic>
            <p:nvPicPr>
              <p:cNvPr id="5" name="Picture 4"/>
              <p:cNvPicPr>
                <a:picLocks noChangeAspect="1"/>
              </p:cNvPicPr>
              <p:nvPr/>
            </p:nvPicPr>
            <p:blipFill rotWithShape="1">
              <a:blip r:embed="rId3"/>
              <a:srcRect l="39244" t="70509" r="20282" b="2656"/>
              <a:stretch/>
            </p:blipFill>
            <p:spPr>
              <a:xfrm>
                <a:off x="3727448" y="3175000"/>
                <a:ext cx="5054601" cy="1788645"/>
              </a:xfrm>
              <a:prstGeom prst="rect">
                <a:avLst/>
              </a:prstGeom>
            </p:spPr>
          </p:pic>
        </p:grpSp>
        <p:sp>
          <p:nvSpPr>
            <p:cNvPr id="8" name="TextBox 7"/>
            <p:cNvSpPr txBox="1"/>
            <p:nvPr/>
          </p:nvSpPr>
          <p:spPr>
            <a:xfrm>
              <a:off x="101600" y="4044139"/>
              <a:ext cx="14986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rgbClr val="C00000"/>
                  </a:solidFill>
                </a:rPr>
                <a:t>Landing Page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" y="102411"/>
            <a:ext cx="8229600" cy="553998"/>
          </a:xfrm>
        </p:spPr>
        <p:txBody>
          <a:bodyPr/>
          <a:lstStyle/>
          <a:p>
            <a:r>
              <a:rPr lang="en-US" dirty="0" smtClean="0"/>
              <a:t>The “front end / basic” Visibility</a:t>
            </a:r>
            <a:endParaRPr lang="en-US" dirty="0"/>
          </a:p>
        </p:txBody>
      </p:sp>
      <p:grpSp>
        <p:nvGrpSpPr>
          <p:cNvPr id="11" name="Group 10"/>
          <p:cNvGrpSpPr/>
          <p:nvPr/>
        </p:nvGrpSpPr>
        <p:grpSpPr>
          <a:xfrm>
            <a:off x="1003300" y="1953078"/>
            <a:ext cx="8051800" cy="4828451"/>
            <a:chOff x="1003300" y="1953078"/>
            <a:chExt cx="8051800" cy="4828451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 rotWithShape="1">
            <a:blip r:embed="rId4"/>
            <a:srcRect t="21241"/>
            <a:stretch/>
          </p:blipFill>
          <p:spPr>
            <a:xfrm>
              <a:off x="1003300" y="1953078"/>
              <a:ext cx="8051800" cy="4828451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4025900" y="2710605"/>
              <a:ext cx="1828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rgbClr val="C00000"/>
                  </a:solidFill>
                </a:rPr>
                <a:t>Action by user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59472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3211"/>
            <a:ext cx="8229600" cy="461665"/>
          </a:xfrm>
        </p:spPr>
        <p:txBody>
          <a:bodyPr/>
          <a:lstStyle/>
          <a:p>
            <a:r>
              <a:rPr lang="en-US" sz="2400" dirty="0" smtClean="0"/>
              <a:t>Workflow Automation / implementation involves…</a:t>
            </a:r>
            <a:endParaRPr lang="en-US" sz="24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889000"/>
            <a:ext cx="7027863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775" y="1100138"/>
            <a:ext cx="5429250" cy="4657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6" name="Picture 1" descr="image00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538" y="1704975"/>
            <a:ext cx="8018462" cy="496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07794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500743" y="1930401"/>
            <a:ext cx="8189231" cy="1306286"/>
          </a:xfrm>
        </p:spPr>
        <p:txBody>
          <a:bodyPr>
            <a:normAutofit/>
          </a:bodyPr>
          <a:lstStyle/>
          <a:p>
            <a:r>
              <a:rPr lang="en-IN" dirty="0" smtClean="0"/>
              <a:t>“Typical” PT</a:t>
            </a:r>
          </a:p>
          <a:p>
            <a:r>
              <a:rPr lang="en-IN" dirty="0" smtClean="0"/>
              <a:t>Results as reported</a:t>
            </a:r>
            <a:endParaRPr lang="en-IN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500743" y="3290677"/>
            <a:ext cx="8189231" cy="439496"/>
          </a:xfrm>
        </p:spPr>
        <p:txBody>
          <a:bodyPr/>
          <a:lstStyle/>
          <a:p>
            <a:r>
              <a:rPr lang="en-IN" dirty="0" smtClean="0"/>
              <a:t>“Standard” outcomes and report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0238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68275" y="158222"/>
            <a:ext cx="8189776" cy="446276"/>
          </a:xfrm>
        </p:spPr>
        <p:txBody>
          <a:bodyPr/>
          <a:lstStyle/>
          <a:p>
            <a:r>
              <a:rPr lang="en-US" sz="2300" dirty="0" smtClean="0"/>
              <a:t>Summary of Test Results</a:t>
            </a:r>
            <a:endParaRPr lang="en-US" sz="2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6500" y="786031"/>
            <a:ext cx="5235575" cy="2613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27000" y="863600"/>
            <a:ext cx="345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Overall successful transactions: Pages – 98.79%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2247926"/>
              </p:ext>
            </p:extLst>
          </p:nvPr>
        </p:nvGraphicFramePr>
        <p:xfrm>
          <a:off x="127000" y="1509931"/>
          <a:ext cx="3454400" cy="8412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82900"/>
                <a:gridCol w="571500"/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Total Users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30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Elapsed Time [H:M:S]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0:31:06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 Codes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44,645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500 Codes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236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5634054"/>
              </p:ext>
            </p:extLst>
          </p:nvPr>
        </p:nvGraphicFramePr>
        <p:xfrm>
          <a:off x="127000" y="2545946"/>
          <a:ext cx="3454400" cy="701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01143"/>
                <a:gridCol w="553257"/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Total Page </a:t>
                      </a:r>
                      <a:r>
                        <a:rPr lang="en-US" sz="1200" dirty="0" smtClean="0">
                          <a:effectLst/>
                        </a:rPr>
                        <a:t>Hits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1,323</a:t>
                      </a:r>
                      <a:endParaRPr lang="en-US" sz="1400" b="1" dirty="0">
                        <a:solidFill>
                          <a:srgbClr val="000000"/>
                        </a:solidFill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Average Response Time For All </a:t>
                      </a:r>
                      <a:r>
                        <a:rPr lang="en-US" sz="1200" dirty="0" smtClean="0">
                          <a:effectLst/>
                        </a:rPr>
                        <a:t>Pages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smtClean="0">
                          <a:effectLst/>
                        </a:rPr>
                        <a:t>9.76</a:t>
                      </a:r>
                      <a:endParaRPr lang="en-US" sz="1400" b="1" dirty="0">
                        <a:solidFill>
                          <a:srgbClr val="000000"/>
                        </a:solidFill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Maximum Response Time For All </a:t>
                      </a:r>
                      <a:r>
                        <a:rPr lang="en-US" sz="1200" dirty="0" smtClean="0">
                          <a:effectLst/>
                        </a:rPr>
                        <a:t>Pages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</a:rPr>
                        <a:t>318.13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6200" y="3396187"/>
            <a:ext cx="4419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Page Performance - Average Page Response Time for Run</a:t>
            </a:r>
            <a:endParaRPr lang="en-US" sz="16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4023225"/>
            <a:ext cx="5194300" cy="2593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236720"/>
              </p:ext>
            </p:extLst>
          </p:nvPr>
        </p:nvGraphicFramePr>
        <p:xfrm>
          <a:off x="5527673" y="4057905"/>
          <a:ext cx="3365502" cy="2313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9227"/>
                <a:gridCol w="824441"/>
                <a:gridCol w="1121834"/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Response Time </a:t>
                      </a:r>
                      <a:r>
                        <a:rPr lang="en-US" sz="1100" dirty="0" smtClean="0">
                          <a:effectLst/>
                        </a:rPr>
                        <a:t>-- </a:t>
                      </a:r>
                      <a:r>
                        <a:rPr lang="en-US" sz="1100" dirty="0">
                          <a:effectLst/>
                        </a:rPr>
                        <a:t>Average 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Attempts -- </a:t>
                      </a:r>
                      <a:r>
                        <a:rPr lang="en-US" sz="1100" dirty="0" smtClean="0">
                          <a:effectLst/>
                        </a:rPr>
                        <a:t>Count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SignIn-Escalation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rgbClr val="FF0000"/>
                          </a:solidFill>
                          <a:effectLst/>
                        </a:rPr>
                        <a:t>21.39</a:t>
                      </a:r>
                      <a:endParaRPr lang="en-US" sz="1600" b="1" dirty="0">
                        <a:solidFill>
                          <a:srgbClr val="FF0000"/>
                        </a:solidFill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effectLst/>
                        </a:rPr>
                        <a:t>182</a:t>
                      </a:r>
                      <a:endParaRPr lang="en-US" sz="1600" b="1">
                        <a:solidFill>
                          <a:srgbClr val="000000"/>
                        </a:solidFill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Service Requests-select-Escaaltion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effectLst/>
                        </a:rPr>
                        <a:t>6.84</a:t>
                      </a:r>
                      <a:endParaRPr lang="en-US" sz="1600" b="1" dirty="0">
                        <a:solidFill>
                          <a:srgbClr val="000000"/>
                        </a:solidFill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effectLst/>
                        </a:rPr>
                        <a:t>176</a:t>
                      </a:r>
                      <a:endParaRPr lang="en-US" sz="1600" b="1" dirty="0">
                        <a:solidFill>
                          <a:srgbClr val="000000"/>
                        </a:solidFill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Accept1-Escalation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effectLst/>
                        </a:rPr>
                        <a:t>4.91</a:t>
                      </a:r>
                      <a:endParaRPr lang="en-US" sz="1600" b="1" dirty="0">
                        <a:solidFill>
                          <a:srgbClr val="000000"/>
                        </a:solidFill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effectLst/>
                        </a:rPr>
                        <a:t>165</a:t>
                      </a:r>
                      <a:endParaRPr lang="en-US" sz="1600" b="1" dirty="0">
                        <a:solidFill>
                          <a:srgbClr val="000000"/>
                        </a:solidFill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IP-escalation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rgbClr val="0000CC"/>
                          </a:solidFill>
                          <a:effectLst/>
                        </a:rPr>
                        <a:t>8.91</a:t>
                      </a:r>
                      <a:endParaRPr lang="en-US" sz="1600" b="1" dirty="0">
                        <a:solidFill>
                          <a:srgbClr val="0000CC"/>
                        </a:solidFill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effectLst/>
                        </a:rPr>
                        <a:t>167</a:t>
                      </a:r>
                      <a:endParaRPr lang="en-US" sz="1600" b="1" dirty="0">
                        <a:solidFill>
                          <a:srgbClr val="000000"/>
                        </a:solidFill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Accept2-Escalation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rgbClr val="FF0000"/>
                          </a:solidFill>
                          <a:effectLst/>
                        </a:rPr>
                        <a:t>11.1</a:t>
                      </a:r>
                      <a:endParaRPr lang="en-US" sz="1600" b="1" dirty="0">
                        <a:solidFill>
                          <a:srgbClr val="FF0000"/>
                        </a:solidFill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effectLst/>
                        </a:rPr>
                        <a:t>163</a:t>
                      </a:r>
                      <a:endParaRPr lang="en-US" sz="1600" b="1" dirty="0">
                        <a:solidFill>
                          <a:srgbClr val="000000"/>
                        </a:solidFill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route-Escalation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rgbClr val="FF0000"/>
                          </a:solidFill>
                          <a:effectLst/>
                        </a:rPr>
                        <a:t>9.88</a:t>
                      </a:r>
                      <a:endParaRPr lang="en-US" sz="1600" b="1" dirty="0">
                        <a:solidFill>
                          <a:srgbClr val="FF0000"/>
                        </a:solidFill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effectLst/>
                        </a:rPr>
                        <a:t>162</a:t>
                      </a:r>
                      <a:endParaRPr lang="en-US" sz="1600" b="1" dirty="0">
                        <a:solidFill>
                          <a:srgbClr val="000000"/>
                        </a:solidFill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escalated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rgbClr val="0000CC"/>
                          </a:solidFill>
                          <a:effectLst/>
                        </a:rPr>
                        <a:t>8.84</a:t>
                      </a:r>
                      <a:endParaRPr lang="en-US" sz="1600" b="1" dirty="0">
                        <a:solidFill>
                          <a:srgbClr val="0000CC"/>
                        </a:solidFill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effectLst/>
                        </a:rPr>
                        <a:t>158</a:t>
                      </a:r>
                      <a:endParaRPr lang="en-US" sz="1600" b="1" dirty="0">
                        <a:solidFill>
                          <a:srgbClr val="000000"/>
                        </a:solidFill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Signout-escalation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effectLst/>
                        </a:rPr>
                        <a:t>5.07</a:t>
                      </a:r>
                      <a:endParaRPr lang="en-US" sz="1600" b="1" dirty="0">
                        <a:solidFill>
                          <a:srgbClr val="000000"/>
                        </a:solidFill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effectLst/>
                        </a:rPr>
                        <a:t>155</a:t>
                      </a:r>
                      <a:endParaRPr lang="en-US" sz="1600" b="1" dirty="0">
                        <a:solidFill>
                          <a:srgbClr val="000000"/>
                        </a:solidFill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130799" y="3528474"/>
            <a:ext cx="411797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smtClean="0"/>
              <a:t>Pages marked below have high </a:t>
            </a:r>
            <a:r>
              <a:rPr lang="en-US" sz="1600" b="1" dirty="0" err="1" smtClean="0"/>
              <a:t>avg</a:t>
            </a:r>
            <a:r>
              <a:rPr lang="en-US" sz="1600" b="1" dirty="0" smtClean="0"/>
              <a:t> RTs – </a:t>
            </a:r>
            <a:r>
              <a:rPr lang="en-US" sz="1600" b="1" dirty="0" err="1" smtClean="0"/>
              <a:t>Dev</a:t>
            </a:r>
            <a:r>
              <a:rPr lang="en-US" sz="1600" b="1" dirty="0" smtClean="0"/>
              <a:t> team to tune them….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211548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68274" y="158222"/>
            <a:ext cx="8696325" cy="446276"/>
          </a:xfrm>
        </p:spPr>
        <p:txBody>
          <a:bodyPr/>
          <a:lstStyle/>
          <a:p>
            <a:r>
              <a:rPr lang="en-US" sz="2300" dirty="0" smtClean="0"/>
              <a:t>Summary: Response times: </a:t>
            </a:r>
            <a:r>
              <a:rPr lang="en-US" sz="2300" dirty="0" smtClean="0">
                <a:solidFill>
                  <a:srgbClr val="C00000"/>
                </a:solidFill>
              </a:rPr>
              <a:t>Spiked post </a:t>
            </a:r>
            <a:r>
              <a:rPr lang="en-US" sz="2300" dirty="0" smtClean="0">
                <a:solidFill>
                  <a:srgbClr val="C00000"/>
                </a:solidFill>
              </a:rPr>
              <a:t>xx </a:t>
            </a:r>
            <a:r>
              <a:rPr lang="en-US" sz="2300" dirty="0" smtClean="0">
                <a:solidFill>
                  <a:srgbClr val="C00000"/>
                </a:solidFill>
              </a:rPr>
              <a:t>users – </a:t>
            </a:r>
            <a:r>
              <a:rPr lang="en-US" sz="2300" dirty="0" err="1" smtClean="0">
                <a:solidFill>
                  <a:srgbClr val="C00000"/>
                </a:solidFill>
              </a:rPr>
              <a:t>yy</a:t>
            </a:r>
            <a:r>
              <a:rPr lang="en-US" sz="2300" dirty="0" smtClean="0">
                <a:solidFill>
                  <a:srgbClr val="C00000"/>
                </a:solidFill>
              </a:rPr>
              <a:t> </a:t>
            </a:r>
            <a:r>
              <a:rPr lang="en-US" sz="2300" dirty="0" err="1" smtClean="0">
                <a:solidFill>
                  <a:srgbClr val="C00000"/>
                </a:solidFill>
              </a:rPr>
              <a:t>mins</a:t>
            </a:r>
            <a:endParaRPr lang="en-US" sz="2000" dirty="0">
              <a:solidFill>
                <a:srgbClr val="C0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27000" y="863600"/>
            <a:ext cx="2438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/>
              <a:t>Avg</a:t>
            </a:r>
            <a:r>
              <a:rPr lang="en-US" b="1" dirty="0" smtClean="0"/>
              <a:t> Page </a:t>
            </a:r>
            <a:r>
              <a:rPr lang="en-US" b="1" dirty="0"/>
              <a:t>Response </a:t>
            </a:r>
            <a:r>
              <a:rPr lang="en-US" b="1" dirty="0" smtClean="0"/>
              <a:t>times across all pages vs</a:t>
            </a:r>
            <a:r>
              <a:rPr lang="en-US" b="1" dirty="0"/>
              <a:t>. </a:t>
            </a:r>
            <a:r>
              <a:rPr lang="en-US" b="1" dirty="0" smtClean="0"/>
              <a:t>Time</a:t>
            </a:r>
          </a:p>
          <a:p>
            <a:r>
              <a:rPr lang="en-US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(as shown by the Load testing tool: RPT in this case)</a:t>
            </a:r>
            <a:endParaRPr lang="en-US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29374" y="3967688"/>
            <a:ext cx="2511425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smtClean="0"/>
              <a:t>Average </a:t>
            </a:r>
            <a:r>
              <a:rPr lang="en-US" sz="1600" b="1" dirty="0"/>
              <a:t>Page Response </a:t>
            </a:r>
            <a:r>
              <a:rPr lang="en-US" sz="1600" b="1" dirty="0" smtClean="0"/>
              <a:t>Times through the test</a:t>
            </a:r>
          </a:p>
          <a:p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(as shown by the Load testing tool: RPT in this case</a:t>
            </a:r>
            <a:r>
              <a:rPr lang="en-US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</a:p>
          <a:p>
            <a:r>
              <a:rPr lang="en-US" sz="1600" b="1" dirty="0" smtClean="0">
                <a:solidFill>
                  <a:srgbClr val="C00000"/>
                </a:solidFill>
              </a:rPr>
              <a:t>RTs of all pages would have been low but </a:t>
            </a:r>
            <a:r>
              <a:rPr lang="en-US" sz="1600" b="1" dirty="0" err="1" smtClean="0">
                <a:solidFill>
                  <a:srgbClr val="C00000"/>
                </a:solidFill>
              </a:rPr>
              <a:t>avgs</a:t>
            </a:r>
            <a:r>
              <a:rPr lang="en-US" sz="1600" b="1" dirty="0" smtClean="0">
                <a:solidFill>
                  <a:srgbClr val="C00000"/>
                </a:solidFill>
              </a:rPr>
              <a:t> became high because of the spike seen…</a:t>
            </a:r>
          </a:p>
          <a:p>
            <a:r>
              <a:rPr lang="en-US" sz="1600" b="1" dirty="0" smtClean="0">
                <a:solidFill>
                  <a:srgbClr val="C00000"/>
                </a:solidFill>
              </a:rPr>
              <a:t>Why spikes….</a:t>
            </a:r>
            <a:endParaRPr lang="en-US" sz="1600" dirty="0">
              <a:solidFill>
                <a:srgbClr val="C00000"/>
              </a:solidFill>
            </a:endParaRPr>
          </a:p>
          <a:p>
            <a:endParaRPr lang="en-US" sz="16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0825" y="851401"/>
            <a:ext cx="6353175" cy="293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3784601"/>
            <a:ext cx="6353175" cy="2933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own Arrow 2"/>
          <p:cNvSpPr/>
          <p:nvPr/>
        </p:nvSpPr>
        <p:spPr>
          <a:xfrm>
            <a:off x="6210300" y="1206500"/>
            <a:ext cx="219075" cy="990600"/>
          </a:xfrm>
          <a:prstGeom prst="downArrow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own Arrow 12"/>
          <p:cNvSpPr/>
          <p:nvPr/>
        </p:nvSpPr>
        <p:spPr>
          <a:xfrm>
            <a:off x="3581400" y="4197350"/>
            <a:ext cx="219075" cy="990600"/>
          </a:xfrm>
          <a:prstGeom prst="downArrow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883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650" y="153211"/>
            <a:ext cx="8566150" cy="400110"/>
          </a:xfrm>
        </p:spPr>
        <p:txBody>
          <a:bodyPr/>
          <a:lstStyle/>
          <a:p>
            <a:r>
              <a:rPr lang="en-US" sz="2000" dirty="0"/>
              <a:t>Summary: </a:t>
            </a:r>
            <a:r>
              <a:rPr lang="en-US" sz="2000" dirty="0" smtClean="0"/>
              <a:t>Utilizations </a:t>
            </a:r>
            <a:r>
              <a:rPr lang="en-US" sz="2000" dirty="0"/>
              <a:t>: </a:t>
            </a:r>
            <a:r>
              <a:rPr lang="en-US" sz="1800" dirty="0" smtClean="0">
                <a:solidFill>
                  <a:srgbClr val="0000CC"/>
                </a:solidFill>
              </a:rPr>
              <a:t>CPU, </a:t>
            </a:r>
            <a:r>
              <a:rPr lang="en-US" sz="1800" dirty="0" err="1" smtClean="0">
                <a:solidFill>
                  <a:srgbClr val="0000CC"/>
                </a:solidFill>
              </a:rPr>
              <a:t>Avl</a:t>
            </a:r>
            <a:r>
              <a:rPr lang="en-US" sz="1800" dirty="0" smtClean="0">
                <a:solidFill>
                  <a:srgbClr val="0000CC"/>
                </a:solidFill>
              </a:rPr>
              <a:t> Memory on server </a:t>
            </a:r>
            <a:endParaRPr lang="en-US" sz="1800" dirty="0">
              <a:solidFill>
                <a:srgbClr val="0000CC"/>
              </a:solidFill>
            </a:endParaRPr>
          </a:p>
        </p:txBody>
      </p:sp>
      <p:pic>
        <p:nvPicPr>
          <p:cNvPr id="5" name="Picture 4"/>
          <p:cNvPicPr/>
          <p:nvPr/>
        </p:nvPicPr>
        <p:blipFill rotWithShape="1">
          <a:blip r:embed="rId2"/>
          <a:srcRect r="14342" b="6539"/>
          <a:stretch/>
        </p:blipFill>
        <p:spPr>
          <a:xfrm>
            <a:off x="326663" y="2743200"/>
            <a:ext cx="8029937" cy="40005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9963745"/>
              </p:ext>
            </p:extLst>
          </p:nvPr>
        </p:nvGraphicFramePr>
        <p:xfrm>
          <a:off x="146050" y="850899"/>
          <a:ext cx="8134349" cy="1790701"/>
        </p:xfrm>
        <a:graphic>
          <a:graphicData uri="http://schemas.openxmlformats.org/drawingml/2006/table">
            <a:tbl>
              <a:tblPr/>
              <a:tblGrid>
                <a:gridCol w="1733401"/>
                <a:gridCol w="2636215"/>
                <a:gridCol w="3764733"/>
              </a:tblGrid>
              <a:tr h="294923"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CPU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Mem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7337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App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Avg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28% 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 Intermittent spikes to </a:t>
                      </a:r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98%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7.7 GB before test 7.1 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avl during test settling down </a:t>
                      </a:r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to 7.3 GB post test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Avg</a:t>
                      </a:r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56 % 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 Intermittent spikes to </a:t>
                      </a:r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6.5 GB before test 5.7 GB 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avl during test settling down to </a:t>
                      </a:r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6.2 Gb</a:t>
                      </a:r>
                      <a:r>
                        <a:rPr lang="en-US" sz="16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post test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3061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68274" y="158222"/>
            <a:ext cx="8696325" cy="461665"/>
          </a:xfrm>
        </p:spPr>
        <p:txBody>
          <a:bodyPr/>
          <a:lstStyle/>
          <a:p>
            <a:r>
              <a:rPr lang="en-US" sz="2400" dirty="0" smtClean="0"/>
              <a:t>Typical - Standard PT / NFT</a:t>
            </a:r>
            <a:endParaRPr lang="en-US" sz="1800" dirty="0">
              <a:solidFill>
                <a:srgbClr val="0000CC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27000" y="863600"/>
            <a:ext cx="914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“Application” is regarded to be “black box”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Visibility and “reporting” of what is seen in (</a:t>
            </a:r>
            <a:r>
              <a:rPr lang="en-US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 PT tool – the “front end” metrics and     (ii) underlying hardware - server utilizations….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1765300" y="1955800"/>
            <a:ext cx="5638800" cy="2794000"/>
            <a:chOff x="1765300" y="1955800"/>
            <a:chExt cx="5638800" cy="3048000"/>
          </a:xfrm>
        </p:grpSpPr>
        <p:sp>
          <p:nvSpPr>
            <p:cNvPr id="5" name="Rounded Rectangle 4"/>
            <p:cNvSpPr/>
            <p:nvPr/>
          </p:nvSpPr>
          <p:spPr>
            <a:xfrm>
              <a:off x="1778000" y="2692400"/>
              <a:ext cx="5626100" cy="1562100"/>
            </a:xfrm>
            <a:prstGeom prst="round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schemeClr val="bg1">
                      <a:lumMod val="85000"/>
                    </a:schemeClr>
                  </a:solidFill>
                </a:rPr>
                <a:t>Application under Test</a:t>
              </a:r>
              <a:endParaRPr lang="en-US" sz="2400" dirty="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1778000" y="1955800"/>
              <a:ext cx="5626100" cy="685800"/>
              <a:chOff x="1778000" y="1955800"/>
              <a:chExt cx="5626100" cy="685800"/>
            </a:xfrm>
          </p:grpSpPr>
          <p:sp>
            <p:nvSpPr>
              <p:cNvPr id="6" name="Right Arrow 5"/>
              <p:cNvSpPr/>
              <p:nvPr/>
            </p:nvSpPr>
            <p:spPr>
              <a:xfrm rot="5400000">
                <a:off x="2095500" y="1981200"/>
                <a:ext cx="609600" cy="558800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ight Arrow 10"/>
              <p:cNvSpPr/>
              <p:nvPr/>
            </p:nvSpPr>
            <p:spPr>
              <a:xfrm rot="5400000">
                <a:off x="2832100" y="1981200"/>
                <a:ext cx="609600" cy="558800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ight Arrow 11"/>
              <p:cNvSpPr/>
              <p:nvPr/>
            </p:nvSpPr>
            <p:spPr>
              <a:xfrm rot="5400000">
                <a:off x="3454400" y="2006600"/>
                <a:ext cx="609600" cy="558800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ight Arrow 13"/>
              <p:cNvSpPr/>
              <p:nvPr/>
            </p:nvSpPr>
            <p:spPr>
              <a:xfrm rot="5400000">
                <a:off x="4191000" y="2006600"/>
                <a:ext cx="609600" cy="558800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1778000" y="1955800"/>
                <a:ext cx="5626100" cy="685800"/>
              </a:xfrm>
              <a:prstGeom prst="rect">
                <a:avLst/>
              </a:prstGeom>
              <a:noFill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/>
                <a:r>
                  <a:rPr lang="en-US" dirty="0" smtClean="0"/>
                  <a:t>PT tool</a:t>
                </a:r>
              </a:p>
              <a:p>
                <a:pPr algn="r"/>
                <a:r>
                  <a:rPr lang="en-US" dirty="0" smtClean="0"/>
                  <a:t>Front end / e2e metrics</a:t>
                </a:r>
                <a:endParaRPr lang="en-US" dirty="0"/>
              </a:p>
            </p:txBody>
          </p:sp>
        </p:grpSp>
        <p:grpSp>
          <p:nvGrpSpPr>
            <p:cNvPr id="21" name="Group 20"/>
            <p:cNvGrpSpPr/>
            <p:nvPr/>
          </p:nvGrpSpPr>
          <p:grpSpPr>
            <a:xfrm>
              <a:off x="1765300" y="4318000"/>
              <a:ext cx="5626100" cy="685800"/>
              <a:chOff x="1778000" y="1955800"/>
              <a:chExt cx="5626100" cy="685800"/>
            </a:xfrm>
          </p:grpSpPr>
          <p:sp>
            <p:nvSpPr>
              <p:cNvPr id="22" name="Right Arrow 21"/>
              <p:cNvSpPr/>
              <p:nvPr/>
            </p:nvSpPr>
            <p:spPr>
              <a:xfrm rot="16200000">
                <a:off x="2095500" y="1981200"/>
                <a:ext cx="609600" cy="558800"/>
              </a:xfrm>
              <a:prstGeom prst="rightArrow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ight Arrow 22"/>
              <p:cNvSpPr/>
              <p:nvPr/>
            </p:nvSpPr>
            <p:spPr>
              <a:xfrm rot="16200000">
                <a:off x="2832100" y="1981200"/>
                <a:ext cx="609600" cy="558800"/>
              </a:xfrm>
              <a:prstGeom prst="rightArrow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ight Arrow 23"/>
              <p:cNvSpPr/>
              <p:nvPr/>
            </p:nvSpPr>
            <p:spPr>
              <a:xfrm rot="16200000">
                <a:off x="3454400" y="2006600"/>
                <a:ext cx="609600" cy="558800"/>
              </a:xfrm>
              <a:prstGeom prst="rightArrow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Right Arrow 24"/>
              <p:cNvSpPr/>
              <p:nvPr/>
            </p:nvSpPr>
            <p:spPr>
              <a:xfrm rot="16200000">
                <a:off x="4140200" y="2006600"/>
                <a:ext cx="609600" cy="558800"/>
              </a:xfrm>
              <a:prstGeom prst="rightArrow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 25"/>
              <p:cNvSpPr/>
              <p:nvPr/>
            </p:nvSpPr>
            <p:spPr>
              <a:xfrm>
                <a:off x="1778000" y="1955800"/>
                <a:ext cx="5626100" cy="685800"/>
              </a:xfrm>
              <a:prstGeom prst="rect">
                <a:avLst/>
              </a:prstGeom>
              <a:noFill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/>
                <a:r>
                  <a:rPr lang="en-US" dirty="0" smtClean="0"/>
                  <a:t>Infrastructure - Hardware</a:t>
                </a:r>
              </a:p>
              <a:p>
                <a:pPr algn="r"/>
                <a:r>
                  <a:rPr lang="en-US" dirty="0" smtClean="0"/>
                  <a:t>Utilization metrics</a:t>
                </a:r>
                <a:endParaRPr lang="en-US" dirty="0"/>
              </a:p>
            </p:txBody>
          </p:sp>
        </p:grpSp>
      </p:grpSp>
      <p:sp>
        <p:nvSpPr>
          <p:cNvPr id="27" name="TextBox 26"/>
          <p:cNvSpPr txBox="1"/>
          <p:nvPr/>
        </p:nvSpPr>
        <p:spPr>
          <a:xfrm>
            <a:off x="127000" y="5232400"/>
            <a:ext cx="89027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“Knowledge” of what goes on “inside” the “Application” is “unknown” – outside purview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In case of “top or bottom” showing “abnormal/poor” behavior “pointed out” by testing: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Dev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/ design team is expected to “figure out” what could be possibly happening…</a:t>
            </a:r>
          </a:p>
        </p:txBody>
      </p:sp>
      <p:pic>
        <p:nvPicPr>
          <p:cNvPr id="4098" name="Picture 2" descr="C:\Users\ab275663\Pictures\Black box 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4200" y="3494676"/>
            <a:ext cx="939800" cy="449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oup 12"/>
          <p:cNvGrpSpPr/>
          <p:nvPr/>
        </p:nvGrpSpPr>
        <p:grpSpPr>
          <a:xfrm>
            <a:off x="7620000" y="2605617"/>
            <a:ext cx="1524000" cy="2282282"/>
            <a:chOff x="7620000" y="2605617"/>
            <a:chExt cx="1524000" cy="2282282"/>
          </a:xfrm>
        </p:grpSpPr>
        <p:pic>
          <p:nvPicPr>
            <p:cNvPr id="4099" name="Picture 3" descr="C:\Users\ab275663\Pictures\programmer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96200" y="3904720"/>
              <a:ext cx="862013" cy="8620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TextBox 2"/>
            <p:cNvSpPr txBox="1"/>
            <p:nvPr/>
          </p:nvSpPr>
          <p:spPr>
            <a:xfrm>
              <a:off x="7708900" y="4518567"/>
              <a:ext cx="1320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>
                  <a:solidFill>
                    <a:srgbClr val="0000CC"/>
                  </a:solidFill>
                </a:defRPr>
              </a:lvl1pPr>
            </a:lstStyle>
            <a:p>
              <a:r>
                <a:rPr lang="en-US" dirty="0"/>
                <a:t>Developer</a:t>
              </a:r>
            </a:p>
          </p:txBody>
        </p:sp>
        <p:sp>
          <p:nvSpPr>
            <p:cNvPr id="7" name="Oval Callout 6"/>
            <p:cNvSpPr/>
            <p:nvPr/>
          </p:nvSpPr>
          <p:spPr>
            <a:xfrm>
              <a:off x="7620000" y="2605617"/>
              <a:ext cx="1524000" cy="1248303"/>
            </a:xfrm>
            <a:prstGeom prst="wedgeEllipseCallou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50" dirty="0" smtClean="0"/>
                <a:t>I am simply consuming “out of the box” functionality…</a:t>
              </a:r>
              <a:endParaRPr lang="en-US" sz="1050" dirty="0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63500" y="2631017"/>
            <a:ext cx="1644650" cy="2320382"/>
            <a:chOff x="63500" y="2631017"/>
            <a:chExt cx="1644650" cy="2320382"/>
          </a:xfrm>
        </p:grpSpPr>
        <p:pic>
          <p:nvPicPr>
            <p:cNvPr id="4100" name="Picture 4" descr="C:\Users\ab275663\Pictures\desktop.bmp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000" y="3794362"/>
              <a:ext cx="806450" cy="8855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TextBox 28"/>
            <p:cNvSpPr txBox="1"/>
            <p:nvPr/>
          </p:nvSpPr>
          <p:spPr>
            <a:xfrm>
              <a:off x="69850" y="4582067"/>
              <a:ext cx="1638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rgbClr val="0000CC"/>
                  </a:solidFill>
                </a:rPr>
                <a:t>PT engineer</a:t>
              </a:r>
            </a:p>
          </p:txBody>
        </p:sp>
        <p:sp>
          <p:nvSpPr>
            <p:cNvPr id="30" name="Oval Callout 29"/>
            <p:cNvSpPr/>
            <p:nvPr/>
          </p:nvSpPr>
          <p:spPr>
            <a:xfrm>
              <a:off x="63500" y="2631017"/>
              <a:ext cx="1644650" cy="1150645"/>
            </a:xfrm>
            <a:prstGeom prst="wedgeEllipseCallout">
              <a:avLst>
                <a:gd name="adj1" fmla="val -27783"/>
                <a:gd name="adj2" fmla="val 53670"/>
              </a:avLst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50" dirty="0" smtClean="0"/>
                <a:t>I provide the test outcomes, not an authority on the application…</a:t>
              </a:r>
              <a:endParaRPr lang="en-US" sz="1050" dirty="0"/>
            </a:p>
          </p:txBody>
        </p:sp>
      </p:grpSp>
    </p:spTree>
    <p:extLst>
      <p:ext uri="{BB962C8B-B14F-4D97-AF65-F5344CB8AC3E}">
        <p14:creationId xmlns:p14="http://schemas.microsoft.com/office/powerpoint/2010/main" val="141079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68274" y="158222"/>
            <a:ext cx="8696325" cy="461665"/>
          </a:xfrm>
        </p:spPr>
        <p:txBody>
          <a:bodyPr/>
          <a:lstStyle/>
          <a:p>
            <a:r>
              <a:rPr lang="en-US" sz="2400" dirty="0" smtClean="0"/>
              <a:t>Moving beyond “Typical”</a:t>
            </a:r>
            <a:endParaRPr lang="en-US" sz="1800" dirty="0">
              <a:solidFill>
                <a:srgbClr val="0000CC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27000" y="774700"/>
            <a:ext cx="914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“Application” no more a “black box” w.r.t. non-functional behavior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Visibility and understanding of what is happening “inside” the product and how it affect (</a:t>
            </a:r>
            <a:r>
              <a:rPr lang="en-US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 the “front end” metrics and     (ii) underlying hardware - server utilizations….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1300" y="5791775"/>
            <a:ext cx="8902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solidFill>
                  <a:srgbClr val="0000CC"/>
                </a:solidFill>
              </a:rPr>
              <a:t>Correlation – diagnosis – configuration tuning…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solidFill>
                  <a:srgbClr val="0000CC"/>
                </a:solidFill>
              </a:rPr>
              <a:t>Scalability, throughput, design – deployment options…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7429500" y="2605617"/>
            <a:ext cx="1841500" cy="2282282"/>
            <a:chOff x="7416800" y="2605617"/>
            <a:chExt cx="1841500" cy="2282282"/>
          </a:xfrm>
        </p:grpSpPr>
        <p:pic>
          <p:nvPicPr>
            <p:cNvPr id="4099" name="Picture 3" descr="C:\Users\ab275663\Pictures\programmer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96200" y="3904720"/>
              <a:ext cx="862013" cy="8620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TextBox 2"/>
            <p:cNvSpPr txBox="1"/>
            <p:nvPr/>
          </p:nvSpPr>
          <p:spPr>
            <a:xfrm>
              <a:off x="7708900" y="4518567"/>
              <a:ext cx="1320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>
                  <a:solidFill>
                    <a:srgbClr val="0000CC"/>
                  </a:solidFill>
                </a:defRPr>
              </a:lvl1pPr>
            </a:lstStyle>
            <a:p>
              <a:r>
                <a:rPr lang="en-US" dirty="0"/>
                <a:t>Developer</a:t>
              </a:r>
            </a:p>
          </p:txBody>
        </p:sp>
        <p:sp>
          <p:nvSpPr>
            <p:cNvPr id="7" name="Oval Callout 6"/>
            <p:cNvSpPr/>
            <p:nvPr/>
          </p:nvSpPr>
          <p:spPr>
            <a:xfrm>
              <a:off x="7416800" y="2605617"/>
              <a:ext cx="1841500" cy="1299103"/>
            </a:xfrm>
            <a:prstGeom prst="wedgeEllipseCallou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50" dirty="0" smtClean="0"/>
                <a:t>What are “individual” grey areas ? What possible changes in configuration – settings can yield better outcomes…</a:t>
              </a:r>
              <a:endParaRPr lang="en-US" sz="1050" dirty="0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63500" y="2436499"/>
            <a:ext cx="1644650" cy="2565700"/>
            <a:chOff x="63500" y="2436499"/>
            <a:chExt cx="1644650" cy="2565700"/>
          </a:xfrm>
        </p:grpSpPr>
        <p:pic>
          <p:nvPicPr>
            <p:cNvPr id="4100" name="Picture 4" descr="C:\Users\ab275663\Pictures\desktop.bmp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000" y="3794362"/>
              <a:ext cx="806450" cy="8855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TextBox 28"/>
            <p:cNvSpPr txBox="1"/>
            <p:nvPr/>
          </p:nvSpPr>
          <p:spPr>
            <a:xfrm>
              <a:off x="69850" y="4632867"/>
              <a:ext cx="1638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rgbClr val="0000CC"/>
                  </a:solidFill>
                </a:rPr>
                <a:t>PT engineer</a:t>
              </a:r>
            </a:p>
          </p:txBody>
        </p:sp>
        <p:sp>
          <p:nvSpPr>
            <p:cNvPr id="30" name="Oval Callout 29"/>
            <p:cNvSpPr/>
            <p:nvPr/>
          </p:nvSpPr>
          <p:spPr>
            <a:xfrm>
              <a:off x="63500" y="2436499"/>
              <a:ext cx="1644650" cy="1345164"/>
            </a:xfrm>
            <a:prstGeom prst="wedgeEllipseCallout">
              <a:avLst>
                <a:gd name="adj1" fmla="val -27783"/>
                <a:gd name="adj2" fmla="val 53670"/>
              </a:avLst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50" dirty="0" smtClean="0"/>
                <a:t>How the internal non-functional behavior affects the front end and downstream components… Cause – effect...</a:t>
              </a:r>
              <a:endParaRPr lang="en-US" sz="1050" dirty="0"/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1778057" y="1968500"/>
            <a:ext cx="5689543" cy="3670300"/>
            <a:chOff x="1778057" y="1739900"/>
            <a:chExt cx="5689543" cy="3670300"/>
          </a:xfrm>
        </p:grpSpPr>
        <p:grpSp>
          <p:nvGrpSpPr>
            <p:cNvPr id="9" name="Group 8"/>
            <p:cNvGrpSpPr/>
            <p:nvPr/>
          </p:nvGrpSpPr>
          <p:grpSpPr>
            <a:xfrm>
              <a:off x="1816157" y="1739900"/>
              <a:ext cx="5651443" cy="598805"/>
              <a:chOff x="1778000" y="1955800"/>
              <a:chExt cx="5626100" cy="685800"/>
            </a:xfrm>
          </p:grpSpPr>
          <p:sp>
            <p:nvSpPr>
              <p:cNvPr id="6" name="Right Arrow 5"/>
              <p:cNvSpPr/>
              <p:nvPr/>
            </p:nvSpPr>
            <p:spPr>
              <a:xfrm rot="5400000">
                <a:off x="2172768" y="1903932"/>
                <a:ext cx="455064" cy="558800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ight Arrow 10"/>
              <p:cNvSpPr/>
              <p:nvPr/>
            </p:nvSpPr>
            <p:spPr>
              <a:xfrm rot="5400000">
                <a:off x="2909368" y="1903932"/>
                <a:ext cx="455064" cy="558800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ight Arrow 11"/>
              <p:cNvSpPr/>
              <p:nvPr/>
            </p:nvSpPr>
            <p:spPr>
              <a:xfrm rot="5400000">
                <a:off x="3531668" y="1929333"/>
                <a:ext cx="455064" cy="558800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ight Arrow 13"/>
              <p:cNvSpPr/>
              <p:nvPr/>
            </p:nvSpPr>
            <p:spPr>
              <a:xfrm rot="5400000">
                <a:off x="4268268" y="1929333"/>
                <a:ext cx="455064" cy="558800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1778000" y="1955800"/>
                <a:ext cx="5626100" cy="685800"/>
              </a:xfrm>
              <a:prstGeom prst="rect">
                <a:avLst/>
              </a:prstGeom>
              <a:noFill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/>
                <a:r>
                  <a:rPr lang="en-US" dirty="0" smtClean="0"/>
                  <a:t>Front end performance</a:t>
                </a:r>
                <a:endParaRPr lang="en-US" dirty="0"/>
              </a:p>
            </p:txBody>
          </p:sp>
        </p:grpSp>
        <p:grpSp>
          <p:nvGrpSpPr>
            <p:cNvPr id="21" name="Group 20"/>
            <p:cNvGrpSpPr/>
            <p:nvPr/>
          </p:nvGrpSpPr>
          <p:grpSpPr>
            <a:xfrm>
              <a:off x="1790700" y="4943474"/>
              <a:ext cx="5651443" cy="466726"/>
              <a:chOff x="1778000" y="1955800"/>
              <a:chExt cx="5626100" cy="685800"/>
            </a:xfrm>
          </p:grpSpPr>
          <p:sp>
            <p:nvSpPr>
              <p:cNvPr id="22" name="Right Arrow 21"/>
              <p:cNvSpPr/>
              <p:nvPr/>
            </p:nvSpPr>
            <p:spPr>
              <a:xfrm rot="16200000">
                <a:off x="2229682" y="2115381"/>
                <a:ext cx="341237" cy="558800"/>
              </a:xfrm>
              <a:prstGeom prst="rightArrow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ight Arrow 22"/>
              <p:cNvSpPr/>
              <p:nvPr/>
            </p:nvSpPr>
            <p:spPr>
              <a:xfrm rot="16200000">
                <a:off x="2966280" y="2115379"/>
                <a:ext cx="341240" cy="558800"/>
              </a:xfrm>
              <a:prstGeom prst="rightArrow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ight Arrow 23"/>
              <p:cNvSpPr/>
              <p:nvPr/>
            </p:nvSpPr>
            <p:spPr>
              <a:xfrm rot="16200000">
                <a:off x="3588581" y="2140779"/>
                <a:ext cx="341240" cy="558800"/>
              </a:xfrm>
              <a:prstGeom prst="rightArrow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Right Arrow 24"/>
              <p:cNvSpPr/>
              <p:nvPr/>
            </p:nvSpPr>
            <p:spPr>
              <a:xfrm rot="16200000">
                <a:off x="4274381" y="2140779"/>
                <a:ext cx="341240" cy="558800"/>
              </a:xfrm>
              <a:prstGeom prst="rightArrow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 25"/>
              <p:cNvSpPr/>
              <p:nvPr/>
            </p:nvSpPr>
            <p:spPr>
              <a:xfrm>
                <a:off x="1778000" y="1955800"/>
                <a:ext cx="5626100" cy="685800"/>
              </a:xfrm>
              <a:prstGeom prst="rect">
                <a:avLst/>
              </a:prstGeom>
              <a:noFill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/>
                <a:r>
                  <a:rPr lang="en-US" dirty="0" smtClean="0"/>
                  <a:t>Infrastructure</a:t>
                </a:r>
              </a:p>
              <a:p>
                <a:pPr algn="r"/>
                <a:r>
                  <a:rPr lang="en-US" dirty="0" smtClean="0"/>
                  <a:t>Utilization</a:t>
                </a:r>
                <a:endParaRPr lang="en-US" dirty="0"/>
              </a:p>
            </p:txBody>
          </p:sp>
        </p:grpSp>
        <p:grpSp>
          <p:nvGrpSpPr>
            <p:cNvPr id="31" name="Group 30"/>
            <p:cNvGrpSpPr/>
            <p:nvPr/>
          </p:nvGrpSpPr>
          <p:grpSpPr>
            <a:xfrm>
              <a:off x="1778057" y="2515235"/>
              <a:ext cx="5651443" cy="2259965"/>
              <a:chOff x="1778057" y="2515235"/>
              <a:chExt cx="5651443" cy="2259965"/>
            </a:xfrm>
          </p:grpSpPr>
          <p:sp>
            <p:nvSpPr>
              <p:cNvPr id="5" name="Rounded Rectangle 4"/>
              <p:cNvSpPr/>
              <p:nvPr/>
            </p:nvSpPr>
            <p:spPr>
              <a:xfrm>
                <a:off x="1778057" y="2515235"/>
                <a:ext cx="5651443" cy="2259965"/>
              </a:xfrm>
              <a:prstGeom prst="round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dirty="0" smtClean="0">
                    <a:solidFill>
                      <a:schemeClr val="bg1">
                        <a:lumMod val="85000"/>
                      </a:schemeClr>
                    </a:solidFill>
                  </a:rPr>
                  <a:t>Application under Test</a:t>
                </a:r>
                <a:endParaRPr lang="en-US" sz="2400" dirty="0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  <p:grpSp>
            <p:nvGrpSpPr>
              <p:cNvPr id="17" name="Group 16"/>
              <p:cNvGrpSpPr/>
              <p:nvPr/>
            </p:nvGrpSpPr>
            <p:grpSpPr>
              <a:xfrm>
                <a:off x="5092700" y="2971800"/>
                <a:ext cx="2116607" cy="1708150"/>
                <a:chOff x="5130801" y="2642189"/>
                <a:chExt cx="1755266" cy="1396412"/>
              </a:xfrm>
            </p:grpSpPr>
            <p:pic>
              <p:nvPicPr>
                <p:cNvPr id="7172" name="Picture 4"/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130801" y="2642189"/>
                  <a:ext cx="1755266" cy="13964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7170" name="Picture 2" descr="C:\Users\ab275663\Pictures\clock mechanism.jpg"/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saturation sat="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r="21594" b="12836"/>
                <a:stretch/>
              </p:blipFill>
              <p:spPr bwMode="auto">
                <a:xfrm rot="18685325">
                  <a:off x="5628340" y="2962867"/>
                  <a:ext cx="765557" cy="81036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</p:grpSp>
        <p:grpSp>
          <p:nvGrpSpPr>
            <p:cNvPr id="28" name="Group 27"/>
            <p:cNvGrpSpPr/>
            <p:nvPr/>
          </p:nvGrpSpPr>
          <p:grpSpPr>
            <a:xfrm>
              <a:off x="2296646" y="4391141"/>
              <a:ext cx="2835013" cy="640924"/>
              <a:chOff x="2296646" y="4391141"/>
              <a:chExt cx="2835013" cy="640924"/>
            </a:xfrm>
          </p:grpSpPr>
          <p:grpSp>
            <p:nvGrpSpPr>
              <p:cNvPr id="20" name="Group 19"/>
              <p:cNvGrpSpPr/>
              <p:nvPr/>
            </p:nvGrpSpPr>
            <p:grpSpPr>
              <a:xfrm>
                <a:off x="3687094" y="4391141"/>
                <a:ext cx="748832" cy="640924"/>
                <a:chOff x="4662227" y="4397395"/>
                <a:chExt cx="748832" cy="640924"/>
              </a:xfrm>
            </p:grpSpPr>
            <p:sp>
              <p:nvSpPr>
                <p:cNvPr id="16" name="Curved Up Arrow 15"/>
                <p:cNvSpPr/>
                <p:nvPr/>
              </p:nvSpPr>
              <p:spPr>
                <a:xfrm rot="18968750">
                  <a:off x="4966559" y="4732461"/>
                  <a:ext cx="444500" cy="305858"/>
                </a:xfrm>
                <a:prstGeom prst="curvedUpArrow">
                  <a:avLst/>
                </a:prstGeom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" name="Curved Down Arrow 18"/>
                <p:cNvSpPr/>
                <p:nvPr/>
              </p:nvSpPr>
              <p:spPr>
                <a:xfrm rot="18163601" flipH="1">
                  <a:off x="4641866" y="4417756"/>
                  <a:ext cx="408230" cy="367507"/>
                </a:xfrm>
                <a:prstGeom prst="curvedDownArrow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8" name="Group 37"/>
              <p:cNvGrpSpPr/>
              <p:nvPr/>
            </p:nvGrpSpPr>
            <p:grpSpPr>
              <a:xfrm>
                <a:off x="4382827" y="4391141"/>
                <a:ext cx="748832" cy="640924"/>
                <a:chOff x="4662227" y="4397395"/>
                <a:chExt cx="748832" cy="640924"/>
              </a:xfrm>
            </p:grpSpPr>
            <p:sp>
              <p:nvSpPr>
                <p:cNvPr id="39" name="Curved Up Arrow 38"/>
                <p:cNvSpPr/>
                <p:nvPr/>
              </p:nvSpPr>
              <p:spPr>
                <a:xfrm rot="18968750">
                  <a:off x="4966559" y="4732461"/>
                  <a:ext cx="444500" cy="305858"/>
                </a:xfrm>
                <a:prstGeom prst="curvedUpArrow">
                  <a:avLst/>
                </a:prstGeom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0" name="Curved Down Arrow 39"/>
                <p:cNvSpPr/>
                <p:nvPr/>
              </p:nvSpPr>
              <p:spPr>
                <a:xfrm rot="18163601" flipH="1">
                  <a:off x="4641866" y="4417756"/>
                  <a:ext cx="408230" cy="367507"/>
                </a:xfrm>
                <a:prstGeom prst="curvedDownArrow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1" name="Group 40"/>
              <p:cNvGrpSpPr/>
              <p:nvPr/>
            </p:nvGrpSpPr>
            <p:grpSpPr>
              <a:xfrm>
                <a:off x="2993207" y="4391141"/>
                <a:ext cx="748832" cy="640924"/>
                <a:chOff x="4662227" y="4397395"/>
                <a:chExt cx="748832" cy="640924"/>
              </a:xfrm>
            </p:grpSpPr>
            <p:sp>
              <p:nvSpPr>
                <p:cNvPr id="42" name="Curved Up Arrow 41"/>
                <p:cNvSpPr/>
                <p:nvPr/>
              </p:nvSpPr>
              <p:spPr>
                <a:xfrm rot="18968750">
                  <a:off x="4966559" y="4732461"/>
                  <a:ext cx="444500" cy="305858"/>
                </a:xfrm>
                <a:prstGeom prst="curvedUpArrow">
                  <a:avLst/>
                </a:prstGeom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3" name="Curved Down Arrow 42"/>
                <p:cNvSpPr/>
                <p:nvPr/>
              </p:nvSpPr>
              <p:spPr>
                <a:xfrm rot="18163601" flipH="1">
                  <a:off x="4641866" y="4417756"/>
                  <a:ext cx="408230" cy="367507"/>
                </a:xfrm>
                <a:prstGeom prst="curvedDownArrow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4" name="Group 43"/>
              <p:cNvGrpSpPr/>
              <p:nvPr/>
            </p:nvGrpSpPr>
            <p:grpSpPr>
              <a:xfrm>
                <a:off x="2296646" y="4391141"/>
                <a:ext cx="748832" cy="640924"/>
                <a:chOff x="4662227" y="4397395"/>
                <a:chExt cx="748832" cy="640924"/>
              </a:xfrm>
            </p:grpSpPr>
            <p:sp>
              <p:nvSpPr>
                <p:cNvPr id="45" name="Curved Up Arrow 44"/>
                <p:cNvSpPr/>
                <p:nvPr/>
              </p:nvSpPr>
              <p:spPr>
                <a:xfrm rot="18968750">
                  <a:off x="4966559" y="4732461"/>
                  <a:ext cx="444500" cy="305858"/>
                </a:xfrm>
                <a:prstGeom prst="curvedUpArrow">
                  <a:avLst/>
                </a:prstGeom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6" name="Curved Down Arrow 45"/>
                <p:cNvSpPr/>
                <p:nvPr/>
              </p:nvSpPr>
              <p:spPr>
                <a:xfrm rot="18163601" flipH="1">
                  <a:off x="4641866" y="4417756"/>
                  <a:ext cx="408230" cy="367507"/>
                </a:xfrm>
                <a:prstGeom prst="curvedDownArrow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60" name="Group 59"/>
            <p:cNvGrpSpPr/>
            <p:nvPr/>
          </p:nvGrpSpPr>
          <p:grpSpPr>
            <a:xfrm rot="10800000">
              <a:off x="2537868" y="2270746"/>
              <a:ext cx="2835013" cy="640924"/>
              <a:chOff x="2296646" y="4391141"/>
              <a:chExt cx="2835013" cy="640924"/>
            </a:xfrm>
          </p:grpSpPr>
          <p:grpSp>
            <p:nvGrpSpPr>
              <p:cNvPr id="61" name="Group 60"/>
              <p:cNvGrpSpPr/>
              <p:nvPr/>
            </p:nvGrpSpPr>
            <p:grpSpPr>
              <a:xfrm>
                <a:off x="3687094" y="4391141"/>
                <a:ext cx="748832" cy="640924"/>
                <a:chOff x="4662227" y="4397395"/>
                <a:chExt cx="748832" cy="640924"/>
              </a:xfrm>
            </p:grpSpPr>
            <p:sp>
              <p:nvSpPr>
                <p:cNvPr id="71" name="Curved Up Arrow 70"/>
                <p:cNvSpPr/>
                <p:nvPr/>
              </p:nvSpPr>
              <p:spPr>
                <a:xfrm rot="18968750">
                  <a:off x="4966559" y="4732461"/>
                  <a:ext cx="444500" cy="305858"/>
                </a:xfrm>
                <a:prstGeom prst="curvedUpArrow">
                  <a:avLst/>
                </a:prstGeom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2" name="Curved Down Arrow 71"/>
                <p:cNvSpPr/>
                <p:nvPr/>
              </p:nvSpPr>
              <p:spPr>
                <a:xfrm rot="18163601" flipH="1">
                  <a:off x="4641866" y="4417756"/>
                  <a:ext cx="408230" cy="367507"/>
                </a:xfrm>
                <a:prstGeom prst="curvedDownArrow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62" name="Group 61"/>
              <p:cNvGrpSpPr/>
              <p:nvPr/>
            </p:nvGrpSpPr>
            <p:grpSpPr>
              <a:xfrm>
                <a:off x="4382827" y="4391141"/>
                <a:ext cx="748832" cy="640924"/>
                <a:chOff x="4662227" y="4397395"/>
                <a:chExt cx="748832" cy="640924"/>
              </a:xfrm>
            </p:grpSpPr>
            <p:sp>
              <p:nvSpPr>
                <p:cNvPr id="69" name="Curved Up Arrow 68"/>
                <p:cNvSpPr/>
                <p:nvPr/>
              </p:nvSpPr>
              <p:spPr>
                <a:xfrm rot="18968750">
                  <a:off x="4966559" y="4732461"/>
                  <a:ext cx="444500" cy="305858"/>
                </a:xfrm>
                <a:prstGeom prst="curvedUpArrow">
                  <a:avLst/>
                </a:prstGeom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0" name="Curved Down Arrow 69"/>
                <p:cNvSpPr/>
                <p:nvPr/>
              </p:nvSpPr>
              <p:spPr>
                <a:xfrm rot="18163601" flipH="1">
                  <a:off x="4641866" y="4417756"/>
                  <a:ext cx="408230" cy="367507"/>
                </a:xfrm>
                <a:prstGeom prst="curvedDownArrow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63" name="Group 62"/>
              <p:cNvGrpSpPr/>
              <p:nvPr/>
            </p:nvGrpSpPr>
            <p:grpSpPr>
              <a:xfrm>
                <a:off x="2993207" y="4391141"/>
                <a:ext cx="748832" cy="640924"/>
                <a:chOff x="4662227" y="4397395"/>
                <a:chExt cx="748832" cy="640924"/>
              </a:xfrm>
            </p:grpSpPr>
            <p:sp>
              <p:nvSpPr>
                <p:cNvPr id="67" name="Curved Up Arrow 66"/>
                <p:cNvSpPr/>
                <p:nvPr/>
              </p:nvSpPr>
              <p:spPr>
                <a:xfrm rot="18968750">
                  <a:off x="4966559" y="4732461"/>
                  <a:ext cx="444500" cy="305858"/>
                </a:xfrm>
                <a:prstGeom prst="curvedUpArrow">
                  <a:avLst/>
                </a:prstGeom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8" name="Curved Down Arrow 67"/>
                <p:cNvSpPr/>
                <p:nvPr/>
              </p:nvSpPr>
              <p:spPr>
                <a:xfrm rot="18163601" flipH="1">
                  <a:off x="4641866" y="4417756"/>
                  <a:ext cx="408230" cy="367507"/>
                </a:xfrm>
                <a:prstGeom prst="curvedDownArrow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64" name="Group 63"/>
              <p:cNvGrpSpPr/>
              <p:nvPr/>
            </p:nvGrpSpPr>
            <p:grpSpPr>
              <a:xfrm>
                <a:off x="2296646" y="4391141"/>
                <a:ext cx="748832" cy="640924"/>
                <a:chOff x="4662227" y="4397395"/>
                <a:chExt cx="748832" cy="640924"/>
              </a:xfrm>
            </p:grpSpPr>
            <p:sp>
              <p:nvSpPr>
                <p:cNvPr id="65" name="Curved Up Arrow 64"/>
                <p:cNvSpPr/>
                <p:nvPr/>
              </p:nvSpPr>
              <p:spPr>
                <a:xfrm rot="18968750">
                  <a:off x="4966559" y="4732461"/>
                  <a:ext cx="444500" cy="305858"/>
                </a:xfrm>
                <a:prstGeom prst="curvedUpArrow">
                  <a:avLst/>
                </a:prstGeom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6" name="Curved Down Arrow 65"/>
                <p:cNvSpPr/>
                <p:nvPr/>
              </p:nvSpPr>
              <p:spPr>
                <a:xfrm rot="18163601" flipH="1">
                  <a:off x="4641866" y="4417756"/>
                  <a:ext cx="408230" cy="367507"/>
                </a:xfrm>
                <a:prstGeom prst="curvedDownArrow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143086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ab275663\Pictures\curtain 1.jpg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077913"/>
            <a:ext cx="1587501" cy="5513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899" y="138450"/>
            <a:ext cx="8788399" cy="492443"/>
          </a:xfrm>
        </p:spPr>
        <p:txBody>
          <a:bodyPr/>
          <a:lstStyle/>
          <a:p>
            <a:r>
              <a:rPr lang="en-US" sz="2600" dirty="0" smtClean="0"/>
              <a:t>Typical </a:t>
            </a:r>
            <a:r>
              <a:rPr lang="en-US" sz="2600" dirty="0" err="1" smtClean="0"/>
              <a:t>Vs</a:t>
            </a:r>
            <a:r>
              <a:rPr lang="en-US" sz="2600" dirty="0" smtClean="0"/>
              <a:t> Enhanced visibility: </a:t>
            </a:r>
            <a:r>
              <a:rPr lang="en-US" sz="2000" u="sng" dirty="0" smtClean="0">
                <a:solidFill>
                  <a:srgbClr val="0000CC"/>
                </a:solidFill>
              </a:rPr>
              <a:t>NF Footprint of application</a:t>
            </a:r>
            <a:endParaRPr lang="en-US" sz="2400" u="sng" dirty="0">
              <a:solidFill>
                <a:srgbClr val="0000CC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1320800"/>
            <a:ext cx="1739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Active </a:t>
            </a:r>
            <a:r>
              <a:rPr lang="en-US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vusers</a:t>
            </a:r>
            <a:endParaRPr lang="en-US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920999" y="1154113"/>
            <a:ext cx="525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US" dirty="0" smtClean="0"/>
              <a:t>Concurrently Active Users on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634277"/>
            <a:ext cx="1739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Page hits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043183"/>
            <a:ext cx="1739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Response times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400495"/>
            <a:ext cx="1739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CPU – </a:t>
            </a:r>
            <a:r>
              <a:rPr lang="en-US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Mem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utils</a:t>
            </a:r>
            <a:endParaRPr lang="en-US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20999" y="1556315"/>
            <a:ext cx="60832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US" dirty="0" smtClean="0"/>
              <a:t>Distribution of active users across application instances in cluster</a:t>
            </a:r>
          </a:p>
          <a:p>
            <a:pPr marL="285750" indent="-285750">
              <a:buFont typeface="Wingdings" pitchFamily="2" charset="2"/>
              <a:buChar char="ü"/>
            </a:pPr>
            <a:endParaRPr lang="en-US" dirty="0" smtClean="0"/>
          </a:p>
        </p:txBody>
      </p:sp>
      <p:sp>
        <p:nvSpPr>
          <p:cNvPr id="10" name="TextBox 9"/>
          <p:cNvSpPr txBox="1"/>
          <p:nvPr/>
        </p:nvSpPr>
        <p:spPr>
          <a:xfrm>
            <a:off x="2920999" y="2293490"/>
            <a:ext cx="5753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HTTP hits on web server and responses to them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0999" y="2703898"/>
            <a:ext cx="57530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Application level “hits” – work content for app tier</a:t>
            </a:r>
          </a:p>
          <a:p>
            <a:pPr marL="285750" indent="-285750">
              <a:buFont typeface="Wingdings" pitchFamily="2" charset="2"/>
              <a:buChar char="ü"/>
            </a:pPr>
            <a:endParaRPr lang="en-US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20999" y="3113392"/>
            <a:ext cx="57530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SQLs required to be executed by the application: variety &amp; volumes</a:t>
            </a:r>
          </a:p>
          <a:p>
            <a:pPr marL="285750" indent="-285750">
              <a:buFont typeface="Wingdings" pitchFamily="2" charset="2"/>
              <a:buChar char="ü"/>
            </a:pPr>
            <a:endParaRPr lang="en-US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20999" y="3990845"/>
            <a:ext cx="5753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US" dirty="0" smtClean="0"/>
              <a:t>Time for execution of SQLs: total, by 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0999" y="4401253"/>
            <a:ext cx="57530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US" dirty="0" smtClean="0"/>
              <a:t>Efficiency of DB and App to handle requests</a:t>
            </a:r>
          </a:p>
          <a:p>
            <a:pPr marL="285750" indent="-285750">
              <a:buFont typeface="Wingdings" pitchFamily="2" charset="2"/>
              <a:buChar char="ü"/>
            </a:pPr>
            <a:endParaRPr lang="en-US" dirty="0" smtClean="0"/>
          </a:p>
        </p:txBody>
      </p:sp>
      <p:sp>
        <p:nvSpPr>
          <p:cNvPr id="15" name="TextBox 14"/>
          <p:cNvSpPr txBox="1"/>
          <p:nvPr/>
        </p:nvSpPr>
        <p:spPr>
          <a:xfrm>
            <a:off x="2920999" y="5272412"/>
            <a:ext cx="6083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Number of processes required to execute app level hits</a:t>
            </a:r>
          </a:p>
          <a:p>
            <a:pPr marL="285750" indent="-285750">
              <a:buFont typeface="Wingdings" pitchFamily="2" charset="2"/>
              <a:buChar char="ü"/>
            </a:pPr>
            <a:endParaRPr lang="en-US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20999" y="5700172"/>
            <a:ext cx="6083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Efficiency of process to manage volumes &amp; times</a:t>
            </a:r>
          </a:p>
          <a:p>
            <a:pPr marL="285750" indent="-285750">
              <a:buFont typeface="Wingdings" pitchFamily="2" charset="2"/>
              <a:buChar char="ü"/>
            </a:pPr>
            <a:endParaRPr lang="en-US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20999" y="6095498"/>
            <a:ext cx="6083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Memory usage by individual instance of application </a:t>
            </a:r>
          </a:p>
          <a:p>
            <a:pPr marL="285750" indent="-285750">
              <a:buFont typeface="Wingdings" pitchFamily="2" charset="2"/>
              <a:buChar char="ü"/>
            </a:pPr>
            <a:endParaRPr lang="en-US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921000" y="4762518"/>
            <a:ext cx="57530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US" dirty="0" smtClean="0"/>
              <a:t>Distribution &amp; responses across cluster instances</a:t>
            </a:r>
          </a:p>
          <a:p>
            <a:pPr marL="285750" indent="-285750">
              <a:buFont typeface="Wingdings" pitchFamily="2" charset="2"/>
              <a:buChar char="ü"/>
            </a:pPr>
            <a:endParaRPr lang="en-US" dirty="0" smtClean="0"/>
          </a:p>
        </p:txBody>
      </p:sp>
      <p:sp>
        <p:nvSpPr>
          <p:cNvPr id="19" name="Right Arrow 18"/>
          <p:cNvSpPr/>
          <p:nvPr/>
        </p:nvSpPr>
        <p:spPr>
          <a:xfrm>
            <a:off x="304800" y="660400"/>
            <a:ext cx="4648200" cy="525979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rgbClr val="C00000"/>
                </a:solidFill>
              </a:rPr>
              <a:t>Behind the curtain – within the platform</a:t>
            </a:r>
          </a:p>
        </p:txBody>
      </p:sp>
    </p:spTree>
    <p:extLst>
      <p:ext uri="{BB962C8B-B14F-4D97-AF65-F5344CB8AC3E}">
        <p14:creationId xmlns:p14="http://schemas.microsoft.com/office/powerpoint/2010/main" val="1425535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68274" y="158222"/>
            <a:ext cx="8861426" cy="446276"/>
          </a:xfrm>
        </p:spPr>
        <p:txBody>
          <a:bodyPr/>
          <a:lstStyle/>
          <a:p>
            <a:r>
              <a:rPr lang="en-US" sz="2300" dirty="0" smtClean="0"/>
              <a:t>Application level parameters: </a:t>
            </a:r>
            <a:r>
              <a:rPr lang="en-US" sz="1800" dirty="0" smtClean="0">
                <a:solidFill>
                  <a:srgbClr val="0000CC"/>
                </a:solidFill>
              </a:rPr>
              <a:t>Load on application - SQL transactions</a:t>
            </a:r>
            <a:endParaRPr lang="en-US" sz="2000" dirty="0">
              <a:solidFill>
                <a:srgbClr val="0000CC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4200" y="4035524"/>
            <a:ext cx="3479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All types of DB </a:t>
            </a:r>
            <a:r>
              <a:rPr lang="en-US" sz="1600" dirty="0"/>
              <a:t>interactions – select, update, insets…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60 </a:t>
            </a:r>
            <a:r>
              <a:rPr lang="en-US" sz="1600" dirty="0" err="1" smtClean="0"/>
              <a:t>vusers</a:t>
            </a:r>
            <a:r>
              <a:rPr lang="en-US" sz="1600" dirty="0" smtClean="0"/>
              <a:t> doing around 1 journey or flow per minute results in around 7000 application level hits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Hits are fairly served by the 2 instances of application – each serving between 3K to 4K</a:t>
            </a:r>
          </a:p>
        </p:txBody>
      </p:sp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09253504"/>
              </p:ext>
            </p:extLst>
          </p:nvPr>
        </p:nvGraphicFramePr>
        <p:xfrm>
          <a:off x="2762250" y="787400"/>
          <a:ext cx="6381750" cy="2933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93497607"/>
              </p:ext>
            </p:extLst>
          </p:nvPr>
        </p:nvGraphicFramePr>
        <p:xfrm>
          <a:off x="38100" y="3721100"/>
          <a:ext cx="5638800" cy="2819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795277"/>
            <a:ext cx="28575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Workflow automation essentially involves “lot of allocations” by the applications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Heavy DB interactions to “create”, “assign”, “classify”, “stage”,….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App level “activity” translates into lot of SQLs…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15182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68274" y="158222"/>
            <a:ext cx="8696325" cy="446276"/>
          </a:xfrm>
        </p:spPr>
        <p:txBody>
          <a:bodyPr/>
          <a:lstStyle/>
          <a:p>
            <a:r>
              <a:rPr lang="en-US" sz="2300" dirty="0" smtClean="0"/>
              <a:t>Application level parameters: </a:t>
            </a:r>
            <a:r>
              <a:rPr lang="en-US" sz="1600" dirty="0" smtClean="0">
                <a:solidFill>
                  <a:srgbClr val="0000CC"/>
                </a:solidFill>
              </a:rPr>
              <a:t>Cluster instances in use – load balancing</a:t>
            </a:r>
            <a:endParaRPr lang="en-US" sz="1600" dirty="0">
              <a:solidFill>
                <a:srgbClr val="0000CC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7000" y="811430"/>
            <a:ext cx="28448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2 application clusters configured on app server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Load balancing scheme set to: Random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(Round robin had resulted in very skewed distribution)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Fairly equal distribution –throughout the test duration </a:t>
            </a:r>
            <a:r>
              <a:rPr lang="en-US" dirty="0" smtClean="0"/>
              <a:t>intervals</a:t>
            </a:r>
          </a:p>
        </p:txBody>
      </p:sp>
      <p:graphicFrame>
        <p:nvGraphicFramePr>
          <p:cNvPr id="8" name="Chart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87784670"/>
              </p:ext>
            </p:extLst>
          </p:nvPr>
        </p:nvGraphicFramePr>
        <p:xfrm>
          <a:off x="5054600" y="4227750"/>
          <a:ext cx="3886200" cy="23150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99267660"/>
              </p:ext>
            </p:extLst>
          </p:nvPr>
        </p:nvGraphicFramePr>
        <p:xfrm>
          <a:off x="2971800" y="890379"/>
          <a:ext cx="5969000" cy="32584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0" y="4376060"/>
            <a:ext cx="49149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Note that since the application works through sessions – the load distribution is based on “sticky sessions”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Once a user is “routed” to a particular cluster (by the load balancer) – all his (further) transactions mandatorily go to the same cluster – so distribution can not be exact</a:t>
            </a:r>
          </a:p>
        </p:txBody>
      </p:sp>
    </p:spTree>
    <p:extLst>
      <p:ext uri="{BB962C8B-B14F-4D97-AF65-F5344CB8AC3E}">
        <p14:creationId xmlns:p14="http://schemas.microsoft.com/office/powerpoint/2010/main" val="2291407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68274" y="158222"/>
            <a:ext cx="8696325" cy="446276"/>
          </a:xfrm>
        </p:spPr>
        <p:txBody>
          <a:bodyPr/>
          <a:lstStyle/>
          <a:p>
            <a:r>
              <a:rPr lang="en-US" sz="1800" dirty="0">
                <a:solidFill>
                  <a:schemeClr val="tx1"/>
                </a:solidFill>
                <a:latin typeface="+mn-lt"/>
                <a:cs typeface="+mn-cs"/>
              </a:rPr>
              <a:t>Application level parameters: </a:t>
            </a:r>
            <a:r>
              <a:rPr lang="en-US" sz="2300" dirty="0" smtClean="0">
                <a:solidFill>
                  <a:srgbClr val="0000CC"/>
                </a:solidFill>
              </a:rPr>
              <a:t>Actual Users on application</a:t>
            </a:r>
            <a:endParaRPr lang="en-US" sz="2000" dirty="0">
              <a:solidFill>
                <a:srgbClr val="0000CC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1181099"/>
            <a:ext cx="3219450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1600" dirty="0"/>
              <a:t>T</a:t>
            </a:r>
            <a:r>
              <a:rPr lang="en-US" sz="1600" dirty="0" smtClean="0"/>
              <a:t>he </a:t>
            </a:r>
            <a:r>
              <a:rPr lang="en-US" sz="1600" dirty="0"/>
              <a:t>test was executed with </a:t>
            </a:r>
            <a:r>
              <a:rPr lang="en-US" sz="1600" dirty="0" smtClean="0"/>
              <a:t>60 </a:t>
            </a:r>
            <a:r>
              <a:rPr lang="en-US" sz="1600" dirty="0" err="1"/>
              <a:t>vusers</a:t>
            </a:r>
            <a:r>
              <a:rPr lang="en-US" sz="1600" dirty="0"/>
              <a:t> and the application showed at the max </a:t>
            </a:r>
            <a:r>
              <a:rPr lang="en-US" sz="1600" dirty="0" smtClean="0"/>
              <a:t>88 </a:t>
            </a:r>
            <a:r>
              <a:rPr lang="en-US" sz="1600" dirty="0"/>
              <a:t>concurrent active users connected on </a:t>
            </a:r>
            <a:r>
              <a:rPr lang="en-US" sz="1600" dirty="0" smtClean="0"/>
              <a:t>the system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400" dirty="0" smtClean="0">
                <a:solidFill>
                  <a:srgbClr val="FF0000"/>
                </a:solidFill>
              </a:rPr>
              <a:t>Indicates user sessions stay (slightly) longer after the </a:t>
            </a:r>
            <a:r>
              <a:rPr lang="en-US" sz="1400" dirty="0" err="1" smtClean="0">
                <a:solidFill>
                  <a:srgbClr val="FF0000"/>
                </a:solidFill>
              </a:rPr>
              <a:t>vuser</a:t>
            </a:r>
            <a:r>
              <a:rPr lang="en-US" sz="1400" dirty="0" smtClean="0">
                <a:solidFill>
                  <a:srgbClr val="FF0000"/>
                </a:solidFill>
              </a:rPr>
              <a:t> logs out – need to check the corresponding settings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16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950" y="4240480"/>
            <a:ext cx="27559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1600" dirty="0"/>
              <a:t>The users seem to be evenly distributed across the 2 clusters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Random </a:t>
            </a:r>
            <a:r>
              <a:rPr lang="en-US" sz="1600" dirty="0"/>
              <a:t>load balancing </a:t>
            </a:r>
            <a:r>
              <a:rPr lang="en-US" sz="1600" dirty="0" smtClean="0"/>
              <a:t>scheme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Again 30+ users - sessions on each cluster – so “longer” sessions on BOTH clusters</a:t>
            </a:r>
            <a:endParaRPr lang="en-US" sz="160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3819440"/>
            <a:ext cx="572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CC"/>
                </a:solidFill>
              </a:rPr>
              <a:t>Cluster wise user distribution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" y="786367"/>
            <a:ext cx="468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CC"/>
                </a:solidFill>
              </a:rPr>
              <a:t>Users connected to system</a:t>
            </a:r>
          </a:p>
        </p:txBody>
      </p:sp>
      <p:graphicFrame>
        <p:nvGraphicFramePr>
          <p:cNvPr id="15" name="Chart 1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60213295"/>
              </p:ext>
            </p:extLst>
          </p:nvPr>
        </p:nvGraphicFramePr>
        <p:xfrm>
          <a:off x="3105149" y="804900"/>
          <a:ext cx="6038851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6" name="Chart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82577703"/>
              </p:ext>
            </p:extLst>
          </p:nvPr>
        </p:nvGraphicFramePr>
        <p:xfrm>
          <a:off x="2755900" y="3662657"/>
          <a:ext cx="5930900" cy="28213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429985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68274" y="158222"/>
            <a:ext cx="8861426" cy="446276"/>
          </a:xfrm>
        </p:spPr>
        <p:txBody>
          <a:bodyPr/>
          <a:lstStyle/>
          <a:p>
            <a:r>
              <a:rPr lang="en-US" sz="2300" dirty="0" smtClean="0"/>
              <a:t>Application level parameters: </a:t>
            </a:r>
            <a:r>
              <a:rPr lang="en-US" sz="2000" dirty="0" smtClean="0">
                <a:solidFill>
                  <a:srgbClr val="0000CC"/>
                </a:solidFill>
              </a:rPr>
              <a:t>Transaction volumes by users</a:t>
            </a:r>
            <a:endParaRPr lang="en-US" sz="2000" dirty="0">
              <a:solidFill>
                <a:srgbClr val="0000CC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786715"/>
            <a:ext cx="896620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Application </a:t>
            </a:r>
            <a:r>
              <a:rPr lang="en-US" sz="1600" dirty="0"/>
              <a:t>level transactions associated with each user – all users actively doing transaction throughout the test duration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/>
              <a:t>With the rate of 1 iteration per minute – all users are pumping load at slow rate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/>
              <a:t>Each user (while doing his flows) results in around (up to) 100-250 application level activities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/>
              <a:t>The volumes will be different for diff users depending on the nature of business process that user is doing: the </a:t>
            </a:r>
            <a:r>
              <a:rPr lang="en-US" sz="1600" dirty="0" err="1"/>
              <a:t>avg</a:t>
            </a:r>
            <a:r>
              <a:rPr lang="en-US" sz="1600" dirty="0"/>
              <a:t> hits per min range from 168 per minute with total of 11k hits to 6 per min with total of 500 hits for the different flows and users doing those flows</a:t>
            </a:r>
            <a:endParaRPr lang="en-US" sz="1200" dirty="0"/>
          </a:p>
          <a:p>
            <a:pPr marL="285750" indent="-285750">
              <a:buFont typeface="Arial" pitchFamily="34" charset="0"/>
              <a:buChar char="•"/>
            </a:pPr>
            <a:endParaRPr lang="en-US" sz="1600" dirty="0" smtClean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50" y="3048000"/>
            <a:ext cx="8921750" cy="3467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87285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68274" y="158222"/>
            <a:ext cx="8861426" cy="446276"/>
          </a:xfrm>
        </p:spPr>
        <p:txBody>
          <a:bodyPr/>
          <a:lstStyle/>
          <a:p>
            <a:r>
              <a:rPr lang="en-US" sz="2300" dirty="0" smtClean="0"/>
              <a:t>Downstream level parameters: </a:t>
            </a:r>
            <a:r>
              <a:rPr lang="en-US" sz="2000" dirty="0" smtClean="0">
                <a:solidFill>
                  <a:srgbClr val="0000CC"/>
                </a:solidFill>
              </a:rPr>
              <a:t>Application impacting </a:t>
            </a:r>
            <a:r>
              <a:rPr lang="en-US" sz="2000" dirty="0" err="1" smtClean="0">
                <a:solidFill>
                  <a:srgbClr val="0000CC"/>
                </a:solidFill>
              </a:rPr>
              <a:t>params</a:t>
            </a:r>
            <a:endParaRPr lang="en-US" sz="2000" dirty="0">
              <a:solidFill>
                <a:srgbClr val="0000CC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863601"/>
            <a:ext cx="26035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600" dirty="0" smtClean="0"/>
              <a:t>Chart </a:t>
            </a:r>
            <a:r>
              <a:rPr lang="en-US" sz="1600" dirty="0"/>
              <a:t>shows </a:t>
            </a:r>
            <a:r>
              <a:rPr lang="en-US" sz="1600" dirty="0" smtClean="0"/>
              <a:t>total time for execution of ALL queries every minute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600" dirty="0" smtClean="0"/>
              <a:t>These queries are directly associated with the response time for end users and hence the application performance is a direct function on these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600" dirty="0" smtClean="0"/>
              <a:t>For the given load – the total execution time is around 30-40 sec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600" dirty="0" smtClean="0"/>
              <a:t>The chart on bottom shows that the total execution time increases linearly with the application level hits – this is normal, a non-linear rise is indicative of constraints - bottlenecks</a:t>
            </a:r>
          </a:p>
        </p:txBody>
      </p:sp>
      <p:graphicFrame>
        <p:nvGraphicFramePr>
          <p:cNvPr id="9" name="Chart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3356453"/>
              </p:ext>
            </p:extLst>
          </p:nvPr>
        </p:nvGraphicFramePr>
        <p:xfrm>
          <a:off x="2762250" y="859612"/>
          <a:ext cx="638175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Chart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19614245"/>
              </p:ext>
            </p:extLst>
          </p:nvPr>
        </p:nvGraphicFramePr>
        <p:xfrm>
          <a:off x="2752725" y="3602812"/>
          <a:ext cx="6391275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26199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68274" y="158222"/>
            <a:ext cx="8861426" cy="446276"/>
          </a:xfrm>
        </p:spPr>
        <p:txBody>
          <a:bodyPr/>
          <a:lstStyle/>
          <a:p>
            <a:r>
              <a:rPr lang="en-US" sz="2300" dirty="0" smtClean="0"/>
              <a:t>Application level parameters: </a:t>
            </a:r>
            <a:r>
              <a:rPr lang="en-US" sz="2000" dirty="0" smtClean="0">
                <a:solidFill>
                  <a:srgbClr val="0000CC"/>
                </a:solidFill>
              </a:rPr>
              <a:t>SQL transactions and processes</a:t>
            </a:r>
            <a:endParaRPr lang="en-US" sz="2000" dirty="0">
              <a:solidFill>
                <a:srgbClr val="0000CC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863601"/>
            <a:ext cx="2603500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400" dirty="0"/>
              <a:t>Summary of SQL queries – Brief SQL corresponds to the query skeleton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400" dirty="0"/>
              <a:t>Chart shows number of DISTINCT brief SQLs in action and number of DISTINCT tables-objects (main table associated with the SQL</a:t>
            </a:r>
            <a:r>
              <a:rPr lang="en-US" sz="1400" dirty="0" smtClean="0"/>
              <a:t>)</a:t>
            </a:r>
            <a:endParaRPr lang="en-US" sz="1400" dirty="0"/>
          </a:p>
          <a:p>
            <a:pPr marL="171450" indent="-171450">
              <a:buFont typeface="Arial" pitchFamily="34" charset="0"/>
              <a:buChar char="•"/>
            </a:pPr>
            <a:r>
              <a:rPr lang="en-US" sz="1400" dirty="0"/>
              <a:t>Indicates around 110 tables/objects in action for ALL the flows and around 180 types of queries being executed across ALL </a:t>
            </a:r>
            <a:r>
              <a:rPr lang="en-US" sz="1400" dirty="0" smtClean="0"/>
              <a:t>activities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400" dirty="0" smtClean="0"/>
              <a:t>Application works on threads – processes to carry out the app level transactions – mainly the SQLs – the count of processes in use is shown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400" dirty="0" smtClean="0"/>
              <a:t>10 processes in dormant / idle state – reaching to 30-40 and peaking at 50’s </a:t>
            </a:r>
            <a:endParaRPr lang="en-US" sz="1400" dirty="0"/>
          </a:p>
          <a:p>
            <a:pPr marL="171450" indent="-171450">
              <a:buFont typeface="Arial" pitchFamily="34" charset="0"/>
              <a:buChar char="•"/>
            </a:pPr>
            <a:endParaRPr lang="en-US" sz="1400" dirty="0" smtClean="0"/>
          </a:p>
        </p:txBody>
      </p:sp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42255772"/>
              </p:ext>
            </p:extLst>
          </p:nvPr>
        </p:nvGraphicFramePr>
        <p:xfrm>
          <a:off x="2374900" y="863600"/>
          <a:ext cx="6769100" cy="279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98655349"/>
              </p:ext>
            </p:extLst>
          </p:nvPr>
        </p:nvGraphicFramePr>
        <p:xfrm>
          <a:off x="2638425" y="3802777"/>
          <a:ext cx="638175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44283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450" y="139700"/>
            <a:ext cx="8229600" cy="446276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sz="2300" dirty="0"/>
              <a:t>Application level parameters: </a:t>
            </a:r>
            <a:r>
              <a:rPr lang="en-US" sz="1600" dirty="0">
                <a:solidFill>
                  <a:srgbClr val="0000CC"/>
                </a:solidFill>
              </a:rPr>
              <a:t>Efficiency of Application- Processes</a:t>
            </a:r>
          </a:p>
        </p:txBody>
      </p:sp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57248202"/>
              </p:ext>
            </p:extLst>
          </p:nvPr>
        </p:nvGraphicFramePr>
        <p:xfrm>
          <a:off x="4686300" y="3766066"/>
          <a:ext cx="4292600" cy="28506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70699805"/>
              </p:ext>
            </p:extLst>
          </p:nvPr>
        </p:nvGraphicFramePr>
        <p:xfrm>
          <a:off x="4800600" y="845066"/>
          <a:ext cx="4089400" cy="2895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0" y="896491"/>
            <a:ext cx="4699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Each individual process is capable of executing multiple SQLs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As number of front end transactions increases – it results in growth on SQLs – which in turn require processes to execute and thus count of processes increases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Application requires </a:t>
            </a:r>
            <a:r>
              <a:rPr lang="en-US" sz="1600" dirty="0" smtClean="0">
                <a:latin typeface="Calibri"/>
                <a:cs typeface="Calibri"/>
              </a:rPr>
              <a:t>≈ </a:t>
            </a:r>
            <a:r>
              <a:rPr lang="en-US" sz="1600" b="1" u="sng" dirty="0"/>
              <a:t>5 processes per 1000 </a:t>
            </a:r>
            <a:r>
              <a:rPr lang="en-US" sz="1600" b="1" u="sng" dirty="0" smtClean="0"/>
              <a:t>app level hits per minute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Each process can execute </a:t>
            </a:r>
            <a:r>
              <a:rPr lang="en-US" sz="1600" dirty="0" smtClean="0">
                <a:latin typeface="Calibri"/>
                <a:cs typeface="Calibri"/>
              </a:rPr>
              <a:t>≈ </a:t>
            </a:r>
            <a:r>
              <a:rPr lang="en-US" sz="1600" b="1" u="sng" dirty="0"/>
              <a:t>200</a:t>
            </a:r>
            <a:r>
              <a:rPr lang="en-US" sz="1600" b="1" u="sng" dirty="0" smtClean="0"/>
              <a:t> SQLs per minute summing to </a:t>
            </a:r>
            <a:r>
              <a:rPr lang="en-US" sz="1600" b="1" u="sng" dirty="0">
                <a:latin typeface="Calibri"/>
                <a:cs typeface="Calibri"/>
              </a:rPr>
              <a:t>≈ </a:t>
            </a:r>
            <a:r>
              <a:rPr lang="en-US" sz="1600" b="1" u="sng" dirty="0" smtClean="0"/>
              <a:t>1 sec execution time</a:t>
            </a:r>
            <a:endParaRPr lang="en-US" sz="1600" b="1" u="sng" dirty="0"/>
          </a:p>
        </p:txBody>
      </p:sp>
      <p:graphicFrame>
        <p:nvGraphicFramePr>
          <p:cNvPr id="10" name="Chart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69429700"/>
              </p:ext>
            </p:extLst>
          </p:nvPr>
        </p:nvGraphicFramePr>
        <p:xfrm>
          <a:off x="279400" y="3810000"/>
          <a:ext cx="4343400" cy="2768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376593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3211"/>
            <a:ext cx="8229600" cy="461665"/>
          </a:xfrm>
        </p:spPr>
        <p:txBody>
          <a:bodyPr/>
          <a:lstStyle/>
          <a:p>
            <a:r>
              <a:rPr lang="en-US" sz="2400" dirty="0"/>
              <a:t>Application level insight: </a:t>
            </a:r>
            <a:r>
              <a:rPr lang="en-US" sz="2000" dirty="0">
                <a:solidFill>
                  <a:srgbClr val="0000CC"/>
                </a:solidFill>
              </a:rPr>
              <a:t>Errors, suspicious activities…</a:t>
            </a:r>
            <a:endParaRPr lang="en-US"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120650" y="888998"/>
            <a:ext cx="8642350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1400" dirty="0">
                <a:solidFill>
                  <a:srgbClr val="C00000"/>
                </a:solidFill>
              </a:rPr>
              <a:t>2 instances </a:t>
            </a:r>
            <a:r>
              <a:rPr lang="en-US" sz="1400" dirty="0" smtClean="0">
                <a:solidFill>
                  <a:srgbClr val="C00000"/>
                </a:solidFill>
              </a:rPr>
              <a:t>of</a:t>
            </a:r>
            <a:r>
              <a:rPr lang="en-US" sz="1400" dirty="0" smtClean="0"/>
              <a:t>: App </a:t>
            </a:r>
            <a:r>
              <a:rPr lang="en-US" sz="1400" dirty="0"/>
              <a:t>logs (TIK-App_MaxClust2_maximo.log.2): Session Id updated by another user…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1050" dirty="0"/>
              <a:t>13 Mar 2014 18:10:15:799 [ERROR] [MaxClust2] [] BMXAA8229W - Record MAXSESSION :  MAXSESSIONUID=190,967 has been updated by another user. Your changes have not been saved. Refresh the record and try again.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1050" dirty="0" err="1"/>
              <a:t>psdi.util.MXRowUpdateException</a:t>
            </a:r>
            <a:r>
              <a:rPr lang="en-US" sz="1050" dirty="0"/>
              <a:t>: BMXAA8229W - Record MAXSESSION :  MAXSESSIONUID=190,967</a:t>
            </a:r>
            <a:endParaRPr lang="en-US" sz="1050" dirty="0" smtClean="0">
              <a:latin typeface="+mj-lt"/>
            </a:endParaRPr>
          </a:p>
          <a:p>
            <a:pPr marL="285750" indent="-285750">
              <a:buFont typeface="Arial" pitchFamily="34" charset="0"/>
              <a:buChar char="•"/>
            </a:pPr>
            <a:endParaRPr lang="en-US" sz="1050" dirty="0" smtClean="0">
              <a:latin typeface="+mj-lt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sz="1400" dirty="0">
                <a:solidFill>
                  <a:srgbClr val="C00000"/>
                </a:solidFill>
              </a:rPr>
              <a:t>Errors throughout the test:</a:t>
            </a:r>
            <a:r>
              <a:rPr lang="en-US" sz="1400" dirty="0"/>
              <a:t> </a:t>
            </a:r>
            <a:r>
              <a:rPr lang="en-US" sz="1050" dirty="0" smtClean="0">
                <a:latin typeface="+mj-lt"/>
              </a:rPr>
              <a:t>“</a:t>
            </a:r>
            <a:r>
              <a:rPr lang="en-US" sz="1100" dirty="0" smtClean="0"/>
              <a:t>Attempt </a:t>
            </a:r>
            <a:r>
              <a:rPr lang="en-US" sz="1100" dirty="0"/>
              <a:t>to close IM session that is not </a:t>
            </a:r>
            <a:r>
              <a:rPr lang="en-US" sz="1100" dirty="0" smtClean="0"/>
              <a:t>opened” </a:t>
            </a:r>
            <a:r>
              <a:rPr lang="en-US" sz="1100" dirty="0">
                <a:solidFill>
                  <a:srgbClr val="0000CC"/>
                </a:solidFill>
              </a:rPr>
              <a:t>followed by </a:t>
            </a:r>
            <a:r>
              <a:rPr lang="en-US" sz="1100" dirty="0" smtClean="0">
                <a:solidFill>
                  <a:srgbClr val="0000CC"/>
                </a:solidFill>
              </a:rPr>
              <a:t>“</a:t>
            </a:r>
            <a:r>
              <a:rPr lang="en-US" sz="1100" dirty="0" smtClean="0"/>
              <a:t>IM </a:t>
            </a:r>
            <a:r>
              <a:rPr lang="en-US" sz="1100" dirty="0"/>
              <a:t>session handler closed. Reason: There is no </a:t>
            </a:r>
            <a:r>
              <a:rPr lang="en-US" sz="1100" dirty="0" err="1"/>
              <a:t>WebClientSession</a:t>
            </a:r>
            <a:r>
              <a:rPr lang="en-US" sz="1100" dirty="0"/>
              <a:t> correlated to this </a:t>
            </a:r>
            <a:r>
              <a:rPr lang="en-US" sz="1100" dirty="0" err="1" smtClean="0"/>
              <a:t>HttpSession</a:t>
            </a:r>
            <a:r>
              <a:rPr lang="en-US" sz="1100" dirty="0" smtClean="0"/>
              <a:t>”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1100" dirty="0"/>
          </a:p>
          <a:p>
            <a:pPr marL="285750" lvl="1" indent="-285750">
              <a:buFont typeface="Arial" pitchFamily="34" charset="0"/>
              <a:buChar char="•"/>
            </a:pPr>
            <a:r>
              <a:rPr lang="en-US" sz="1200" dirty="0"/>
              <a:t>Any issue with pacing with same user id being used for logging by </a:t>
            </a:r>
            <a:endParaRPr lang="en-US" sz="1200" dirty="0" smtClean="0"/>
          </a:p>
          <a:p>
            <a:pPr marL="285750" lvl="1" indent="-285750">
              <a:buFont typeface="Arial" pitchFamily="34" charset="0"/>
              <a:buChar char="•"/>
            </a:pPr>
            <a:r>
              <a:rPr lang="en-US" sz="1200" dirty="0" smtClean="0"/>
              <a:t>the </a:t>
            </a:r>
            <a:r>
              <a:rPr lang="en-US" sz="1200" dirty="0"/>
              <a:t>next </a:t>
            </a:r>
            <a:r>
              <a:rPr lang="en-US" sz="1200" dirty="0" err="1"/>
              <a:t>vuser</a:t>
            </a:r>
            <a:r>
              <a:rPr lang="en-US" sz="1200" dirty="0"/>
              <a:t> before the previous user logs out with the same id ??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200" dirty="0"/>
              <a:t>Initial count around 20 per minute – rising to 60 per minute </a:t>
            </a:r>
            <a:r>
              <a:rPr lang="en-US" sz="1200" dirty="0" smtClean="0"/>
              <a:t>and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200" dirty="0" smtClean="0"/>
              <a:t>then </a:t>
            </a:r>
            <a:r>
              <a:rPr lang="en-US" sz="1200" dirty="0"/>
              <a:t>gradually coming down…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1400" dirty="0" smtClean="0"/>
          </a:p>
          <a:p>
            <a:pPr marL="285750" indent="-285750">
              <a:buFont typeface="Arial" pitchFamily="34" charset="0"/>
              <a:buChar char="•"/>
            </a:pPr>
            <a:endParaRPr lang="en-US" sz="1400" dirty="0"/>
          </a:p>
          <a:p>
            <a:pPr marL="285750" indent="-285750">
              <a:buFont typeface="Arial" pitchFamily="34" charset="0"/>
              <a:buChar char="•"/>
            </a:pPr>
            <a:endParaRPr lang="en-US" sz="1400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sz="1400" dirty="0" smtClean="0">
                <a:solidFill>
                  <a:srgbClr val="C00000"/>
                </a:solidFill>
              </a:rPr>
              <a:t>Cluster </a:t>
            </a:r>
            <a:r>
              <a:rPr lang="en-US" sz="1400" dirty="0">
                <a:solidFill>
                  <a:srgbClr val="C00000"/>
                </a:solidFill>
              </a:rPr>
              <a:t>2 instance ran out of </a:t>
            </a:r>
            <a:r>
              <a:rPr lang="en-US" sz="1400" dirty="0" smtClean="0">
                <a:solidFill>
                  <a:srgbClr val="C00000"/>
                </a:solidFill>
              </a:rPr>
              <a:t>memory</a:t>
            </a:r>
            <a:r>
              <a:rPr lang="en-US" sz="1400" dirty="0" smtClean="0"/>
              <a:t>:</a:t>
            </a:r>
            <a:r>
              <a:rPr lang="en-US" sz="1400" dirty="0"/>
              <a:t> at 18:29:58 and 200 </a:t>
            </a:r>
            <a:r>
              <a:rPr lang="en-US" sz="1400" dirty="0" err="1"/>
              <a:t>msec</a:t>
            </a:r>
            <a:endParaRPr lang="en-US" sz="1400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sz="1100" dirty="0"/>
              <a:t>13 Mar 2014 18:29:58:200 [ERROR] [MaxClust2] </a:t>
            </a:r>
            <a:r>
              <a:rPr lang="en-US" sz="1100" dirty="0" smtClean="0"/>
              <a:t>[] </a:t>
            </a:r>
            <a:r>
              <a:rPr lang="en-US" sz="1100" dirty="0"/>
              <a:t>Java heap </a:t>
            </a:r>
            <a:r>
              <a:rPr lang="en-US" sz="1100" dirty="0" smtClean="0"/>
              <a:t>space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100" dirty="0" smtClean="0"/>
              <a:t> </a:t>
            </a:r>
            <a:r>
              <a:rPr lang="en-US" sz="1100" dirty="0" err="1" smtClean="0"/>
              <a:t>java.lang.OutOfMemoryError</a:t>
            </a:r>
            <a:endParaRPr lang="en-US" sz="1100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sz="1400" dirty="0" smtClean="0">
                <a:solidFill>
                  <a:srgbClr val="C00000"/>
                </a:solidFill>
              </a:rPr>
              <a:t>App logs (TIK-App_MaxClust2_maximo.log); </a:t>
            </a:r>
            <a:r>
              <a:rPr lang="en-US" sz="1400" dirty="0" err="1" smtClean="0">
                <a:solidFill>
                  <a:srgbClr val="C00000"/>
                </a:solidFill>
              </a:rPr>
              <a:t>NullPointerException</a:t>
            </a:r>
            <a:r>
              <a:rPr lang="en-US" sz="1400" dirty="0">
                <a:solidFill>
                  <a:srgbClr val="C00000"/>
                </a:solidFill>
              </a:rPr>
              <a:t>?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100" dirty="0" smtClean="0"/>
              <a:t>13 </a:t>
            </a:r>
            <a:r>
              <a:rPr lang="en-US" sz="1100" dirty="0"/>
              <a:t>Mar 2014 18:29:58:191 [ERROR] [MaxClust2] [] </a:t>
            </a:r>
            <a:r>
              <a:rPr lang="en-US" sz="1100" dirty="0" err="1"/>
              <a:t>java.lang.NullPointerException</a:t>
            </a:r>
            <a:endParaRPr lang="en-US" sz="11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1100" dirty="0"/>
              <a:t>13 Mar 2014 18:29:58:191 [ERROR] [MaxClust2] [] </a:t>
            </a:r>
            <a:r>
              <a:rPr lang="en-US" sz="1100" dirty="0" err="1"/>
              <a:t>java.lang.NullPointerException</a:t>
            </a:r>
            <a:endParaRPr lang="en-US" sz="11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1100" dirty="0"/>
              <a:t>13 Mar 2014 18:29:58:201 [ERROR] [MaxClust2] [] </a:t>
            </a:r>
            <a:r>
              <a:rPr lang="en-US" sz="1100" dirty="0" err="1"/>
              <a:t>java.lang.NullPointerException</a:t>
            </a:r>
            <a:endParaRPr lang="en-US" sz="11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1100" dirty="0"/>
              <a:t>13 Mar 2014 18:29:58:200 [ERROR] [MaxClust2] [] Java heap space </a:t>
            </a:r>
            <a:r>
              <a:rPr lang="en-US" sz="1100" dirty="0" err="1"/>
              <a:t>java.lang.OutOfMemoryError</a:t>
            </a:r>
            <a:r>
              <a:rPr lang="en-US" sz="1100" dirty="0"/>
              <a:t>: Java heap space 	at ?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100" dirty="0"/>
              <a:t>13 Mar 2014 18:34:46:661 [ERROR] [MaxClust2] [] Java heap space </a:t>
            </a:r>
            <a:r>
              <a:rPr lang="en-US" sz="1100" dirty="0" err="1"/>
              <a:t>java.lang.OutOfMemoryError</a:t>
            </a:r>
            <a:r>
              <a:rPr lang="en-US" sz="1100" dirty="0"/>
              <a:t>: Java heap space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100" dirty="0"/>
              <a:t>13 Mar 2014 18:35:48:887 [ERROR] [MaxClust2] [] </a:t>
            </a:r>
            <a:r>
              <a:rPr lang="en-US" sz="1100" dirty="0" err="1"/>
              <a:t>java.lang.NullPointerException</a:t>
            </a:r>
            <a:endParaRPr lang="en-US" sz="11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1100" dirty="0"/>
              <a:t>13 Mar 2014 18:36:02:373 [ERROR] [MaxClust2] [] </a:t>
            </a:r>
            <a:r>
              <a:rPr lang="en-US" sz="1100" dirty="0" err="1"/>
              <a:t>java.lang.NullPointerException</a:t>
            </a:r>
            <a:endParaRPr lang="en-US" sz="11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1100" dirty="0"/>
              <a:t>13 Mar 2014 18:36:02:382 [ERROR] [MaxClust2] [] </a:t>
            </a:r>
            <a:r>
              <a:rPr lang="en-US" sz="1100" dirty="0" err="1"/>
              <a:t>java.lang.NullPointerException</a:t>
            </a:r>
            <a:endParaRPr lang="en-US" sz="1100" dirty="0"/>
          </a:p>
          <a:p>
            <a:pPr marL="285750" indent="-285750">
              <a:buFont typeface="Arial" pitchFamily="34" charset="0"/>
              <a:buChar char="•"/>
            </a:pPr>
            <a:endParaRPr lang="en-US" sz="1100" dirty="0"/>
          </a:p>
          <a:p>
            <a:endParaRPr lang="en-US" sz="1400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856" y="2029370"/>
            <a:ext cx="3563144" cy="2087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36088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" y="68012"/>
            <a:ext cx="9023350" cy="738664"/>
          </a:xfrm>
        </p:spPr>
        <p:txBody>
          <a:bodyPr/>
          <a:lstStyle/>
          <a:p>
            <a:r>
              <a:rPr lang="en-US" sz="2400" dirty="0" smtClean="0"/>
              <a:t>Uncover Non-functional “footprint” of business usage:</a:t>
            </a:r>
            <a:r>
              <a:rPr lang="en-US" sz="2000" dirty="0" smtClean="0"/>
              <a:t> </a:t>
            </a:r>
            <a:br>
              <a:rPr lang="en-US" sz="2000" dirty="0" smtClean="0"/>
            </a:br>
            <a:r>
              <a:rPr lang="en-US" sz="1800" dirty="0" smtClean="0">
                <a:solidFill>
                  <a:srgbClr val="0000CC"/>
                </a:solidFill>
              </a:rPr>
              <a:t>optimal performance – deployment based on next level of visibility</a:t>
            </a:r>
            <a:endParaRPr lang="en-US" sz="1800" dirty="0">
              <a:solidFill>
                <a:srgbClr val="0000CC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225" y="846720"/>
            <a:ext cx="28829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+mj-lt"/>
              </a:rPr>
              <a:t>End use of application in view of fulfilling the business processes through different stages and actors: results in this (NF) impact on “application”</a:t>
            </a:r>
            <a:endParaRPr lang="en-US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406400" y="648865"/>
            <a:ext cx="8734425" cy="4324350"/>
            <a:chOff x="28575" y="2333625"/>
            <a:chExt cx="8734425" cy="4324350"/>
          </a:xfrm>
        </p:grpSpPr>
        <p:graphicFrame>
          <p:nvGraphicFramePr>
            <p:cNvPr id="7" name="Chart 6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60382472"/>
                </p:ext>
              </p:extLst>
            </p:nvPr>
          </p:nvGraphicFramePr>
          <p:xfrm>
            <a:off x="2124075" y="2333625"/>
            <a:ext cx="6638925" cy="432435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5" name="TextBox 4"/>
            <p:cNvSpPr txBox="1"/>
            <p:nvPr/>
          </p:nvSpPr>
          <p:spPr>
            <a:xfrm>
              <a:off x="393700" y="5242362"/>
              <a:ext cx="147002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 smtClean="0">
                  <a:solidFill>
                    <a:srgbClr val="0000CC"/>
                  </a:solidFill>
                </a:rPr>
                <a:t>Business  processes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8575" y="4062631"/>
              <a:ext cx="249872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rgbClr val="0000CC"/>
                  </a:solidFill>
                </a:rPr>
                <a:t>Business entities – Actors </a:t>
              </a:r>
              <a:r>
                <a:rPr lang="en-US" sz="1100" dirty="0" smtClean="0">
                  <a:solidFill>
                    <a:srgbClr val="0000CC"/>
                  </a:solidFill>
                </a:rPr>
                <a:t>(across geographies)</a:t>
              </a:r>
              <a:endParaRPr lang="en-US" dirty="0" smtClean="0">
                <a:solidFill>
                  <a:srgbClr val="0000CC"/>
                </a:solidFill>
              </a:endParaRPr>
            </a:p>
          </p:txBody>
        </p:sp>
        <p:sp>
          <p:nvSpPr>
            <p:cNvPr id="9" name="Right Arrow 8"/>
            <p:cNvSpPr/>
            <p:nvPr/>
          </p:nvSpPr>
          <p:spPr>
            <a:xfrm>
              <a:off x="2222500" y="4330700"/>
              <a:ext cx="1028700" cy="266700"/>
            </a:xfrm>
            <a:prstGeom prst="rightArrow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ight Brace 9"/>
            <p:cNvSpPr/>
            <p:nvPr/>
          </p:nvSpPr>
          <p:spPr>
            <a:xfrm>
              <a:off x="1590675" y="4699000"/>
              <a:ext cx="504825" cy="1905000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/>
          <p:cNvSpPr/>
          <p:nvPr/>
        </p:nvSpPr>
        <p:spPr>
          <a:xfrm>
            <a:off x="76202" y="5008342"/>
            <a:ext cx="1579560" cy="164645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1000 app hits: require </a:t>
            </a:r>
            <a:r>
              <a:rPr lang="en-US" dirty="0"/>
              <a:t>5 </a:t>
            </a:r>
            <a:r>
              <a:rPr lang="en-US" dirty="0" smtClean="0"/>
              <a:t>Processes for RT under 3 sec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728788" y="5029200"/>
            <a:ext cx="1385887" cy="162559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 process: 200 app hits or SQLs per minute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3200401" y="5016499"/>
            <a:ext cx="1701799" cy="163829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 process: 1 sec of total SQL execution through 200 SQLs per minute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4965703" y="5021042"/>
            <a:ext cx="1435097" cy="163375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DB: 1 CPU per 2500-3000 hits/min: </a:t>
            </a:r>
          </a:p>
          <a:p>
            <a:pPr algn="ctr"/>
            <a:r>
              <a:rPr lang="en-US" dirty="0" smtClean="0"/>
              <a:t>16 Gb RAM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6489700" y="5021042"/>
            <a:ext cx="1333499" cy="163375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App: 1 CPU per 5000-6000 hits/min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7873999" y="5008342"/>
            <a:ext cx="1244601" cy="164645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App: </a:t>
            </a:r>
          </a:p>
          <a:p>
            <a:pPr algn="ctr"/>
            <a:r>
              <a:rPr lang="en-US" dirty="0" smtClean="0"/>
              <a:t>2 CPUs + 4 Gb RAM per instance in cluster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755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8" name="Text Placeholder 7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 smtClean="0"/>
              <a:t>Dr Abhijit S Ranjekar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 smtClean="0"/>
              <a:t>Abhijit.ranjekar@wipro.com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 smtClean="0"/>
              <a:t>Senior Consultant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ank">
  <a:themeElements>
    <a:clrScheme name="Wipro PPT Colors 2012">
      <a:dk1>
        <a:sysClr val="windowText" lastClr="000000"/>
      </a:dk1>
      <a:lt1>
        <a:sysClr val="window" lastClr="FFFFFF"/>
      </a:lt1>
      <a:dk2>
        <a:srgbClr val="37302A"/>
      </a:dk2>
      <a:lt2>
        <a:srgbClr val="A7E8FF"/>
      </a:lt2>
      <a:accent1>
        <a:srgbClr val="00B0F0"/>
      </a:accent1>
      <a:accent2>
        <a:srgbClr val="39B3E9"/>
      </a:accent2>
      <a:accent3>
        <a:srgbClr val="0287CA"/>
      </a:accent3>
      <a:accent4>
        <a:srgbClr val="595959"/>
      </a:accent4>
      <a:accent5>
        <a:srgbClr val="A6A1A4"/>
      </a:accent5>
      <a:accent6>
        <a:srgbClr val="0070C0"/>
      </a:accent6>
      <a:hlink>
        <a:srgbClr val="6A6468"/>
      </a:hlink>
      <a:folHlink>
        <a:srgbClr val="00B0F0"/>
      </a:folHlink>
    </a:clrScheme>
    <a:fontScheme name="Wipro PPT Fonts 201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 smtClean="0">
            <a:solidFill>
              <a:schemeClr val="tx1">
                <a:lumMod val="50000"/>
                <a:lumOff val="50000"/>
              </a:schemeClr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INTERNAL">
  <a:themeElements>
    <a:clrScheme name="Wipro PPT Colors">
      <a:dk1>
        <a:sysClr val="windowText" lastClr="000000"/>
      </a:dk1>
      <a:lt1>
        <a:sysClr val="window" lastClr="FFFFFF"/>
      </a:lt1>
      <a:dk2>
        <a:srgbClr val="37302A"/>
      </a:dk2>
      <a:lt2>
        <a:srgbClr val="A7E8FF"/>
      </a:lt2>
      <a:accent1>
        <a:srgbClr val="00B0F0"/>
      </a:accent1>
      <a:accent2>
        <a:srgbClr val="39B3E9"/>
      </a:accent2>
      <a:accent3>
        <a:srgbClr val="0287CA"/>
      </a:accent3>
      <a:accent4>
        <a:srgbClr val="595959"/>
      </a:accent4>
      <a:accent5>
        <a:srgbClr val="A6A1A4"/>
      </a:accent5>
      <a:accent6>
        <a:srgbClr val="0070C0"/>
      </a:accent6>
      <a:hlink>
        <a:srgbClr val="6A6468"/>
      </a:hlink>
      <a:folHlink>
        <a:srgbClr val="00B0F0"/>
      </a:folHlink>
    </a:clrScheme>
    <a:fontScheme name="Wipro PPT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 smtClean="0">
            <a:solidFill>
              <a:schemeClr val="tx1">
                <a:lumMod val="50000"/>
                <a:lumOff val="50000"/>
              </a:schemeClr>
            </a:solidFill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1383</TotalTime>
  <Words>2547</Words>
  <Application>Microsoft Office PowerPoint</Application>
  <PresentationFormat>On-screen Show (4:3)</PresentationFormat>
  <Paragraphs>328</Paragraphs>
  <Slides>24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26" baseType="lpstr">
      <vt:lpstr>blank</vt:lpstr>
      <vt:lpstr>INTERNAL</vt:lpstr>
      <vt:lpstr>PowerPoint Presentation</vt:lpstr>
      <vt:lpstr>PowerPoint Presentation</vt:lpstr>
      <vt:lpstr>PowerPoint Presentation</vt:lpstr>
      <vt:lpstr>PowerPoint Presentation</vt:lpstr>
      <vt:lpstr>Performance Evaluation</vt:lpstr>
      <vt:lpstr>The “front end / basic” Visibility</vt:lpstr>
      <vt:lpstr>Workflow Automation / implementation involves…</vt:lpstr>
      <vt:lpstr>PowerPoint Presentation</vt:lpstr>
      <vt:lpstr>Summary of Test Results</vt:lpstr>
      <vt:lpstr>Summary: Response times: Spiked post xx users – yy mins</vt:lpstr>
      <vt:lpstr>Summary: Utilizations : CPU, Avl Memory on server </vt:lpstr>
      <vt:lpstr>Typical - Standard PT / NFT</vt:lpstr>
      <vt:lpstr>Moving beyond “Typical”</vt:lpstr>
      <vt:lpstr>Typical Vs Enhanced visibility: NF Footprint of application</vt:lpstr>
      <vt:lpstr>Application level parameters: Load on application - SQL transactions</vt:lpstr>
      <vt:lpstr>Application level parameters: Cluster instances in use – load balancing</vt:lpstr>
      <vt:lpstr>Application level parameters: Actual Users on application</vt:lpstr>
      <vt:lpstr>Application level parameters: Transaction volumes by users</vt:lpstr>
      <vt:lpstr>Downstream level parameters: Application impacting params</vt:lpstr>
      <vt:lpstr>Application level parameters: SQL transactions and processes</vt:lpstr>
      <vt:lpstr>Application level parameters: Efficiency of Application- Processes</vt:lpstr>
      <vt:lpstr>Application level insight: Errors, suspicious activities…</vt:lpstr>
      <vt:lpstr>Uncover Non-functional “footprint” of business usage:  optimal performance – deployment based on next level of visibility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Abhijit Shrikant Ranjekar (WT01 - BAS)</dc:creator>
  <cp:lastModifiedBy>Dr. Abhijit Shrikant Ranjekar (WT01 - BAS)</cp:lastModifiedBy>
  <cp:revision>118</cp:revision>
  <cp:lastPrinted>2011-09-27T16:59:14Z</cp:lastPrinted>
  <dcterms:created xsi:type="dcterms:W3CDTF">2014-04-04T04:24:23Z</dcterms:created>
  <dcterms:modified xsi:type="dcterms:W3CDTF">2014-09-25T08:35:28Z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891055</vt:lpwstr>
  </property>
  <property fmtid="{D5CDD505-2E9C-101B-9397-08002B2CF9AE}" pid="3" name="NXPowerLiteSettings">
    <vt:lpwstr>F7000400038000</vt:lpwstr>
  </property>
  <property fmtid="{D5CDD505-2E9C-101B-9397-08002B2CF9AE}" pid="4" name="NXPowerLiteVersion">
    <vt:lpwstr>D5.0.6</vt:lpwstr>
  </property>
</Properties>
</file>